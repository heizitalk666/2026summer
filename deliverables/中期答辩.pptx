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开场：本系统的做法是，巡航时以低算力扫描一遍，检出可疑目标后停车、对准、变焦、重新拍摄。这一步把表盘成像从 50 像素放大到 150 像素，读数精度才能达到 0.5 % FS 的要求。与「沿途录像、回去离线分析」的区别就在这里。硬件尚未到位，但整套系统可以在笔记本上完整运行，所有指标均为实测值。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提纲四部分。时间紧的话，重点讲 01 的像素密度立论和 03 的三条实测结论。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本页要讲清三项要求之间的冲突。如果评审问为什么不直接换更大的模型，答案是：50 像素的成像里本来就没有足够信息，信息在光学环节已经丢失，只能通过变焦重新采集。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左侧巡航态 50 像素，指针无法分辨；右侧 3 倍变焦后 150 像素，刻度可读。要强调的是实测框宽与针孔投影公式的计算值相差 0.4 %，说明虚拟场景在光学上与公式自洽，因此在其上测得的精度指标可以作为依据。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十个状态中这里画出八个主线状态，另外两个是 ABORT 和 ERROR。设计上有一条约束：每个状态都必须定义超时转移，因此状态机不会停在某个状态上不动。复核预算公式的作用是限制单轮巡检中复核的总次数，使主动复核不会超出 30 min 的巡检时间预算。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本页回答架构复杂度的问题。四个进程的边界按安全职责划分，不按代码量划分。五份 Schema 是冻结的接口契约，修改任何一个字段都要走 ALLOWED_DRIFT 白名单流程，因此四个人可以并行修改各自的模块而不产生接口冲突。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回答没有硬件如何开展工作。有两点：一是桩会注入真机上实际存在的故障，因此在桩上通过的验收是有意义的；二是真值与先验严格分开，感知读不到真值，精度数据不是自我核对得出的。假小车这一条可以证明真机驱动代码路径处于可运行状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本页讲工作量。重点不在总行数，而在构成：测试 5 900 行，与核心业务代码规模接近，说明测试与功能是同步写的，不是最后补的。文档 4 700 行，保证其他人接手时有依据可循。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本页讲质量保障。三项检查各是一条命令，可以当场演示。最后一段是我们一直遵守的记录原则：重复性超差主动写在 README 首页，不做修饰。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本页是识别部分的总述。评审可能会问为什么不用一个端到端的大模型，答案在最后一段：四个子问题对速度、精度、输出形式和损失函数的要求互相冲突。而且这个划分是 ICD 协议中已经预留的，我们没有改动接口。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仲裁层采用显式规则而非学习模型，是因为它必须能逐条给出判定依据。三条经验中第一条值得展开：举证责任的默认方向属于运维策略问题，不是算法问题。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甲的巡航级模型已训练完成，指标较高。有一点要主动说明：第 1 轮 mAP50 就达到 0.976，这个数偏高。我们已经实现了 --check-leak 命令，用于排查 Roboflow 导出的增广副本跨训练集与验证集分布的情况，明天出结果。主动说明比被问到再解释更好。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本页明天上午替换。如果答辩前甲仍未补齐，就按现在的内容讲，说明哪些项目尚未测试即可，不要临时填一个数字。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乙这一路值得讲的不是 0.778，而是 0.251 到 0.384 这一步：模型不变，仅增加真实标注就提高 53 %，说明瓶颈在数据而不在模型容量。他修的两个缺陷也值得提一句，那是只有真正下载数据并完整跑通流程才会暴露的问题。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本页讲的是核对方法：有些错误不会反映在指标上，只能人工检查。类别映射错一位，IoU 仍然可以训得很高，但模型学到的对应关系是错的。因此我们把人工检查叠加图写成了硬性验收标准。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本页讲的是自查过程。我们没有直接采用第一版图，而是先估计了采样噪声，结果发现待比较的差异小于噪声。如果评审问怎么确认这个差异是真实的，这一页就是回答。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丙这一路完成度最高。四个方案在同一批样本、同一阈值下比较，结论明确。要强调 EfficientAD 这一列：该方案失败了，我们照实写进表里而不是删除，这是完整的比选记录。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左图最直观：两组分布分离即为可用，重叠即为不可用，不需要了解算法细节也能判断。右图 ROC 说明结论不依赖阈值的选取。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条值得展开：离线数据集的分布与运行时管道实际送入的数据分布不一致，导致离线指标正常而接入系统后全部误报。这类问题只有把模型真正接进系统运行才会暴露，只在数据集上训练和评测是发现不了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本页收束识别部分。最后一段是结论：三条路线所需的数据类型完全不同，这是分开做的实证依据。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三条演示都可以当场执行，合计不到一分钟。如果评审对安全设计有疑问，建议直接演示第二条：终止感知与任务进程后车辆仍按路线走完。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课题名称是「测控系统」，控制部分的实测依据集中在这一页。绿色曲线的过冲最直观，那是关闭增益调度后的响应。三组数据均为本次现场运行所得，不是引用旧文档。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本页要主动说明成功率未达标。83.3 % 与 75.0 % 均低于 85 % 的目标。原因已定位为证据包配对偶发丢失 before 记录，已列入待办，没有通过调整判定条件规避。主动说明比被问到再解释更好。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本页是三条路线的共性发现：评测集难度不足时，比选结论实际由数据决定而非由方法决定。三个人各自独立遇到了这个问题，因此把它作为下一阶段对比实验的前置检查项。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本页照实讲。六项风险中我们主动列出了两个已定位但尚未修复的缺陷。完整披露有助于说明其余数据的可信度。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下一阶段四条线并行。丙这一路主体已完成，转入部署验证；组长这一路主要是修复缺陷和补充可靠性曲线。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结束页。如果时间允许，主动提出现场演示，从五条中选一条，建议选看门狗接管那条。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C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1051560"/>
            <a:ext cx="3611880" cy="3611880"/>
          </a:xfrm>
          <a:prstGeom prst="ellipse">
            <a:avLst/>
          </a:prstGeom>
          <a:solidFill>
            <a:srgbClr val="171C24"/>
          </a:solidFill>
          <a:ln w="19050">
            <a:solidFill>
              <a:srgbClr val="E894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05088" y="1481328"/>
            <a:ext cx="2752344" cy="2752344"/>
          </a:xfrm>
          <a:prstGeom prst="ellipse">
            <a:avLst/>
          </a:prstGeom>
          <a:solidFill>
            <a:srgbClr val="171C24"/>
          </a:solidFill>
          <a:ln w="12700">
            <a:solidFill>
              <a:srgbClr val="35617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2040000">
            <a:off x="10060686" y="2308860"/>
            <a:ext cx="41148" cy="1097280"/>
          </a:xfrm>
          <a:prstGeom prst="rect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25812" y="2702052"/>
            <a:ext cx="310896" cy="310896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188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中期答辩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691640"/>
            <a:ext cx="7315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RK3576 边缘计算的</a:t>
            </a:r>
            <a:endParaRPr lang="en-US" sz="37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无人车主动式 AI 巡检系统</a:t>
            </a:r>
            <a:endParaRPr lang="en-US" sz="37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529584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配电室设备状态视觉测控 · 停车对准变焦，把表盘从 50 px 放大到 150 px 再读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42245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21 100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行代码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42245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501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470001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项测试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187952" y="42245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500" dirty="0"/>
          </a:p>
        </p:txBody>
      </p:sp>
      <p:sp>
        <p:nvSpPr>
          <p:cNvPr id="14" name="Text 12"/>
          <p:cNvSpPr txBox="1"/>
          <p:nvPr/>
        </p:nvSpPr>
        <p:spPr>
          <a:xfrm>
            <a:off x="4187952" y="470001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路模型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998464" y="42245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2500" dirty="0"/>
          </a:p>
        </p:txBody>
      </p:sp>
      <p:sp>
        <p:nvSpPr>
          <p:cNvPr id="16" name="Text 14"/>
          <p:cNvSpPr txBox="1"/>
          <p:nvPr/>
        </p:nvSpPr>
        <p:spPr>
          <a:xfrm>
            <a:off x="5998464" y="470001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项接口校验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598932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四人小组 · 甲 L1 检测 / 乙 L2 分割 / 丙 L3 异常 / 组长 系统与交付        2026 年 9 月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汇报提纲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四个部分，重点在第二、三部分的实测数据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57839" cy="1042416"/>
          </a:xfrm>
          <a:prstGeom prst="roundRect">
            <a:avLst>
              <a:gd name="adj" fmla="val 614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1353312"/>
            <a:ext cx="8229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700784" y="153619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课题与技术路线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190195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为什么必须停车变焦重拍，以及像素密度与读数精度的关系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10253167" y="1353312"/>
            <a:ext cx="10972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3 – 7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551176"/>
            <a:ext cx="11057839" cy="1042416"/>
          </a:xfrm>
          <a:prstGeom prst="roundRect">
            <a:avLst>
              <a:gd name="adj" fmla="val 614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" y="2551176"/>
            <a:ext cx="8229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1700784" y="2734056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工作量与质量保障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700784" y="3099816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代码规模、接口冻结机制，以及 501 项测试的覆盖范围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253167" y="2551176"/>
            <a:ext cx="10972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8 – 11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749040"/>
            <a:ext cx="11057839" cy="1042416"/>
          </a:xfrm>
          <a:prstGeom prst="roundRect">
            <a:avLst>
              <a:gd name="adj" fmla="val 614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3749040"/>
            <a:ext cx="8229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1700784" y="393192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三条识别路线的实测成果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700784" y="4297680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检测 / L2 分割 / L3 异常，各自的比选结论与数据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0253167" y="3749040"/>
            <a:ext cx="10972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12 – 20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4946904"/>
            <a:ext cx="11057839" cy="1042416"/>
          </a:xfrm>
          <a:prstGeom prst="roundRect">
            <a:avLst>
              <a:gd name="adj" fmla="val 614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1248" y="4946904"/>
            <a:ext cx="8229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1700784" y="5129784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系统能力与收口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1700784" y="5495544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安全边界、云台控制、端到端闭环、风险与下一步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10253167" y="4946904"/>
            <a:ext cx="10972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21 – 27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课题：配电室要什么样的巡检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任务书三项要求，每一项都指向同一个矛盾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3538728" cy="2670048"/>
          </a:xfrm>
          <a:prstGeom prst="roundRect">
            <a:avLst>
              <a:gd name="adj" fmla="val 239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54480"/>
            <a:ext cx="384048" cy="38404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153619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看得清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08483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表计读数误差 ≤ 0.5 % FS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432304"/>
            <a:ext cx="303580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m 处 1× 变焦时表盘成像只有 50 px，指针无法分辨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43400" y="1298448"/>
            <a:ext cx="3538728" cy="2670048"/>
          </a:xfrm>
          <a:prstGeom prst="roundRect">
            <a:avLst>
              <a:gd name="adj" fmla="val 239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99432" y="1554480"/>
            <a:ext cx="384048" cy="384048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9943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111496" y="153619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跑得完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99432" y="208483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单次巡检 ≤ 30 min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99432" y="2432304"/>
            <a:ext cx="303580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靠近、放大、多次拍摄都会增加单个航点的停留时间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19872" y="1298448"/>
            <a:ext cx="3538728" cy="2670048"/>
          </a:xfrm>
          <a:prstGeom prst="roundRect">
            <a:avLst>
              <a:gd name="adj" fmla="val 239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75904" y="1554480"/>
            <a:ext cx="384048" cy="384048"/>
          </a:xfrm>
          <a:prstGeom prst="ellipse">
            <a:avLst/>
          </a:prstGeom>
          <a:solidFill>
            <a:srgbClr val="35617D"/>
          </a:solidFill>
          <a:ln w="12700">
            <a:solidFill>
              <a:srgbClr val="35617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75904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887968" y="153619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不误动作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375904" y="208483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不能因 AI 误判撞到设备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375904" y="2432304"/>
            <a:ext cx="303580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模型存在误判，而车辆在运动，停车决策不能由模型直接触发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169664"/>
            <a:ext cx="11057839" cy="1883664"/>
          </a:xfrm>
          <a:prstGeom prst="roundRect">
            <a:avLst>
              <a:gd name="adj" fmla="val 3398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0976" y="440740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三项要求互相冲突，这是本课题的主要难点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" y="4864608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全程低速高分辨率拍摄能满足精度但超出时间预算；全程高速扫描能满足时间但达不到精度。本方案把两者分开：巡航期用轻量检测模型以 30 Hz 扫描，只有检出可疑目标后才停车、对准、变焦、重新拍摄，时间开销只发生在需要复核的航点上。是否停车由状态机的抑制规则与安全网关判定，模型只提供候选，不直接控制执行器。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指标出处：设计方案书 §2.2 表 2-2 / 测控系统综合实训课题任务书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核心立论：像素密度决定读数精度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同一块压力表在巡航态与复核态下的成像对比</a:t>
            </a:r>
            <a:endParaRPr lang="en-US" sz="1300" dirty="0"/>
          </a:p>
        </p:txBody>
      </p:sp>
      <p:pic>
        <p:nvPicPr>
          <p:cNvPr id="6" name="Image 0" descr="/home/user/2026summer/deliverables/_deck/img/zoom_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98448"/>
            <a:ext cx="11055096" cy="3584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06577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50.0 px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6509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巡航态 1× 实测框宽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355848" y="506577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150.0 px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3355848" y="56509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复核态 3× 实测框宽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144768" y="506577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0.4 %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6144768" y="56509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实测与针孔公式的偏差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9070848" y="4992624"/>
            <a:ext cx="2551176" cy="1060704"/>
          </a:xfrm>
          <a:prstGeom prst="roundRect">
            <a:avLst>
              <a:gd name="adj" fmla="val 6034"/>
            </a:avLst>
          </a:prstGeom>
          <a:solidFill>
            <a:srgbClr val="FBEAC9"/>
          </a:solidFill>
          <a:ln w="9525">
            <a:solidFill>
              <a:srgbClr val="FBEAC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99448" y="5102352"/>
            <a:ext cx="2194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公式算出 49.8 / 149.5 px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渲染器与光学模型自洽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复现：python -m patrol.tools.viewer --demo-zoom --out out/   ·   光学公式集中在 patrol/scene/optics.py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主动式复核：一次完整的决策闭环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十状态机。每个状态都定义了超时转移，不存在没有出边的状态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389888"/>
            <a:ext cx="1316736" cy="274320"/>
          </a:xfrm>
          <a:prstGeom prst="rect">
            <a:avLst/>
          </a:prstGeom>
          <a:solidFill>
            <a:srgbClr val="35617D"/>
          </a:solidFill>
          <a:ln w="6350">
            <a:solidFill>
              <a:srgbClr val="35617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CRUISE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Hz 巡航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小模型扫描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865376" y="2157984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952244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52244" y="1389888"/>
            <a:ext cx="1316736" cy="274320"/>
          </a:xfrm>
          <a:prstGeom prst="rect">
            <a:avLst/>
          </a:prstGeom>
          <a:solidFill>
            <a:srgbClr val="35617D"/>
          </a:solidFill>
          <a:ln w="6350">
            <a:solidFill>
              <a:srgbClr val="3561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952244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SUSPECT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2025396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连续三帧同一目标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才确认，防抖动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250692" y="2157984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337560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37560" y="1389888"/>
            <a:ext cx="1316736" cy="274320"/>
          </a:xfrm>
          <a:prstGeom prst="rect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37560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HALT_REQ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10712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下发 PAUSE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网关五项校验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636008" y="2157984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722876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22876" y="1389888"/>
            <a:ext cx="1316736" cy="274320"/>
          </a:xfrm>
          <a:prstGeom prst="rect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22876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AIM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4796028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针孔几何前馈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PID 残差闭环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021324" y="2157984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108192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08192" y="1389888"/>
            <a:ext cx="1316736" cy="274320"/>
          </a:xfrm>
          <a:prstGeom prst="rect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08192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ZOOM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6181344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p_target 算倍率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变焦到 120 px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406640" y="2157984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7493508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93508" y="1389888"/>
            <a:ext cx="1316736" cy="274320"/>
          </a:xfrm>
          <a:prstGeom prst="rect">
            <a:avLst/>
          </a:prstGeom>
          <a:solidFill>
            <a:srgbClr val="2E9E6B"/>
          </a:solidFill>
          <a:ln w="6350">
            <a:solidFill>
              <a:srgbClr val="2E9E6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493508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VERIFY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7566660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四路模型推理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显式仲裁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791956" y="2157984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8878824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878824" y="1389888"/>
            <a:ext cx="1316736" cy="274320"/>
          </a:xfrm>
          <a:prstGeom prst="rect">
            <a:avLst/>
          </a:prstGeom>
          <a:solidFill>
            <a:srgbClr val="2E9E6B"/>
          </a:solidFill>
          <a:ln w="6350">
            <a:solidFill>
              <a:srgbClr val="2E9E6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878824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PACK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8951976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证据包组装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before/after 配对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0177272" y="2157984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10264140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264140" y="1389888"/>
            <a:ext cx="1316736" cy="274320"/>
          </a:xfrm>
          <a:prstGeom prst="rect">
            <a:avLst/>
          </a:prstGeom>
          <a:solidFill>
            <a:srgbClr val="35617D"/>
          </a:solidFill>
          <a:ln w="6350">
            <a:solidFill>
              <a:srgbClr val="35617D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264140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RESUME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10337292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恢复巡航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写入抑制表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66928" y="3785616"/>
            <a:ext cx="3538728" cy="1938528"/>
          </a:xfrm>
          <a:prstGeom prst="roundRect">
            <a:avLst>
              <a:gd name="adj" fmla="val 330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04672" y="39502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复核预算</a:t>
            </a:r>
            <a:endParaRPr lang="en-US" sz="1450" dirty="0"/>
          </a:p>
        </p:txBody>
      </p:sp>
      <p:sp>
        <p:nvSpPr>
          <p:cNvPr id="47" name="Text 45"/>
          <p:cNvSpPr txBox="1"/>
          <p:nvPr/>
        </p:nvSpPr>
        <p:spPr>
          <a:xfrm>
            <a:off x="804672" y="42976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N_max = ⌊(T_max − L/v) / T_r⌋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804672" y="4626864"/>
            <a:ext cx="31272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算得出这一趟还能复核几次，排不下的顺延到下一轮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343400" y="3785616"/>
            <a:ext cx="3538728" cy="1938528"/>
          </a:xfrm>
          <a:prstGeom prst="roundRect">
            <a:avLst>
              <a:gd name="adj" fmla="val 330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81144" y="39502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三条抑制</a:t>
            </a:r>
            <a:endParaRPr lang="en-US" sz="1450" dirty="0"/>
          </a:p>
        </p:txBody>
      </p:sp>
      <p:sp>
        <p:nvSpPr>
          <p:cNvPr id="51" name="Text 49"/>
          <p:cNvSpPr txBox="1"/>
          <p:nvPr/>
        </p:nvSpPr>
        <p:spPr>
          <a:xfrm>
            <a:off x="4581144" y="42976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航点去重 / 定位失效 / 恢复静默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4581144" y="4626864"/>
            <a:ext cx="31272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同一个航点不重复停车，定位丢了就不再触发复核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119872" y="3785616"/>
            <a:ext cx="3538728" cy="1938528"/>
          </a:xfrm>
          <a:prstGeom prst="roundRect">
            <a:avLst>
              <a:gd name="adj" fmla="val 330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357616" y="39502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安全优先</a:t>
            </a:r>
            <a:endParaRPr lang="en-US" sz="1450" dirty="0"/>
          </a:p>
        </p:txBody>
      </p:sp>
      <p:sp>
        <p:nvSpPr>
          <p:cNvPr id="55" name="Text 53"/>
          <p:cNvSpPr txBox="1"/>
          <p:nvPr/>
        </p:nvSpPr>
        <p:spPr>
          <a:xfrm>
            <a:off x="8357616" y="42976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安全事件 200 ms 内中止复核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8357616" y="4626864"/>
            <a:ext cx="31272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任何时刻安全事件都能打断正在进行的复核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实现：patrol/mission/fsm.py（598 行，十状态）· suppress.py（三条抑制）· budget.py（预算与顺延队列）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系统架构：四进程 + 四接口 + 五份冻结 Schema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进程边界按安全职责划分：安全网关必须在感知与任务进程异常退出后继续工作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2651760" cy="2011680"/>
          </a:xfrm>
          <a:prstGeom prst="roundRect">
            <a:avLst>
              <a:gd name="adj" fmla="val 318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46304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perception  感知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186537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  相机、四路模型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35915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  驱动以 passive 建，收不到指令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01568" y="1298448"/>
            <a:ext cx="2651760" cy="2011680"/>
          </a:xfrm>
          <a:prstGeom prst="roundRect">
            <a:avLst>
              <a:gd name="adj" fmla="val 318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2736" y="146304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mission  任务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602736" y="186537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  十状态机、PID、预算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3602736" y="235915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  不碰驱动，不碰模型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36208" y="1298448"/>
            <a:ext cx="2651760" cy="2011680"/>
          </a:xfrm>
          <a:prstGeom prst="roundRect">
            <a:avLst>
              <a:gd name="adj" fmla="val 318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37376" y="146304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gateway  安全网关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437376" y="186537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  四个驱动实例（唯一）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437376" y="235915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  不碰模型、不碰图像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070848" y="1298448"/>
            <a:ext cx="2651760" cy="2011680"/>
          </a:xfrm>
          <a:prstGeom prst="roundRect">
            <a:avLst>
              <a:gd name="adj" fmla="val 318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72016" y="146304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uploader  上传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9272016" y="186537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  证据目录、上传队列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9272016" y="235915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  不碰驱动，不碰模型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529584"/>
          <a:ext cx="6903720" cy="914400"/>
        </p:xfrm>
        <a:graphic>
          <a:graphicData uri="http://schemas.openxmlformats.org/drawingml/2006/table">
            <a:tbl>
              <a:tblPr/>
              <a:tblGrid>
                <a:gridCol w="713232"/>
                <a:gridCol w="1938528"/>
                <a:gridCol w="1691640"/>
                <a:gridCol w="100584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报文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方向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传输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频率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DetectionEvent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感知 → 任务 / 上传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PUB/SUB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 Hz + 按需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IF-2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ControlCommand / Ack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 → 网关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REQ/REP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事件驱动 + 5 Hz 心跳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StatusReport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网关 → 所有人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PUB/SUB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 Hz + 安全插播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IF-4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EvidencePackage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上传 → 云端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HTTP / MQTT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每次复核一包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7744968" y="3529584"/>
            <a:ext cx="3877056" cy="2432304"/>
          </a:xfrm>
          <a:prstGeom prst="roundRect">
            <a:avLst>
              <a:gd name="adj" fmla="val 2632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973568" y="37307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为什么非要拆四个进程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7973568" y="4133088"/>
            <a:ext cx="345643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安全网关必须是执行器的唯一入口，并且要在感知或任务进程异常退出后继续工作。放在同一进程内无法做到：一次段错误会同时终止两侧。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「终止感知与任务进程后，车辆仍按路线走完」这条演示验证的就是这个边界。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JSON Schema 全部 additionalProperties: false；改接口要走 validate.py 的 ALLOWED_DRIFT 白名单流程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硬件没到，怎么把「控」这一半做出来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虚拟配电室按针孔投影渲染，因此精度与控制指标是实测值而非推导值</a:t>
            </a:r>
            <a:endParaRPr lang="en-US" sz="1300" dirty="0"/>
          </a:p>
        </p:txBody>
      </p:sp>
      <p:pic>
        <p:nvPicPr>
          <p:cNvPr id="6" name="Image 0" descr="/home/user/2026summer/deliverables/_deck/img/thirdperson_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98448"/>
            <a:ext cx="6903720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657600"/>
            <a:ext cx="6903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第三人称机位同时画出车身、云台朝向与当前视锥。变焦 1× 到 3× 时视场角由 60.0° 收窄到 21.8°，视锥落在被复核的表盘上。指令下发、云台转动、视场覆盖目标这一串过程因此可以直接观察，不必只看日志。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754112" y="1298448"/>
            <a:ext cx="3867912" cy="1188720"/>
          </a:xfrm>
          <a:prstGeom prst="roundRect">
            <a:avLst>
              <a:gd name="adj" fmla="val 538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973568" y="14173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桩不是空实现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973568" y="1700784"/>
            <a:ext cx="3474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桩会注入真机上实际存在的故障：ACK 丢包 2 %、对焦失败 5 %、云台角速度上限、安全事件 0.05 次/分。如果驱动只是把目标值直接赋给状态量，任何到位判据都会通过，验证就没有意义。</a:t>
            </a:r>
            <a:endParaRPr lang="en-US" sz="980" dirty="0"/>
          </a:p>
        </p:txBody>
      </p:sp>
      <p:sp>
        <p:nvSpPr>
          <p:cNvPr id="11" name="Shape 8"/>
          <p:cNvSpPr/>
          <p:nvPr/>
        </p:nvSpPr>
        <p:spPr>
          <a:xfrm>
            <a:off x="7754112" y="2596896"/>
            <a:ext cx="3867912" cy="1188720"/>
          </a:xfrm>
          <a:prstGeom prst="roundRect">
            <a:avLst>
              <a:gd name="adj" fmla="val 538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973568" y="271576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真值与先验严格分开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7973568" y="2999232"/>
            <a:ext cx="3474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world.py 中的 truth 只提供给渲染器和评分逻辑，感知侧读不到。否则精度指标等于用真值去核对真值。这条约束是评测结果可信的前提。</a:t>
            </a:r>
            <a:endParaRPr lang="en-US" sz="980" dirty="0"/>
          </a:p>
        </p:txBody>
      </p:sp>
      <p:sp>
        <p:nvSpPr>
          <p:cNvPr id="14" name="Shape 11"/>
          <p:cNvSpPr/>
          <p:nvPr/>
        </p:nvSpPr>
        <p:spPr>
          <a:xfrm>
            <a:off x="7754112" y="3895344"/>
            <a:ext cx="3867912" cy="1188720"/>
          </a:xfrm>
          <a:prstGeom prst="roundRect">
            <a:avLst>
              <a:gd name="adj" fmla="val 538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973568" y="401421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硬件到位只改两处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7973568" y="4297680"/>
            <a:ext cx="3474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configs/system.yaml 的 driver_mode: stub → real，configs/real.yaml 填端口。上位机代码一行不动。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566928" y="4517136"/>
            <a:ext cx="6903720" cy="1225296"/>
          </a:xfrm>
          <a:prstGeom prst="roundRect">
            <a:avLst>
              <a:gd name="adj" fmla="val 5224"/>
            </a:avLst>
          </a:prstGeom>
          <a:solidFill>
            <a:srgbClr val="D7EFE3"/>
          </a:solidFill>
          <a:ln w="9525">
            <a:solidFill>
              <a:srgbClr val="D7EFE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464515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真车到之前，串口链路已经用「假小车」验通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4974336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fakecar 以独立进程运行，字节经过内核（POSIX 用 PTY，Windows 用 TCP 环回）。分帧、CRC 校验、超时、重传与 2 % ACK 丢包注入均按原样发生，可以验证协议栈与时序逻辑的正确性。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虚拟配电室 1 131 行 · 驱动抽象层 2 277 行（四个 ABC + 桩 + 真机串口/V4L2）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工作量总览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四周内完成一套可运行、可测量、可现场演示的系统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2651760" cy="1133856"/>
          </a:xfrm>
          <a:prstGeom prst="roundRect">
            <a:avLst>
              <a:gd name="adj" fmla="val 564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44475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21 100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2996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 Python 代码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01568" y="1298448"/>
            <a:ext cx="2651760" cy="1133856"/>
          </a:xfrm>
          <a:prstGeom prst="roundRect">
            <a:avLst>
              <a:gd name="adj" fmla="val 564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57600" y="144475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501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02996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项自动化测试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36208" y="1298448"/>
            <a:ext cx="2651760" cy="1133856"/>
          </a:xfrm>
          <a:prstGeom prst="roundRect">
            <a:avLst>
              <a:gd name="adj" fmla="val 564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144475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4 700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02996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行技术文档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070848" y="1298448"/>
            <a:ext cx="2651760" cy="1133856"/>
          </a:xfrm>
          <a:prstGeom prst="roundRect">
            <a:avLst>
              <a:gd name="adj" fmla="val 564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0" y="144475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0" y="202996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次版本提交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15184"/>
          <a:ext cx="690372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822960"/>
                <a:gridCol w="4114800"/>
              </a:tblGrid>
              <a:tr h="2212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职责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patrol/perception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3 665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四路模型 + 融合仲裁 + 成像质量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tests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5 900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501 项用例，覆盖率 75 %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patrol/tools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2 534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校验 / 预览 / 标定 / 整定 / 假小车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patrol/drivers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2 277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四个抽象基类 + 桩 + 真机串口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training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1 418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数据集接入 / 三类训练 / ONNX·RKNN 导出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patrol/mission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1 309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十状态机 / PID 伺服 / 抑制 / 预算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patrol/scene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1 131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针孔光学 / 世界模型 / 表计绘制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patrol/common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869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双时间戳 / 报文构造 / ZeroMQ 封装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patrol/uploader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918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证据打包 / 断点续传 / 保留策略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patrol/gateway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五项校验 / 参数硬限 / 心跳看门狗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cloud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FastAPI + SQLite 台账 + 五个页签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7754112" y="2615184"/>
            <a:ext cx="3867912" cy="768096"/>
          </a:xfrm>
          <a:prstGeom prst="roundRect">
            <a:avLst>
              <a:gd name="adj" fmla="val 833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936992" y="2615184"/>
            <a:ext cx="658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2100" dirty="0"/>
          </a:p>
        </p:txBody>
      </p:sp>
      <p:sp>
        <p:nvSpPr>
          <p:cNvPr id="21" name="Text 18"/>
          <p:cNvSpPr txBox="1"/>
          <p:nvPr/>
        </p:nvSpPr>
        <p:spPr>
          <a:xfrm>
            <a:off x="8613648" y="270662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份冻结 JSON Schema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8613648" y="298094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3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四条接口的契约，全部 additionalProperties: false</a:t>
            </a:r>
            <a:endParaRPr lang="en-US" sz="930" dirty="0"/>
          </a:p>
        </p:txBody>
      </p:sp>
      <p:sp>
        <p:nvSpPr>
          <p:cNvPr id="23" name="Shape 20"/>
          <p:cNvSpPr/>
          <p:nvPr/>
        </p:nvSpPr>
        <p:spPr>
          <a:xfrm>
            <a:off x="7754112" y="3474720"/>
            <a:ext cx="3867912" cy="768096"/>
          </a:xfrm>
          <a:prstGeom prst="roundRect">
            <a:avLst>
              <a:gd name="adj" fmla="val 833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936992" y="3474720"/>
            <a:ext cx="658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2100" dirty="0"/>
          </a:p>
        </p:txBody>
      </p:sp>
      <p:sp>
        <p:nvSpPr>
          <p:cNvPr id="25" name="Text 22"/>
          <p:cNvSpPr txBox="1"/>
          <p:nvPr/>
        </p:nvSpPr>
        <p:spPr>
          <a:xfrm>
            <a:off x="8613648" y="3566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份技术文档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8613648" y="38404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3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架构、设计思想、ICD、代码地图、新手上路、演示指南…</a:t>
            </a:r>
            <a:endParaRPr lang="en-US" sz="930" dirty="0"/>
          </a:p>
        </p:txBody>
      </p:sp>
      <p:sp>
        <p:nvSpPr>
          <p:cNvPr id="27" name="Shape 24"/>
          <p:cNvSpPr/>
          <p:nvPr/>
        </p:nvSpPr>
        <p:spPr>
          <a:xfrm>
            <a:off x="7754112" y="4334256"/>
            <a:ext cx="3867912" cy="768096"/>
          </a:xfrm>
          <a:prstGeom prst="roundRect">
            <a:avLst>
              <a:gd name="adj" fmla="val 833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936992" y="4334256"/>
            <a:ext cx="658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100" dirty="0"/>
          </a:p>
        </p:txBody>
      </p:sp>
      <p:sp>
        <p:nvSpPr>
          <p:cNvPr id="29" name="Text 26"/>
          <p:cNvSpPr txBox="1"/>
          <p:nvPr/>
        </p:nvSpPr>
        <p:spPr>
          <a:xfrm>
            <a:off x="8613648" y="44256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路识别模型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8613648" y="470001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3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检测 / L2 分割 + OCR / L3 异常 / L4 显式仲裁</a:t>
            </a:r>
            <a:endParaRPr lang="en-US" sz="930" dirty="0"/>
          </a:p>
        </p:txBody>
      </p:sp>
      <p:sp>
        <p:nvSpPr>
          <p:cNvPr id="31" name="Shape 28"/>
          <p:cNvSpPr/>
          <p:nvPr/>
        </p:nvSpPr>
        <p:spPr>
          <a:xfrm>
            <a:off x="7754112" y="5193792"/>
            <a:ext cx="3867912" cy="768096"/>
          </a:xfrm>
          <a:prstGeom prst="roundRect">
            <a:avLst>
              <a:gd name="adj" fmla="val 833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936992" y="5193792"/>
            <a:ext cx="658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2100" dirty="0"/>
          </a:p>
        </p:txBody>
      </p:sp>
      <p:sp>
        <p:nvSpPr>
          <p:cNvPr id="33" name="Text 30"/>
          <p:cNvSpPr txBox="1"/>
          <p:nvPr/>
        </p:nvSpPr>
        <p:spPr>
          <a:xfrm>
            <a:off x="8613648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个可当场演示的能力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8613648" y="555955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3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越界拒绝、看门狗接管、200 ms 中止、变焦对比…</a:t>
            </a:r>
            <a:endParaRPr lang="en-US" sz="930" dirty="0"/>
          </a:p>
        </p:txBody>
      </p:sp>
      <p:sp>
        <p:nvSpPr>
          <p:cNvPr id="35" name="Text 32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统计口径：git 仓库实测，不含空行与第三方依赖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质量保障：如何保证系统是真的可运行，而不是仅在设计上成立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三项检查，每次提交前全部执行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3538728" cy="3017520"/>
          </a:xfrm>
          <a:prstGeom prst="roundRect">
            <a:avLst>
              <a:gd name="adj" fmla="val 212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4813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 项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8483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接口一致性校验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450592"/>
            <a:ext cx="303580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 与代码、网关硬编码常量与 Schema 范围逐条交叉比对。其中 9 条为反例，构造越界报文，必须全部被拦截。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49808" y="3822192"/>
            <a:ext cx="3172968" cy="365760"/>
          </a:xfrm>
          <a:prstGeom prst="roundRect">
            <a:avLst>
              <a:gd name="adj" fmla="val 17500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" y="382219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94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patrol.tools.validate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343400" y="1298448"/>
            <a:ext cx="3538728" cy="3017520"/>
          </a:xfrm>
          <a:prstGeom prst="roundRect">
            <a:avLst>
              <a:gd name="adj" fmla="val 212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99432" y="14813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501 项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4599432" y="208483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自动化测试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99432" y="2450592"/>
            <a:ext cx="303580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覆盖率 75 %。含端到端 300 s 全链路、串口协议往返、状态机超时、网关五项校验、云端台账、证据保留策略。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26280" y="3822192"/>
            <a:ext cx="3172968" cy="365760"/>
          </a:xfrm>
          <a:prstGeom prst="roundRect">
            <a:avLst>
              <a:gd name="adj" fmla="val 17500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36008" y="382219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94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pytest -q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8119872" y="1298448"/>
            <a:ext cx="3538728" cy="3017520"/>
          </a:xfrm>
          <a:prstGeom prst="roundRect">
            <a:avLst>
              <a:gd name="adj" fmla="val 212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75904" y="14813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300 s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8375904" y="208483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端到端实跑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375904" y="2450592"/>
            <a:ext cx="303580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起全系统跑一轮真实巡检，产出证据包并统计复核增益。没有产出数据即视为未跑通，不接受仅在设计上成立的结论。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302752" y="3822192"/>
            <a:ext cx="3172968" cy="365760"/>
          </a:xfrm>
          <a:prstGeom prst="roundRect">
            <a:avLst>
              <a:gd name="adj" fmla="val 17500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12480" y="382219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94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patrol.tools.run_all --seconds 300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66928" y="4535424"/>
            <a:ext cx="11057839" cy="1389888"/>
          </a:xfrm>
          <a:prstGeom prst="roundRect">
            <a:avLst>
              <a:gd name="adj" fmla="val 4605"/>
            </a:avLst>
          </a:prstGeom>
          <a:solidFill>
            <a:srgbClr val="FBEAC9"/>
          </a:solidFill>
          <a:ln w="9525">
            <a:solidFill>
              <a:srgbClr val="FBEAC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77824" y="468172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一条贯穿全项目的记录原则：没有测到的写「未测」，测出来不理想的照实写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877824" y="5047488"/>
            <a:ext cx="10424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例如重复性 0.321 % FS 超出 0.3 % 的限值，我们把它写在 README 首页，而不是通过调整参数让它落进限值。后一种做法只是掩盖了误差来源。指标偏低通常可以解释，指标来源不清则无法解释。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三项检查在每次提交前全部执行；validate 不通过就不提交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识别层：为什么不是训一个更大的 YOLO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「这块表有没有问题」看起来是一个问题，实际是四个，且四者对算力、精度与输出形式的要求互相冲突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7839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2788920"/>
                <a:gridCol w="1920240"/>
                <a:gridCol w="5294376"/>
              </a:tblGrid>
              <a:tr h="4846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问题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要回答的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模型类别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为什么不能合进一个模型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画面里有哪些设备，框在哪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目标检测 L1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需要全图扫描且延迟低。巡航期 30 Hz 只能负担这一路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多少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指针指向几、液位到哪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语义分割 + 几何 L2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需要像素级精度，只能在放大后的小 ROI 上运行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写的什么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铭牌量程、单位、位置指示牌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OCR L2′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输出是字符串不是数，损失函数与评价指标都不同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没见过的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训练集里根本没有的异常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非监督异常 L3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有监督模型对训练集之外的类别不会输出，属于系统性漏检而非误判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四路证据互相矛盾时如何取舍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显式规则仲裁 L4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必须能逐条给出判定依据，这是评审首先会问的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425696"/>
            <a:ext cx="11057839" cy="1609344"/>
          </a:xfrm>
          <a:prstGeom prst="roundRect">
            <a:avLst>
              <a:gd name="adj" fmla="val 3977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6112" y="4608576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用单一模型承担全部任务，代价不是精度略有下降，而是每一路都会被其余几路的约束限制到无法运行或无法收敛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96112" y="4992624"/>
            <a:ext cx="10424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要保持 30 Hz 就无法做像素级分割；要做像素级分割就无法全图扫描；要识别字符就要换一套输出头；要识别训练集之外的异常就不能用有监督的损失函数。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这个划分不是我们新加的：ICD 的 trigger_rule 枚举中已经写明 L1、L2、L3 三级判据，verdict.result 的六个取值也对应仲裁层的六种结论。我们只是把协议里已经预留的位置填上，没有修改任何 Schema。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详见 docs/多模型协同.md（五种协作关系：级联 / 接力 / 互证 / 兜底 / 仲裁）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显式仲裁：四路证据 → 六种结论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全部为显式规则，每条结论附带 reasons 字段，判定依据可以逐级追溯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3538728" cy="859536"/>
          </a:xfrm>
          <a:prstGeom prst="roundRect">
            <a:avLst>
              <a:gd name="adj" fmla="val 744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517904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07008" y="13898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CONFIRMED_DEFECT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70078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确认缺陷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1298448"/>
            <a:ext cx="3538728" cy="859536"/>
          </a:xfrm>
          <a:prstGeom prst="roundRect">
            <a:avLst>
              <a:gd name="adj" fmla="val 744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62856" y="1517904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83480" y="13898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READING_ABNORMAL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983480" y="170078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读数越界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19872" y="1298448"/>
            <a:ext cx="3538728" cy="859536"/>
          </a:xfrm>
          <a:prstGeom prst="roundRect">
            <a:avLst>
              <a:gd name="adj" fmla="val 744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39328" y="1517904"/>
            <a:ext cx="310896" cy="310896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59952" y="13898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READING_OK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759952" y="170078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读数正常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2267712"/>
            <a:ext cx="3538728" cy="859536"/>
          </a:xfrm>
          <a:prstGeom prst="roundRect">
            <a:avLst>
              <a:gd name="adj" fmla="val 744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" y="2487168"/>
            <a:ext cx="310896" cy="310896"/>
          </a:xfrm>
          <a:prstGeom prst="ellipse">
            <a:avLst/>
          </a:prstGeom>
          <a:solidFill>
            <a:srgbClr val="35617D"/>
          </a:solidFill>
          <a:ln w="12700">
            <a:solidFill>
              <a:srgbClr val="35617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207008" y="23591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FALSE_ALARM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26700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误报消解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43400" y="2267712"/>
            <a:ext cx="3538728" cy="859536"/>
          </a:xfrm>
          <a:prstGeom prst="roundRect">
            <a:avLst>
              <a:gd name="adj" fmla="val 744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62856" y="2487168"/>
            <a:ext cx="310896" cy="310896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983480" y="23591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UNKNOWN_ANOMALY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983480" y="26700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未知异常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19872" y="2267712"/>
            <a:ext cx="3538728" cy="859536"/>
          </a:xfrm>
          <a:prstGeom prst="roundRect">
            <a:avLst>
              <a:gd name="adj" fmla="val 744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39328" y="2487168"/>
            <a:ext cx="310896" cy="310896"/>
          </a:xfrm>
          <a:prstGeom prst="ellipse">
            <a:avLst/>
          </a:prstGeom>
          <a:solidFill>
            <a:srgbClr val="6B7A8A"/>
          </a:solidFill>
          <a:ln w="12700">
            <a:solidFill>
              <a:srgbClr val="6B7A8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759952" y="23591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INCONCLUSIVE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59952" y="26700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证据不足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3328416"/>
            <a:ext cx="11057839" cy="932688"/>
          </a:xfrm>
          <a:prstGeom prst="roundRect">
            <a:avLst>
              <a:gd name="adj" fmla="val 686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4672" y="3602736"/>
            <a:ext cx="365760" cy="365760"/>
          </a:xfrm>
          <a:prstGeom prst="ellipse">
            <a:avLst/>
          </a:prstGeom>
          <a:solidFill>
            <a:srgbClr val="FBEAC9"/>
          </a:solidFill>
          <a:ln w="15875">
            <a:solidFill>
              <a:srgbClr val="E8940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" y="3602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335024" y="345643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举证责任的方向决定系统好不好用</a:t>
            </a:r>
            <a:endParaRPr lang="en-US" sz="1450" dirty="0"/>
          </a:p>
        </p:txBody>
      </p:sp>
      <p:sp>
        <p:nvSpPr>
          <p:cNvPr id="34" name="Text 32"/>
          <p:cNvSpPr txBox="1"/>
          <p:nvPr/>
        </p:nvSpPr>
        <p:spPr>
          <a:xfrm>
            <a:off x="1335024" y="37490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「证据不足」默认判为正常还是可疑，属于运维策略问题，不是算法问题。全部判为可疑会产生大量无效工单，全部判为正常会漏掉真实缺陷，因此按触发条件分情况显式规定。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66928" y="4352544"/>
            <a:ext cx="11057839" cy="932688"/>
          </a:xfrm>
          <a:prstGeom prst="roundRect">
            <a:avLst>
              <a:gd name="adj" fmla="val 686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4626864"/>
            <a:ext cx="365760" cy="365760"/>
          </a:xfrm>
          <a:prstGeom prst="ellipse">
            <a:avLst/>
          </a:prstGeom>
          <a:solidFill>
            <a:srgbClr val="FBEAC9"/>
          </a:solidFill>
          <a:ln w="15875">
            <a:solidFill>
              <a:srgbClr val="E8940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4672" y="4626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335024" y="448056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「证据不足」和「冲突」是两件事</a:t>
            </a:r>
            <a:endParaRPr lang="en-US" sz="1450" dirty="0"/>
          </a:p>
        </p:txBody>
      </p:sp>
      <p:sp>
        <p:nvSpPr>
          <p:cNvPr id="39" name="Text 37"/>
          <p:cNvSpPr txBox="1"/>
          <p:nvPr/>
        </p:nvSpPr>
        <p:spPr>
          <a:xfrm>
            <a:off x="1335024" y="477316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四路都没有输出，与四路都有输出但结论矛盾，是两种情况。前者应补充观测，后者应转人工复核。合并为一类，运维就无法判断下一步该做什么。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" y="5376672"/>
            <a:ext cx="11057839" cy="932688"/>
          </a:xfrm>
          <a:prstGeom prst="roundRect">
            <a:avLst>
              <a:gd name="adj" fmla="val 686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4672" y="5650992"/>
            <a:ext cx="365760" cy="365760"/>
          </a:xfrm>
          <a:prstGeom prst="ellipse">
            <a:avLst/>
          </a:prstGeom>
          <a:solidFill>
            <a:srgbClr val="FBEAC9"/>
          </a:solidFill>
          <a:ln w="15875">
            <a:solidFill>
              <a:srgbClr val="E8940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04672" y="5650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335024" y="550468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密度不达标就不下读数类结论</a:t>
            </a:r>
            <a:endParaRPr lang="en-US" sz="1450" dirty="0"/>
          </a:p>
        </p:txBody>
      </p:sp>
      <p:sp>
        <p:nvSpPr>
          <p:cNvPr id="44" name="Text 42"/>
          <p:cNvSpPr txBox="1"/>
          <p:nvPr/>
        </p:nvSpPr>
        <p:spPr>
          <a:xfrm>
            <a:off x="1335024" y="579729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fusion.py 的门槛是 120 × 0.8 = 96 px。观测条件不满足时输出 INCONCLUSIVE，而不给出一个数值精确但实际不可信的读数。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实现：patrol/perception/fusion.py（278 行，纯规则无学习成分）· 六种结论各有测试用例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甲 · L1 目标检测：巡航级模型已训成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训练集 distribution_room（公开数据集，2 773 张，CC BY 4.0），骨干 yolo11s，训练 120 轮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2651760" cy="1261872"/>
          </a:xfrm>
          <a:prstGeom prst="roundRect">
            <a:avLst>
              <a:gd name="adj" fmla="val 507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49961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0.9949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848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01568" y="1298448"/>
            <a:ext cx="2651760" cy="1261872"/>
          </a:xfrm>
          <a:prstGeom prst="roundRect">
            <a:avLst>
              <a:gd name="adj" fmla="val 507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57600" y="149961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0.7513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0848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mAP50-95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36208" y="1298448"/>
            <a:ext cx="2651760" cy="1261872"/>
          </a:xfrm>
          <a:prstGeom prst="roundRect">
            <a:avLst>
              <a:gd name="adj" fmla="val 507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149961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0.9967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0848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precision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070848" y="1298448"/>
            <a:ext cx="2651760" cy="1261872"/>
          </a:xfrm>
          <a:prstGeom prst="roundRect">
            <a:avLst>
              <a:gd name="adj" fmla="val 507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0" y="149961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0.9976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0" y="20848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recall</a:t>
            </a:r>
            <a:endParaRPr lang="en-US" sz="1150" dirty="0"/>
          </a:p>
        </p:txBody>
      </p:sp>
      <p:pic>
        <p:nvPicPr>
          <p:cNvPr id="18" name="Image 0" descr="/home/user/2026summer/deliverables/_deck/img/l1_p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743200"/>
            <a:ext cx="3520440" cy="2999232"/>
          </a:xfrm>
          <a:prstGeom prst="rect">
            <a:avLst/>
          </a:prstGeom>
        </p:spPr>
      </p:pic>
      <p:pic>
        <p:nvPicPr>
          <p:cNvPr id="19" name="Image 1" descr="/home/user/2026summer/deliverables/_deck/img/l1_resul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9392" y="2743200"/>
            <a:ext cx="4206240" cy="2999232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8668512" y="2743200"/>
            <a:ext cx="2953512" cy="2999232"/>
          </a:xfrm>
          <a:prstGeom prst="roundRect">
            <a:avLst>
              <a:gd name="adj" fmla="val 216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869680" y="290779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训练配置</a:t>
            </a:r>
            <a:endParaRPr lang="en-US" sz="1450" dirty="0"/>
          </a:p>
        </p:txBody>
      </p:sp>
      <p:sp>
        <p:nvSpPr>
          <p:cNvPr id="22" name="Text 18"/>
          <p:cNvSpPr txBox="1"/>
          <p:nvPr/>
        </p:nvSpPr>
        <p:spPr>
          <a:xfrm>
            <a:off x="8869680" y="3255264"/>
            <a:ext cx="257860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骨干  yolo11s（预训练起训）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轮次  120 epochs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 640 × 640，batch 4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划分  沿用 Roboflow 原始 train/valid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映射  原始类别 → 本项目三类状态量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8814816" y="4828032"/>
            <a:ext cx="2670048" cy="859536"/>
          </a:xfrm>
          <a:prstGeom prst="roundRect">
            <a:avLst>
              <a:gd name="adj" fmla="val 7447"/>
            </a:avLst>
          </a:prstGeom>
          <a:solidFill>
            <a:srgbClr val="FBEAC9"/>
          </a:solidFill>
          <a:ln w="9525">
            <a:solidFill>
              <a:srgbClr val="FBEAC9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961120" y="4901184"/>
            <a:ext cx="23957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轮 mAP50 已达 0.9759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需先排除训练集与验证集之间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存在同源增广副本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产物：deliverables/甲-检测/（stage_meta / args / results.csv / 7 张曲线图）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甲 · L1 检测：待补齐部分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复核级模型与链路切换对比，明天上午补入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5486400" cy="3584448"/>
          </a:xfrm>
          <a:prstGeom prst="roundRect">
            <a:avLst>
              <a:gd name="adj" fmla="val 1531"/>
            </a:avLst>
          </a:prstGeom>
          <a:solidFill>
            <a:srgbClr val="FDF6E8"/>
          </a:solidFill>
          <a:ln w="22225">
            <a:solidFill>
              <a:srgbClr val="E8940C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841248" y="1536192"/>
            <a:ext cx="365760" cy="365760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!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1517904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训练与指标（明早补）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335024" y="1993392"/>
            <a:ext cx="4389120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复核级 yolo11m 训练与 mAP50（验收：优于巡航级）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单帧推理耗时（限值 ≤ 33 ms，巡航期 30 Hz 的硬指标）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漏检率（限值 ≤ 2 %）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增广对比表：只用公开集 vs 公开集 + 合成集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--check-leak 排查结果（train/val 增广副本）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335024" y="442569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明天上午由甲提供，替换本页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72784" y="1298448"/>
            <a:ext cx="5349240" cy="3584448"/>
          </a:xfrm>
          <a:prstGeom prst="roundRect">
            <a:avLst>
              <a:gd name="adj" fmla="val 1531"/>
            </a:avLst>
          </a:prstGeom>
          <a:solidFill>
            <a:srgbClr val="FDF6E8"/>
          </a:solidFill>
          <a:ln w="22225">
            <a:solidFill>
              <a:srgbClr val="E8940C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547104" y="1536192"/>
            <a:ext cx="365760" cy="365760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47104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!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151790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链路切换验证（明早补）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040880" y="1993392"/>
            <a:ext cx="4251960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configs/system.yaml → perception.detector: yolo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run_all 各跑三轮，对比证据包数 / 密度比 / Δconf / 成功率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验收标准：不退化于合成检测器即为成功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注意：切到 yolo 后距离由 bbox 反算而非真值透传，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指标变化要区分是检测精度下降，还是距离由真值改为估计值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4425696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明天上午由甲提供，替换本页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5084064"/>
            <a:ext cx="11057839" cy="969264"/>
          </a:xfrm>
          <a:prstGeom prst="roundRect">
            <a:avLst>
              <a:gd name="adj" fmla="val 6604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96112" y="5084064"/>
            <a:ext cx="104241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切换对比比 mAP 更重要，因为它验证的是「先写代码、后训模型」这条路径是否成立：上层代码不做任何修改，只改一项配置就能把训练好的权重接入全链路。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本页为占位，明天上午补齐后重新生成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 · L2 语义分割：接上真实数据后 IoU 三级跃升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指针类别的分割 IoU。公开数据集中只有 PaddleX 这一份提供了像素级指针标注</a:t>
            </a:r>
            <a:endParaRPr lang="en-US" sz="1300" dirty="0"/>
          </a:p>
        </p:txBody>
      </p:sp>
      <p:pic>
        <p:nvPicPr>
          <p:cNvPr id="6" name="Image 0" descr="/home/user/2026summer/deliverables/_deck/img/l2_io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98448"/>
            <a:ext cx="5577840" cy="34564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364224" y="1298448"/>
            <a:ext cx="5257800" cy="1088136"/>
          </a:xfrm>
          <a:prstGeom prst="roundRect">
            <a:avLst>
              <a:gd name="adj" fmla="val 588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65392" y="1298448"/>
            <a:ext cx="122529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0.251</a:t>
            </a:r>
            <a:endParaRPr lang="en-US" sz="2500" dirty="0"/>
          </a:p>
        </p:txBody>
      </p:sp>
      <p:sp>
        <p:nvSpPr>
          <p:cNvPr id="9" name="Text 6"/>
          <p:cNvSpPr txBox="1"/>
          <p:nvPr/>
        </p:nvSpPr>
        <p:spPr>
          <a:xfrm>
            <a:off x="7845552" y="142646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纯合成掩膜训练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845552" y="1755648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链路先跑通的基线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364224" y="2496312"/>
            <a:ext cx="5257800" cy="1088136"/>
          </a:xfrm>
          <a:prstGeom prst="roundRect">
            <a:avLst>
              <a:gd name="adj" fmla="val 588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65392" y="2496312"/>
            <a:ext cx="122529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0.384</a:t>
            </a:r>
            <a:endParaRPr lang="en-US" sz="2500" dirty="0"/>
          </a:p>
        </p:txBody>
      </p:sp>
      <p:sp>
        <p:nvSpPr>
          <p:cNvPr id="13" name="Text 10"/>
          <p:cNvSpPr txBox="1"/>
          <p:nvPr/>
        </p:nvSpPr>
        <p:spPr>
          <a:xfrm>
            <a:off x="7845552" y="26243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 + PaddleX 真实标注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845552" y="2953512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同一模型，仅加真实数据 → +0.133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364224" y="3694176"/>
            <a:ext cx="5257800" cy="1088136"/>
          </a:xfrm>
          <a:prstGeom prst="roundRect">
            <a:avLst>
              <a:gd name="adj" fmla="val 588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65392" y="3694176"/>
            <a:ext cx="122529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0.778</a:t>
            </a:r>
            <a:endParaRPr lang="en-US" sz="25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38221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U-Net（合成 + PaddleX）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845552" y="4151376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同一评测口径下再翻一倍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66928" y="4937760"/>
            <a:ext cx="11057839" cy="1115568"/>
          </a:xfrm>
          <a:prstGeom prst="roundRect">
            <a:avLst>
              <a:gd name="adj" fmla="val 5738"/>
            </a:avLst>
          </a:prstGeom>
          <a:solidFill>
            <a:srgbClr val="D7EFE3"/>
          </a:solidFill>
          <a:ln w="9525">
            <a:solidFill>
              <a:srgbClr val="D7EFE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77824" y="504748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本路线的主要结论：限制分割精度的是训练数据，不是模型容量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77824" y="5358384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模型与评测口径都不变，仅把 PaddleX 的真实像素标注加入训练集，指针 IoU 就从 0.251 升到 0.384，提高 53 %。这说明真实标注是当前的瓶颈，也验证了指针与刻度的区分正是合成掩膜最难提供监督信号的一环。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 顺带修了两个只有真跑过才会暴露的 bug：PaddleX 直链 404（且原指向检测集）、标注目录结构不匹配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 · L2：真实数据是否接入正确，只能通过人工检查叠加图确认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掩膜错位不会反映在指标上。IoU 仍然正常，但模型学到的是错误的类别对应关系</a:t>
            </a:r>
            <a:endParaRPr lang="en-US" sz="1300" dirty="0"/>
          </a:p>
        </p:txBody>
      </p:sp>
      <p:pic>
        <p:nvPicPr>
          <p:cNvPr id="6" name="Image 0" descr="/home/user/2026summer/deliverables/_deck/img/l2_m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1298448"/>
            <a:ext cx="10058400" cy="321868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64515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4672" y="477316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两边类别对不齐，这是接的时候唯一要动脑子的地方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5084064"/>
            <a:ext cx="49560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本项目  background · face · needle · ticks（四类）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PaddleX  background · pointer · scale（三类，没有盘面）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PaddleX 的 background 中大部分实际是盘面，两者无法区分，因此映射为 255 并排除出损失函数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181344" y="4645152"/>
            <a:ext cx="5440680" cy="1389888"/>
          </a:xfrm>
          <a:prstGeom prst="roundRect">
            <a:avLst>
              <a:gd name="adj" fmla="val 4605"/>
            </a:avLst>
          </a:prstGeom>
          <a:solidFill>
            <a:srgbClr val="D7EFE3"/>
          </a:solidFill>
          <a:ln w="9525">
            <a:solidFill>
              <a:srgbClr val="D7EFE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19088" y="477316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分工因此变得清楚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6419088" y="5084064"/>
            <a:ext cx="49743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指针与刻度的区分：由真实标注提供监督（合成掩膜在这一维上最弱）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盘面与背景的区分：由合成掩膜提供监督（合成数据在这一维上标注明确）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验收标准原文：人眼查看 check/ 目录下的叠加图，确认掩膜没有错位。类别映射错一位，后续所有 IoU 都是错的，且不会报错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 · L2：几何法 vs 学习法的比选结论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核心图正在重画，现有版本的采样量不足以支撑结论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5394960" cy="1700784"/>
          </a:xfrm>
          <a:prstGeom prst="roundRect">
            <a:avLst>
              <a:gd name="adj" fmla="val 376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42646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已确定的部分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175564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级联单次耗时约 59 ms，占 VERIFY 预算 2 500 ms 的 2.4 %，在预算内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分割替换的只是「哪些像素是针」，亚度级精度仍由几何解算给出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两者读数误差同量级（0.06 至 0.19 % FS），均优于 0.5 % FS 的限值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81344" y="1298448"/>
            <a:ext cx="5440680" cy="1700784"/>
          </a:xfrm>
          <a:prstGeom prst="roundRect">
            <a:avLst>
              <a:gd name="adj" fmla="val 3226"/>
            </a:avLst>
          </a:prstGeom>
          <a:solidFill>
            <a:srgbClr val="FDF6E8"/>
          </a:solidFill>
          <a:ln w="22225">
            <a:solidFill>
              <a:srgbClr val="E8940C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455664" y="1536192"/>
            <a:ext cx="365760" cy="365760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55664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!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949440" y="1517904"/>
            <a:ext cx="4434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核心图重画（明早补）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0" y="1993392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采样量 n=24 → 200 以上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纵轴改用 P90，中位数在这里会掩盖尾部误差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542032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明天上午替换 reading_error.png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218688"/>
            <a:ext cx="11057839" cy="2834640"/>
          </a:xfrm>
          <a:prstGeom prst="roundRect">
            <a:avLst>
              <a:gd name="adj" fmla="val 2258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338328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这张图要重画的原因，也是本次自查的主要发现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822192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822192"/>
            <a:ext cx="9966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采样噪声大于待比差异　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同一方法、同一档像素密度，仅更换随机种子重跑 40 次，中位数在 0.053 至 0.228 % FS 之间波动。这个区间覆盖了几何法（0.06 至 0.14）与 U-Net（0.07 至 0.19）的全部差异，因此在 n=24 下两者无法区分。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553712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4553712"/>
            <a:ext cx="9966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中位数是错的统计量　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采样量提高到 200 后中位数基本不变，变化的是尾部：P90 随像素密度单调下降，由 0.415 降到 0.178 % FS。像素密度改善的是大误差的发生概率，不是典型误差，因此改用 P90 反而更支持本项目的论点。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5285232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5285232"/>
            <a:ext cx="9966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合成表盘对几何法天然有利　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表盘的指针是近黑色线段绘制在近白盘面上，几何法「指针是盘面上最暗的贯穿条」这一假设按构造成立，且处于最大对比度。分割方法要解决的失效模式在这个测试集上没有出现，因此结论只能限定为「在合成表盘上无法区分」，不能外推到真实表计。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结论措辞取「在合成表盘上三者不可区分」，而非「几何法更优」。最终比选需要真实表盘的误差表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丙 · L3 未知异常检测：四方案横向比选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非监督方法，训练只使用正常样本，避开缺陷标注数据不可得的约束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7839" cy="914400"/>
        </p:xfrm>
        <a:graphic>
          <a:graphicData uri="http://schemas.openxmlformats.org/drawingml/2006/table">
            <a:tbl>
              <a:tblPr/>
              <a:tblGrid>
                <a:gridCol w="2450592"/>
                <a:gridCol w="2011680"/>
                <a:gridCol w="2148840"/>
                <a:gridCol w="1783080"/>
                <a:gridCol w="2660904"/>
              </a:tblGrid>
              <a:tr h="4069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统计法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基线·零权重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EfficientAD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简化蒸馏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对角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 全协方差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（采用）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误报率（正常裁片）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1.9 %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漏报率（异常 120 张）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90.8 %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100 %（分数倒挂）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48.3 %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正常均分 / 异常均分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0.03 / 0.36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0.07 / 0.00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0.04 / 0.56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 / 0.95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权重大小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1.6 KB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2.8 MB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 MB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44 MB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单次打分（CPU）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未启用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可解释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说得清哪个通道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480560"/>
            <a:ext cx="5394960" cy="1481328"/>
          </a:xfrm>
          <a:prstGeom prst="roundRect">
            <a:avLst>
              <a:gd name="adj" fmla="val 4321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4672" y="460857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评测条件（同一批样本，阈值统一 0.55）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4937760"/>
            <a:ext cx="495604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训练集  796 张正常裁片（密度分层 259 + 复核几何/检测框抖动增广 537）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评测集  另种子正常裁片 106 张 + 异常裁片 120 张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（场景 FOREIGN_OBJECT 60 + 训练与场景都没见过的合成贴片 60）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181344" y="4480560"/>
            <a:ext cx="5440680" cy="1481328"/>
          </a:xfrm>
          <a:prstGeom prst="roundRect">
            <a:avLst>
              <a:gd name="adj" fmla="val 4321"/>
            </a:avLst>
          </a:prstGeom>
          <a:solidFill>
            <a:srgbClr val="D7EFE3"/>
          </a:solidFill>
          <a:ln w="9525">
            <a:solidFill>
              <a:srgbClr val="D7EFE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19088" y="460857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漏报率 90.8 % → 3.3 %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6419088" y="5010912"/>
            <a:ext cx="49743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代价是权重从 1.6 KB 涨到 44 MB、打分从 6 ms 到 26 ms，且失去可解释性。部署目标是 RK3576 的 NPU，26 ms 在复核态预算内，因此这个取舍成立。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EfficientAD 简化蒸馏实测出现分数倒挂，异常样本得分反而更低，未采用。原因与数据一并记录在案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丙 · L3：分数分布与 ROC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正常与异常两组分数是否分离，可以直接从分布图判断</a:t>
            </a:r>
            <a:endParaRPr lang="en-US" sz="1300" dirty="0"/>
          </a:p>
        </p:txBody>
      </p:sp>
      <p:pic>
        <p:nvPicPr>
          <p:cNvPr id="6" name="Image 0" descr="/home/user/2026summer/deliverables/_deck/img/l3_score_d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98448"/>
            <a:ext cx="5440680" cy="3493008"/>
          </a:xfrm>
          <a:prstGeom prst="rect">
            <a:avLst/>
          </a:prstGeom>
        </p:spPr>
      </p:pic>
      <p:pic>
        <p:nvPicPr>
          <p:cNvPr id="7" name="Image 1" descr="/home/user/2026summer/deliverables/_deck/img/l3_ro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1344" y="1298448"/>
            <a:ext cx="5440680" cy="34930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66928" y="4901184"/>
            <a:ext cx="5440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四种方法的正常 / 异常分数分布（竖线 = 阈值 0.55）。全协方差 PaDiM 两簇几乎完全分开；对角版在增广后区分度下降；统计法只抬不越线；EfficientAD 倒挂。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6181344" y="4901184"/>
            <a:ext cx="5440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阈值由 0 扫描到 1。全协方差 PaDiM 的曲线靠近左上角，整条曲线均可用，说明该结果不依赖于某一个特定阈值。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产物：deliverables/丙-异常/（l3_report.json / baseline.json / onnx_smoke.json / rknn_export.md）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丙 · L3：两个决定结果的实测发现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这两条解释了第一版为什么失败，比最终指标更有参考价值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11057839" cy="1956816"/>
          </a:xfrm>
          <a:prstGeom prst="roundRect">
            <a:avLst>
              <a:gd name="adj" fmla="val 327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36192"/>
            <a:ext cx="420624" cy="420624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5361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08176" y="149961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训练裁片必须模拟运行时的检测框噪声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193852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现象　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系统送入 L3 的是检测框，而检测框存在抖动，会把表盘边缘裁掉。实测裁掉 12 % 的正常表盘，异常分由 0.5 升到 1.0，全部误报。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408176" y="232257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处置　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增广集加入抖动框后，系统实测的复核 ROI（600 s 跑出来的 6 张）从「全部 1.0 误报」回到正常分 0.00–0.09。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408176" y="2761488"/>
            <a:ext cx="978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教训　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离线数据集的分布必须与运行时管道实际送入的数据分布一致，否则离线指标再好，接入系统后也会失效。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529584"/>
            <a:ext cx="11057839" cy="1956816"/>
          </a:xfrm>
          <a:prstGeom prst="roundRect">
            <a:avLst>
              <a:gd name="adj" fmla="val 327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767328"/>
            <a:ext cx="420624" cy="420624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767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408176" y="37307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 与 L2 的分工在数据上看得见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08176" y="416966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现象　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开位的开关被 L2 判为 READING_ABNORMAL（状态异常），而 L3 对它的外观给正常分。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45537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处置　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外观异常（FOREIGN_OBJECT 异物）由 L3 负责。两层分工明确，没有互相覆盖。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408176" y="4992624"/>
            <a:ext cx="978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教训　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这条印证了「四类模型分开做」的设计：它们回答的不是同一个问题，所以不该用同一个指标去衡量。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两条都已写入交付文档。第一版为什么失败，比最终版指标多高更能说明流程是真正跑通的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三条识别路线：阶段性小结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每条路线都给出了实测数据，也写明了尚未测试的部分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7839" cy="914400"/>
        </p:xfrm>
        <a:graphic>
          <a:graphicData uri="http://schemas.openxmlformats.org/drawingml/2006/table">
            <a:tbl>
              <a:tblPr/>
              <a:tblGrid>
                <a:gridCol w="1572768"/>
                <a:gridCol w="566928"/>
                <a:gridCol w="3749040"/>
                <a:gridCol w="3063240"/>
                <a:gridCol w="2103120"/>
              </a:tblGrid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路线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负责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 · 实测数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比选结论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目标检测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甲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巡航级 yolo11s：mAP50 0.9949 / mAP50-95 0.7513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使用公开数据集训练，合成数据仅用于增广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复核级、耗时、切换对比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语义分割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乙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针 IoU 0.251 → 0.384 → 0.778；耗时 59 ms 在预算内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在合成表盘上与几何法不可区分，仍以几何法为默认实现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核心图重画、真实图误差表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未知异常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丙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 90.8 % → 3.3 %，误报 3.8 %；ROC 贴左上角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 全协方差版本最优，EfficientAD 因分数倒挂未采用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上板 INT8 掉点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681728"/>
            <a:ext cx="11057839" cy="1371600"/>
          </a:xfrm>
          <a:prstGeom prst="roundRect">
            <a:avLst>
              <a:gd name="adj" fmla="val 4667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7824" y="482803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三条路线共同印证了一条设计判断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5175504"/>
            <a:ext cx="10424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依靠公开数据集获得纹理多样性，L2 依靠真实标注学习指针与刻度的区分，L3 依靠合成正常样本避开缺陷数据不可得的约束。三条路线所需的数据类型完全不同，这是四类模型分开训练而不是合并为单一模型的实证依据。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三份完整交付见 deliverables/ 下各自目录（一页纸 + 图 + 产物 + 复现命令）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安全边界：三层防线，每一条都能当场演示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按方案书的要求，安全设计需要以可现场复现的方式验证，而不是仅在文档中声明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11057839" cy="128016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98448"/>
            <a:ext cx="82296" cy="12801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59536" y="140817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第一层 · 指令白名单与参数硬限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59536" y="1737360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五项校验逐条上报 PASS、FAIL 或 SKIP。参数范围硬编码在源码中，不放在配置文件里：配置可以被修改，安全边界不应该。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71616" y="1426464"/>
            <a:ext cx="5532120" cy="384048"/>
          </a:xfrm>
          <a:prstGeom prst="roundRect">
            <a:avLst>
              <a:gd name="adj" fmla="val 16667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1426464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94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tests/test_gateway.py -k out_of_range -v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6071616" y="1901952"/>
            <a:ext cx="5532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越界指令被拒，并留下逐项校验的审计记录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2706624"/>
            <a:ext cx="11057839" cy="128016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706624"/>
            <a:ext cx="82296" cy="1280160"/>
          </a:xfrm>
          <a:prstGeom prst="rect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9536" y="281635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第二层 · 心跳看门狗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3145536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感知与任务进程异常退出后，网关在 1.5 s 内接管，下发 RESUME 使车辆按原路线走完。这是四进程划分要保证的能力。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71616" y="2834640"/>
            <a:ext cx="5532120" cy="384048"/>
          </a:xfrm>
          <a:prstGeom prst="roundRect">
            <a:avLst>
              <a:gd name="adj" fmla="val 16667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99632" y="283464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94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patrol.tools.run_all &amp;  然后  pkill -f patrol.mission.node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6071616" y="3310128"/>
            <a:ext cx="5532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终止感知与任务进程后，车辆仍按路线走完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114800"/>
            <a:ext cx="11057839" cy="128016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6928" y="4114800"/>
            <a:ext cx="82296" cy="1280160"/>
          </a:xfrm>
          <a:prstGeom prst="rect">
            <a:avLst/>
          </a:prstGeom>
          <a:solidFill>
            <a:srgbClr val="35617D"/>
          </a:solidFill>
          <a:ln w="12700">
            <a:solidFill>
              <a:srgbClr val="35617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59536" y="422452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第三层 · 安全事件抢占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59536" y="4553712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任何时刻的安全事件都能打断正在进行的复核，200 ms 内中止并回到安全状态。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71616" y="4242816"/>
            <a:ext cx="5532120" cy="384048"/>
          </a:xfrm>
          <a:prstGeom prst="roundRect">
            <a:avLst>
              <a:gd name="adj" fmla="val 16667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99632" y="4242816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94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tests/test_fsm.py -k safety -v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071616" y="4718304"/>
            <a:ext cx="5532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注入安全事件，正在进行的复核 200 ms 内中止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5596128"/>
            <a:ext cx="11057839" cy="566928"/>
          </a:xfrm>
          <a:prstGeom prst="roundRect">
            <a:avLst>
              <a:gd name="adj" fmla="val 11290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77824" y="559612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所有指向底盘与云台的动作只经过 gateway 一个出口。这是第一层安全边界在代码结构上的保证，不依赖各模块自觉遵守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 697 行：node.py 收发与审计 / checks.py 五项校验 / limits.py 参数硬限 / watchdog.py 看门狗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云台控制：变焦增益调度是功能必需项，不是性能优化项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方案书 §11.1 列出的交付物：云台阶跃响应曲线，本页为本次实测结果</a:t>
            </a:r>
            <a:endParaRPr lang="en-US" sz="1300" dirty="0"/>
          </a:p>
        </p:txBody>
      </p:sp>
      <p:pic>
        <p:nvPicPr>
          <p:cNvPr id="6" name="Image 0" descr="/home/user/2026summer/deliverables/_deck/img/pid_st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98448"/>
            <a:ext cx="6675120" cy="4078224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43216" y="1298448"/>
          <a:ext cx="4178808" cy="914400"/>
        </p:xfrm>
        <a:graphic>
          <a:graphicData uri="http://schemas.openxmlformats.org/drawingml/2006/table">
            <a:tbl>
              <a:tblPr/>
              <a:tblGrid>
                <a:gridCol w="1572768"/>
                <a:gridCol w="841248"/>
                <a:gridCol w="987552"/>
                <a:gridCol w="777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工况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超调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调节时间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1× 广角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3.0 %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0.901 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 变焦（有调度）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1.0 %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1.202 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 变焦（关调度）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37.7 %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1.102 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不可接受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443216" y="2999232"/>
            <a:ext cx="4178808" cy="1481328"/>
          </a:xfrm>
          <a:prstGeom prst="roundRect">
            <a:avLst>
              <a:gd name="adj" fmla="val 4321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662672" y="31272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为什么必须做增益调度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7662672" y="3456432"/>
            <a:ext cx="3749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 1° 的云台转角，在 3× 变焦下对应的画面位移是 1× 的三倍。若控制量不按变焦倍率缩放，等效于把回路增益放大三倍，必然产生过冲。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 = θ / (W · z) · u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7443216" y="4608576"/>
            <a:ext cx="4178808" cy="1005840"/>
          </a:xfrm>
          <a:prstGeom prst="roundRect">
            <a:avLst>
              <a:gd name="adj" fmla="val 6364"/>
            </a:avLst>
          </a:prstGeom>
          <a:solidFill>
            <a:srgbClr val="FBEAC9"/>
          </a:solidFill>
          <a:ln w="9525">
            <a:solidFill>
              <a:srgbClr val="FBEAC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62672" y="47183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超调 1.0 % → 37.7 %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62672" y="5047488"/>
            <a:ext cx="3767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关闭增益调度后过冲接近 40 %，对应图中绿色曲线。这组对比是本课题控制部分的主要实测依据。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复现：python -m patrol.tools.tune_pid --out out/pid --compare-gain-schedule（本页数据为本次实测，README 旧值已更新）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端到端：全系统跑一轮真实巡检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四个边缘进程与云端台账构成全链路，单轮 300 秒，结束后输出统计小结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2651760" cy="131673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536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+ 1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12140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进程全链路打通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01568" y="1298448"/>
            <a:ext cx="2651760" cy="131673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9312" y="1536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– 6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3639312" y="212140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每轮产出证据包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36208" y="1298448"/>
            <a:ext cx="2651760" cy="131673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73952" y="1536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1.9 – 2.3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473952" y="212140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复核前后像素密度比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070848" y="1298448"/>
            <a:ext cx="2651760" cy="131673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08592" y="1536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+0.44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9308592" y="212140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真缺陷组 Δconf（目标 &gt; +0.25）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2816352"/>
            <a:ext cx="6675120" cy="2340864"/>
          </a:xfrm>
          <a:prstGeom prst="roundRect">
            <a:avLst>
              <a:gd name="adj" fmla="val 2734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1248" y="2962656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一轮巡检小结（实测输出）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41248" y="3310128"/>
            <a:ext cx="612648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证据包 6 个，复核成功率 83.3 %（目标 &gt; 85 %）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结论                条数    平均Δconf   平均密度比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READING_ABNORMAL       2      0.4441      2.2922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READING_OK             4      0.5644      1.5699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真缺陷组 Δconf 均值 = 0.4441（目标 &gt; +0.25）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443216" y="2816352"/>
            <a:ext cx="4178808" cy="2340864"/>
          </a:xfrm>
          <a:prstGeom prst="roundRect">
            <a:avLst>
              <a:gd name="adj" fmla="val 2734"/>
            </a:avLst>
          </a:prstGeom>
          <a:solidFill>
            <a:srgbClr val="FBEAC9"/>
          </a:solidFill>
          <a:ln w="9525">
            <a:solidFill>
              <a:srgbClr val="FBEAC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62672" y="296265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如实报告：成功率未达目标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7662672" y="3310128"/>
            <a:ext cx="376732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两轮实测为 83.3 % 与 75.0 %，均低于 85 % 的目标；文档记录的正常波动区间是 50 %–100 %。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主要原因是证据包偶发配对失败：before 记录为空，导致密度比为 0，该包不计入成功。这是已定位但尚未修复的缺陷，已列入待办，没有通过调整判定条件规避。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D9E4EC"/>
          </a:solidFill>
          <a:ln w="9525">
            <a:solidFill>
              <a:srgbClr val="D9E4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感知 30 Hz 巡航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952244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007108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IF-1 可疑事件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337560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D9E4EC"/>
          </a:solidFill>
          <a:ln w="9525">
            <a:solidFill>
              <a:srgbClr val="D9E4E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392424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任务状态机决策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22876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777740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IF-2 网关校验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108192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D9E4EC"/>
          </a:solidFill>
          <a:ln w="9525">
            <a:solidFill>
              <a:srgbClr val="D9E4E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163056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执行器动作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493508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548372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四路模型复核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8878824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D9E4EC"/>
          </a:solidFill>
          <a:ln w="9525">
            <a:solidFill>
              <a:srgbClr val="D9E4E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933688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证据包组装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0264140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319004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云端台账入库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复现：python -m patrol.tools.run_all --seconds 300　然后浏览器开 127.0.0.1:8000 看台账与实时页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71C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5836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本阶段最重要的一条方法论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33856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测试集太容易时，</a:t>
            </a:r>
            <a:endParaRPr lang="en-US" sz="3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比选结论是被数据决定的，不是被方法决定的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926080"/>
            <a:ext cx="3456432" cy="2212848"/>
          </a:xfrm>
          <a:prstGeom prst="roundRect">
            <a:avLst>
              <a:gd name="adj" fmla="val 2893"/>
            </a:avLst>
          </a:prstGeom>
          <a:solidFill>
            <a:srgbClr val="222A35"/>
          </a:solidFill>
          <a:ln w="9525">
            <a:solidFill>
              <a:srgbClr val="3340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30906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检测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343814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 = 0.9949，epoch 1 就有 0.9759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3950208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指标接近上限，复核级「mAP50 优于巡航级 5 个点」的验收标准已没有余量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70248" y="2926080"/>
            <a:ext cx="3456432" cy="2212848"/>
          </a:xfrm>
          <a:prstGeom prst="roundRect">
            <a:avLst>
              <a:gd name="adj" fmla="val 2893"/>
            </a:avLst>
          </a:prstGeom>
          <a:solidFill>
            <a:srgbClr val="222A35"/>
          </a:solidFill>
          <a:ln w="9525">
            <a:solidFill>
              <a:srgbClr val="33404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07992" y="30906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 分割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07992" y="343814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n=24 时中位数噪声 0.053–0.228 % FS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07992" y="3950208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噪声区间覆盖了几何法与 U-Net 的全部差异，两者无法区分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973568" y="2926080"/>
            <a:ext cx="3456432" cy="2212848"/>
          </a:xfrm>
          <a:prstGeom prst="roundRect">
            <a:avLst>
              <a:gd name="adj" fmla="val 2893"/>
            </a:avLst>
          </a:prstGeom>
          <a:solidFill>
            <a:srgbClr val="222A35"/>
          </a:solidFill>
          <a:ln w="9525">
            <a:solidFill>
              <a:srgbClr val="33404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11312" y="30906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 异常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11312" y="343814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统计法基线在原样本上误报漏报皆为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211312" y="3950208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改用难度更高的增广样本后才暴露出 90.8 % 的漏报，比选结果才具备区分度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539496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三条路线各自独立遇到了同一个问题。其中只有丙主动提高了评测样本的难度，比选表才具备区分度。这条经验已写入三份交付文档，作为下一阶段所有对比实验的前置检查项。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风险与未决事项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如实列出，其中包含两项已定位但尚未修复的缺陷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7839" cy="914400"/>
        </p:xfrm>
        <a:graphic>
          <a:graphicData uri="http://schemas.openxmlformats.org/drawingml/2006/table">
            <a:tbl>
              <a:tblPr/>
              <a:tblGrid>
                <a:gridCol w="2395728"/>
                <a:gridCol w="1005840"/>
                <a:gridCol w="2926080"/>
                <a:gridCol w="4727448"/>
              </a:tblGrid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重复性 0.321 % FS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限值 0.3 %，压线且逐次浮动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主要受检测框噪声影响，不是读数算法的精度上限。不通过调参掩盖，列入待办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证据包配对偶发丢 before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该包密度比为 0，复核成功率被拉低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已定位到 uploader 配对逻辑，下一阶段修复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复核成功率 75–83 %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未达标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 &gt; 85 %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主因同上；修复配对后重新评估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mAP50 0.9949 偏高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待核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训练集与验证集可能存在同源增广副本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已实现 --check-leak 排查命令，明日出结果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真实表盘读数误差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比选无法外推到真实表计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PaddleX 无读数真值，需另找带真值的数据或人工标注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RKNN 上板实测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阻塞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INT8 掉点与实际帧率未知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导出链路已通过 ONNX 冒烟推理，等板子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846320"/>
            <a:ext cx="11057839" cy="1170432"/>
          </a:xfrm>
          <a:prstGeom prst="roundRect">
            <a:avLst>
              <a:gd name="adj" fmla="val 5469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7824" y="4846320"/>
            <a:ext cx="10424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本页不做修饰。项目一贯的记录原则是：证据不足时写明不足，不做推测。重复性超差写在 README 首页，端到端成功率如实记为 75 % 至 83 %，EfficientAD 方案失败也照样写进比选表。指标偏低通常可以解释，指标来源不清则无法解释。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六项风险中四项有明确处置路径，两项（真实表盘读数真值、上板实测）受外部条件限制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下一阶段计划与分工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按接口边界划分，四条线可并行推进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5440680" cy="2084832"/>
          </a:xfrm>
          <a:prstGeom prst="roundRect">
            <a:avLst>
              <a:gd name="adj" fmla="val 307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1499616"/>
            <a:ext cx="365760" cy="365760"/>
          </a:xfrm>
          <a:prstGeom prst="ellipse">
            <a:avLst/>
          </a:prstGeom>
          <a:solidFill>
            <a:srgbClr val="35617D"/>
          </a:solidFill>
          <a:ln w="12700">
            <a:solidFill>
              <a:srgbClr val="35617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1499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甲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98448" y="14813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甲 · L1 检测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98448" y="1956816"/>
            <a:ext cx="448056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 --check-leak，排除训练集与验证集的同源样本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训练复核级 yolo11m 并导出 ONNX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测单帧耗时与漏检率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 detector: yolo，run_all 三轮对比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81344" y="1298448"/>
            <a:ext cx="5440680" cy="2084832"/>
          </a:xfrm>
          <a:prstGeom prst="roundRect">
            <a:avLst>
              <a:gd name="adj" fmla="val 307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19088" y="1499616"/>
            <a:ext cx="365760" cy="365760"/>
          </a:xfrm>
          <a:prstGeom prst="ellipse">
            <a:avLst/>
          </a:prstGeom>
          <a:solidFill>
            <a:srgbClr val="35617D"/>
          </a:solidFill>
          <a:ln w="12700">
            <a:solidFill>
              <a:srgbClr val="3561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19088" y="1499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912864" y="14813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 · L2 分割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912864" y="1956816"/>
            <a:ext cx="448056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核心图重画：n≥200，纵轴改 P90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 split.json 交代训练/验证划分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重新运行 make_figures，修正图例配色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寻找带读数真值的真实表盘数据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547872"/>
            <a:ext cx="5440680" cy="2084832"/>
          </a:xfrm>
          <a:prstGeom prst="roundRect">
            <a:avLst>
              <a:gd name="adj" fmla="val 307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3749040"/>
            <a:ext cx="365760" cy="365760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3749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298448" y="373075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丙 · L3 异常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98448" y="4206240"/>
            <a:ext cx="448056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RKNN 导出与上板实测（等板子）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 FP32 / INT8 两组数与掉点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量化校准集从 evidence/ 取本场景图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主体已完成，转入部署验证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181344" y="3547872"/>
            <a:ext cx="5440680" cy="2084832"/>
          </a:xfrm>
          <a:prstGeom prst="roundRect">
            <a:avLst>
              <a:gd name="adj" fmla="val 307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19088" y="3749040"/>
            <a:ext cx="365760" cy="365760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19088" y="3749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912864" y="373075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组长 · 系统与交付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912864" y="4206240"/>
            <a:ext cx="448056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修复证据包配对丢失 before 记录的缺陷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重复性超差归因（检测框噪声定量）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故障率 → 复核成功率的可靠性曲线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答辩材料与演示脚本收口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分工按接口边界划分，不按文件数量划分，四个人可以并行修改各自的模块而不产生冲突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71C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90288" y="1481328"/>
            <a:ext cx="3017520" cy="3017520"/>
          </a:xfrm>
          <a:prstGeom prst="ellipse">
            <a:avLst/>
          </a:prstGeom>
          <a:solidFill>
            <a:srgbClr val="171C24"/>
          </a:solidFill>
          <a:ln w="15875">
            <a:solidFill>
              <a:srgbClr val="2C38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01768" y="1892808"/>
            <a:ext cx="2194560" cy="2194560"/>
          </a:xfrm>
          <a:prstGeom prst="ellipse">
            <a:avLst/>
          </a:prstGeom>
          <a:solidFill>
            <a:srgbClr val="171C24"/>
          </a:solidFill>
          <a:ln w="22225">
            <a:solidFill>
              <a:srgbClr val="E8940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2100000">
            <a:off x="6078474" y="2487168"/>
            <a:ext cx="41148" cy="1005840"/>
          </a:xfrm>
          <a:prstGeom prst="rect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61888" y="2871216"/>
            <a:ext cx="274320" cy="274320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4846320"/>
            <a:ext cx="121916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敬请指正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0" y="5468112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RK3576 边缘计算的无人车主动式 AI 巡检系统 · 中期答辩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0" y="5870448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现场可演示：变焦对比 · 越界指令被拒 · 看门狗接管 · 复核 200 ms 中止 · 端到端一轮巡检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测控系统综合实训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 RK3576 边缘计算的无人车主动式 AI 巡检系统 · 中期答辩</dc:title>
  <dc:subject>PptxGenJS Presentation</dc:subject>
  <dc:creator>配电室巡检系统项目组</dc:creator>
  <cp:lastModifiedBy>配电室巡检系统项目组</cp:lastModifiedBy>
  <cp:revision>1</cp:revision>
  <dcterms:created xsi:type="dcterms:W3CDTF">2026-09-02T16:55:02Z</dcterms:created>
  <dcterms:modified xsi:type="dcterms:W3CDTF">2026-09-02T16:55:02Z</dcterms:modified>
</cp:coreProperties>
</file>
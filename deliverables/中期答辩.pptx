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开场：本系统的做法是，巡航时以低算力扫描一遍，检出可疑目标后停车、对准、变焦、重新拍摄。这一步把表盘成像从 50 像素放大到 150 像素，读数精度才能达到 0.5 % FS 的要求。与「沿途录像、回去离线分析」的区别就在这里。硬件尚未到位，但整套系统可以在笔记本上完整运行，所有指标均为实测值。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提纲四部分。时间紧的话，重点讲 01 的像素密度立论和 03 的三条实测结论。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本页要讲清三项要求之间的冲突。如果评审问为什么不直接换更大的模型，答案是：50 像素的成像里本来就没有足够信息，信息在光学环节已经丢失，只能通过变焦重新采集。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交代国内外现状。三类方案各有适用场景，本课题不是要取代它们，而是补上一个共同缺口：现有方案按固定参数采集，采集时不知道这一帧够不够用。我们把判读结果反馈回采集环节，让采集参数由目标本身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左侧巡航态 50 像素，指针无法分辨；右侧 3 倍变焦后 150 像素，刻度可读。要强调的是实测框宽与针孔投影公式的计算值相差 0.4 %，说明虚拟场景在光学上与公式自洽，因此在其上测得的精度指标可以作为依据。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本页把研究目标与实测结果并排列出。六条量化要求中五条达成，重复性 0.321 % FS 超出 0.3 % 的限值，这一条主动写在这里，不放到最后。评审通常会先看这张表，然后挑一两项追问过程，后面的研究内容部分就是逐项展开。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把技术选型与任务书要求对应起来。评审如果问某个设计的依据，答案在右侧一列。这四条决定互相支撑：接口先冻结，四个人才能并行开发；有驱动抽象，控制逻辑才能不等硬件；采用两段式采集，精度与时间预算才能同时满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十个状态中这里画出八个主线状态，另外两个是 ABORT 和 ERROR。设计上有一条约束：每个状态都必须定义超时转移，因此状态机不会停在某个状态上不动。复核预算公式的作用是限制单轮巡检中复核的总次数，使主动复核不会超出 30 min 的巡检时间预算。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本页回答架构复杂度的问题。四个进程的边界按安全职责划分，不按代码量划分。五份 Schema 是冻结的接口契约，修改任何一个字段都要走 ALLOWED_DRIFT 白名单流程，因此四个人可以并行修改各自的模块而不产生接口冲突。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本页说明系统的运行过程。十二步跨四个进程与云端，每一步都能对应到具体文件。第 8、9 步走文件而不走总线，是因为 Schema 冻结后不允许新增字段，而证据目录本身就是 ICD 定义的契约。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本页说明代码的组织方式。分层原则有两条：同一层内可以更换实现，例如检测器由合成检测器换成 YOLO，上层代码不需要修改；跨层调用不绕过既定接口，感知进程取不到执行器，网关进程不加载模型。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回答没有硬件如何开展工作。有两点：一是桩会注入真机上实际存在的故障，因此在桩上通过的验收是有意义的；二是真值与先验严格分开，感知读不到真值，精度数据不是自我核对得出的。假小车这一条可以证明真机驱动代码路径处于可运行状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这一页讲接口治理。重点是改动成本表：不同类型的改动对应不同的评审要求，增删指令白名单默认不批准。加上 51 项校验和 9 条反例，接口在开发过程中就能保持稳定。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本页回答资料从何获取。要强调分工：公开数据集是训练主力，合成数据只补三样公开数据在结构上给不了的东西。指针 IoU 从 0.251 到 0.384 这一步是实证：同一模型只加真实标注就提高 53 %，说明瓶颈在数据而不在模型容量。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本页是识别部分的总述。评审可能会问为什么不用一个端到端的大模型，答案在最后一段：四个子问题对速度、精度、输出形式和损失函数的要求互相冲突。而且这个划分是 ICD 协议中已经预留的，我们没有改动接口。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仲裁层采用显式规则而非学习模型，是因为它必须能逐条给出判定依据。三条经验中第一条值得展开：举证责任的默认方向属于运维策略问题，不是算法问题。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甲的巡航级模型已训练完成，指标较高。有一点要主动说明：第 1 轮 mAP50 就达到 0.976，这个数偏高。我们已经实现了 --check-leak 命令，用于排查 Roboflow 导出的增广副本跨训练集与验证集分布的情况，明天出结果。主动说明比被问到再解释更好。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本页说明识别对象为什么定为三类状态量，而不是外观缺陷：由公开标注数据的可得性决定。外观缺陷这一路改由 L3 用非监督方法承接。两级模型的阈值分工也需要说明：巡航级保召回，复核级保准确。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本页明天上午替换。如果答辩前甲仍未补齐，就按现在的内容讲，说明哪些项目尚未测试即可，不要临时填一个数字。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乙这一路值得讲的不是 0.778，而是 0.251 到 0.384 这一步：模型不变，仅增加真实标注就提高 53 %，说明瓶颈在数据而不在模型容量。他修的两个缺陷也值得提一句，那是只有真正下载数据并完整跑通流程才会暴露的问题。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本页讲的是核对方法：有些错误不会反映在指标上，只能人工检查。类别映射错一位，IoU 仍然可以训得很高，但模型学到的对应关系是错的。因此我们把人工检查叠加图写成了硬性验收标准。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本页讲的是自查过程。我们没有直接采用第一版图，而是先估计了采样噪声，结果发现待比较的差异小于噪声。如果评审问怎么确认这个差异是真实的，这一页就是回答。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丙这一路完成度最高。四个方案在同一批样本、同一阈值下比较，结论明确。要强调 EfficientAD 这一列：该方案失败了，我们照实写进表里而不是删除，这是完整的比选记录。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本页说明三种方法结果不同的原因。统计法用马氏距离衡量全局偏离，对局部异常不敏感；EfficientAD 的简化蒸馏与本项目的数据规模不匹配，出现分数倒挂；全协方差版本之所以有效，是因为异物改变的正是特征通道之间的相关结构。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左图最直观：两组分布分离即为可用，重叠即为不可用，不需要了解算法细节也能判断。右图 ROC 说明结论不依赖阈值的选取。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条值得展开：离线数据集的分布与运行时管道实际送入的数据分布不一致，导致离线指标正常而接入系统后全部误报。这类问题只有把模型真正接进系统运行才会暴露，只在数据集上训练和评测是发现不了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三条演示都可以当场执行，合计不到一分钟。如果评审对安全设计有疑问，建议直接演示第二条：终止感知与任务进程后车辆仍按路线走完。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课题名称是「测控系统」，控制部分的实测依据集中在这一页。绿色曲线的过冲最直观，那是关闭增益调度后的响应。三组数据均为本次现场运行所得，不是引用旧文档。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本页要主动说明成功率未达标。83.3 % 与 75.0 % 均低于 85 % 的目标。原因已定位为证据包配对偶发丢失 before 记录，已列入待办，没有通过调整判定条件规避。主动说明比被问到再解释更好。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本页说明如何度量主动复核的效果。三个指标中像素密度比与 Δconf 达标，复核成功率未达标，原因已定位。右侧三条是实现上的约定，其中统计口径这一条值得展开：Δconf 必须按结论分组统计，误报组为负值，与真缺陷组混在一起算均值会接近零，看上去像复核没有作用。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本页讲工作量。重点不在总行数，而在构成：测试 5 900 行，与核心业务代码规模接近，说明测试与功能是同步写的，不是最后补的。文档 4 700 行，保证其他人接手时有依据可循。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本页讲质量保障。三项检查各是一条命令，可以当场演示。最后一段是我们一直遵守的记录原则：重复性超差主动写在 README 首页，不做修饰。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是完成度的逐项说明。状态判定采用统一标准：能产出可复现的实测数据才记为已完成。九项已完成，两项进行中，两项未开始。两项未开始的都受外部条件限制：五点标定缺真实标定数据，真机联调缺硬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本页收束识别部分。最后一段是结论：三条路线所需的数据类型完全不同，这是分开做的实证依据。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这一页是答辩的重点。四条创新点里第一条是本课题的立论，第二条是控制部分的贡献，第三条是识别部分的贡献，第四条是工程方法上的贡献。每条右侧都给了实测支撑，不是只有说法。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本页是三条路线的共性发现：评测集难度不足时，比选结论实际由数据决定而非由方法决定。三个人各自独立遇到了这个问题，因此把它作为下一阶段对比实验的前置检查项。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本页交代参考了什么、怎么处理的。要强调最后那条原则：引用之后必须落到可执行的检查上。指标对应到常量和测试用例，数据集映射写进脚本并配核对图，方法来源同批复现后再比选。未采用的 EfficientAD 也连同失败原因记录在案。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本页照实讲。六项风险中我们主动列出了两个已定位但尚未修复的缺陷。完整披露有助于说明其余数据的可信度。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下一阶段四条线并行。丙这一路主体已完成，转入部署验证；组长这一路主要是修复缺陷和补充可靠性曲线。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结束页。如果时间允许，主动提出现场演示，从五条中选一条，建议选看门狗接管那条。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051560"/>
            <a:ext cx="3611880" cy="3611880"/>
          </a:xfrm>
          <a:prstGeom prst="ellipse">
            <a:avLst/>
          </a:prstGeom>
          <a:solidFill>
            <a:srgbClr val="171C24"/>
          </a:solidFill>
          <a:ln w="19050">
            <a:solidFill>
              <a:srgbClr val="E894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05088" y="1481328"/>
            <a:ext cx="2752344" cy="2752344"/>
          </a:xfrm>
          <a:prstGeom prst="ellipse">
            <a:avLst/>
          </a:prstGeom>
          <a:solidFill>
            <a:srgbClr val="171C24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2040000">
            <a:off x="10060686" y="2308860"/>
            <a:ext cx="41148" cy="109728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25812" y="2702052"/>
            <a:ext cx="310896" cy="310896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188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691640"/>
            <a:ext cx="7315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37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</a:t>
            </a:r>
            <a:endParaRPr lang="en-US" sz="37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52958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配电室设备状态视觉测控 · 停车对准变焦，把表盘从 50 px 放大到 150 px 再读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21 100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行代码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项测试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187952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4187952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路模型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998464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5998464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项接口校验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98932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四人小组 · 甲 L1 检测 / 乙 L2 分割 / 丙 L3 异常 / 组长 系统与交付        2026 年 9 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汇报提纲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按研究背景、思路结构、方法与内容、总结创新、文献与不足五个部分展开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57839" cy="877824"/>
          </a:xfrm>
          <a:prstGeom prst="roundRect">
            <a:avLst>
              <a:gd name="adj" fmla="val 729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335024"/>
            <a:ext cx="822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700784" y="144475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研究背景和现状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792224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配电室巡检的三项约束、国内外三类既有方案、问题的提出、研究目标与结果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253167" y="1335024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3 – 7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350008"/>
            <a:ext cx="11057839" cy="877824"/>
          </a:xfrm>
          <a:prstGeom prst="roundRect">
            <a:avLst>
              <a:gd name="adj" fmla="val 729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2350008"/>
            <a:ext cx="822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700784" y="245973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研究思路和结构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700784" y="280720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四个设计决定、总体方案、系统结构、逻辑主线、研究内容的组织方式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253167" y="2350008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8 – 13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64992"/>
            <a:ext cx="11057839" cy="877824"/>
          </a:xfrm>
          <a:prstGeom prst="roundRect">
            <a:avLst>
              <a:gd name="adj" fmla="val 729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3364992"/>
            <a:ext cx="822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700784" y="3474720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方法和研究内容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382219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两项支撑性方法、资料来源，以及九项研究内容的实施方式与实测数据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253167" y="3364992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14 – 33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379976"/>
            <a:ext cx="11057839" cy="877824"/>
          </a:xfrm>
          <a:prstGeom prst="roundRect">
            <a:avLst>
              <a:gd name="adj" fmla="val 729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" y="4379976"/>
            <a:ext cx="822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1700784" y="4489704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总结与创新点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700784" y="4837176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工作量与质量、研究进度、阶段性结论、四条主要创新点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253167" y="4379976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34 – 40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394960"/>
            <a:ext cx="11057839" cy="877824"/>
          </a:xfrm>
          <a:prstGeom prst="roundRect">
            <a:avLst>
              <a:gd name="adj" fmla="val 729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1248" y="5394960"/>
            <a:ext cx="822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1700784" y="5504688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参考文献与存在的不足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700784" y="585216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三类参考资料及其处理方式、六项存在的不足、下一阶段计划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253167" y="5394960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41 – 45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417320"/>
            <a:ext cx="1170432" cy="1170432"/>
          </a:xfrm>
          <a:prstGeom prst="ellipse">
            <a:avLst/>
          </a:prstGeom>
          <a:solidFill>
            <a:srgbClr val="171C24"/>
          </a:solidFill>
          <a:ln w="25400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1417320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139696" y="1481328"/>
            <a:ext cx="7315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研究背景和现状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2176272" y="2231136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本节回答：为什么做这个课题？意义在哪？目标是什么？取得了什么结果？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176272" y="320040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87168" y="301752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配电室巡检的三项约束，以及它们为何互相冲突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176272" y="384048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87168" y="365760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国内外三类既有方案能解决什么、回避了什么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176272" y="448056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87168" y="429768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问题的提出：像素密度与读数精度的定量关系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176272" y="512064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87168" y="493776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四项研究目标与本阶段的实测结果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176272" y="576072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87168" y="557784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本阶段结论：六项量化要求中五项达成，重复性一项压线未达标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研究背景：配电室巡检面临的三项约束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任务书三项要求，每一项都指向同一个矛盾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3538728" cy="2670048"/>
          </a:xfrm>
          <a:prstGeom prst="roundRect">
            <a:avLst>
              <a:gd name="adj" fmla="val 239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15361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看得清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表计读数误差 ≤ 0.5 % FS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432304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m 处 1× 变焦时表盘成像只有 50 px，指针无法分辨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1298448"/>
            <a:ext cx="3538728" cy="2670048"/>
          </a:xfrm>
          <a:prstGeom prst="roundRect">
            <a:avLst>
              <a:gd name="adj" fmla="val 239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99432" y="1554480"/>
            <a:ext cx="384048" cy="384048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9943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11496" y="15361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跑得完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单次巡检 ≤ 30 min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99432" y="2432304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靠近、放大、多次拍摄都会增加单个航点的停留时间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19872" y="1298448"/>
            <a:ext cx="3538728" cy="2670048"/>
          </a:xfrm>
          <a:prstGeom prst="roundRect">
            <a:avLst>
              <a:gd name="adj" fmla="val 239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75904" y="1554480"/>
            <a:ext cx="384048" cy="384048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75904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15361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不误动作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375904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不能因 AI 误判撞到设备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375904" y="2432304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模型存在误判，而车辆在运动，停车决策不能由模型直接触发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169664"/>
            <a:ext cx="11057839" cy="1883664"/>
          </a:xfrm>
          <a:prstGeom prst="roundRect">
            <a:avLst>
              <a:gd name="adj" fmla="val 3398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976" y="44074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三项要求互相冲突，这是本课题的主要难点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4864608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全程低速高分辨率拍摄能满足精度但超出时间预算；全程高速扫描能满足时间但达不到精度。本方案把两者分开：巡航期用轻量检测模型以 30 Hz 扫描，只有检出可疑目标后才停车、对准、变焦、重新拍摄，时间开销只发生在需要复核的航点上。是否停车由状态机的抑制规则与安全网关判定，模型只提供候选，不直接控制执行器。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指标出处：设计方案书 §2.2 表 2-2 / 测控系统综合实训课题任务书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国内外现状：三类既有方案与它们的边界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配电室巡检已有成熟产品，本课题要解决的是它们共同回避的那一段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788920"/>
                <a:gridCol w="2423160"/>
                <a:gridCol w="3877056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方案类别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代表做法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能解决的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回避的问题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固定式在线监测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在每台设备旁装传感器与摄像头，接入综合监控系统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连续监测、响应快、无运动部件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改造成本随设备数线性增长；老站点布线困难；视角固定，装错位置就读不到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轨道式巡检机器人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沿预埋导轨往复运行，定点拍摄并回传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路径确定、定位精度高、供电稳定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轨道属土建改造；路径不可变更；仍以录像回传为主，读数依赖后端人工或离线算法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轮式巡检机器人（本课题）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自主导航至巡检位，云台对准后采集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无需土建改造、路径可重规划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定位与云台误差直接影响成像；算力受限，无法全程按高精度采集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13632"/>
            <a:ext cx="11057839" cy="1737360"/>
          </a:xfrm>
          <a:prstGeom prst="roundRect">
            <a:avLst>
              <a:gd name="adj" fmla="val 3684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" y="40416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三类方案的共同缺口：把「采集」和「判读」当成两件事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4425696"/>
            <a:ext cx="104241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现有方案普遍按固定参数采集，再把图像交给后端判读。这条路线的问题在于：采集时不知道这一帧够不够用，判读时已经无法补救。表计成像不足 120 px 时，后端再强的算法也读不出 0.5 % FS 的精度，因为信息在光学环节就已经丢失。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本课题把判读结果反馈回采集环节：先低成本扫描，检出可疑目标后停车、对准、变焦、重新采集，使采集参数由目标本身决定。这是「主动式」三个字的实际含义，也是本课题与上述三类方案的区别所在。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现状调研见设计方案书 §1.2 与 §6.2.1；识别对象的选取依据见后文「资料来源」一页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问题的提出：像素密度决定读数精度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同一块压力表在巡航态与复核态下的成像对比</a:t>
            </a:r>
            <a:endParaRPr lang="en-US" sz="1300" dirty="0"/>
          </a:p>
        </p:txBody>
      </p:sp>
      <p:pic>
        <p:nvPicPr>
          <p:cNvPr id="6" name="Image 0" descr="/home/user/2026summer/deliverables/_deck/img/zoom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11055096" cy="3584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0657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355848" y="50657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3355848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144768" y="50657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44768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70848" y="4992624"/>
            <a:ext cx="2551176" cy="1060704"/>
          </a:xfrm>
          <a:prstGeom prst="roundRect">
            <a:avLst>
              <a:gd name="adj" fmla="val 6034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99448" y="5102352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公式算出 49.8 / 149.5 px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渲染器与光学模型自洽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 --out out/   ·   光学公式集中在 patrol/scene/optics.py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研究目标与主要结果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四项目标对应任务书要求，右列为本阶段已取得的实测结果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3310128"/>
                <a:gridCol w="2606040"/>
                <a:gridCol w="3127248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研究目标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量化要求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本阶段结果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建立可主动调整采集参数的巡检系统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复核后成像放大 ≥ 1.5 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像素密度比 1.9 至 2.3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表计读数达到工业测量精度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≤ 0.5 % 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线性度 ≤ 0.4 % 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0.469 % 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0.267 % 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≤ 0.3 % 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0.321 % 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D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云台伺服满足复核时的对准要求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 ≤ 10 %，调节时间 ≤ 1.5 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变焦：超调 1.0 %，1.202 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建立不依赖缺陷标注的异常发现能力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对训练集外的异常可检出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3.3 %，误报 3.8 %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保证 AI 误判不转化为车辆动作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三层边界可现场验证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三条演示均可当场执行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00176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" y="514807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57332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项自动化测试通过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01568" y="500176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9312" y="514807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3639312" y="57332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项接口一致性校验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6208" y="500176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73952" y="514807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6473952" y="57332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路模型协同已接通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070848" y="500176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308592" y="514807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9308592" y="57332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项指标压线未达标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指标出处：设计方案书 §2.2 表 2-2；未达成项已列入不足与下一阶段计划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417320"/>
            <a:ext cx="1170432" cy="1170432"/>
          </a:xfrm>
          <a:prstGeom prst="ellipse">
            <a:avLst/>
          </a:prstGeom>
          <a:solidFill>
            <a:srgbClr val="171C24"/>
          </a:solidFill>
          <a:ln w="25400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1417320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139696" y="1481328"/>
            <a:ext cx="7315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研究思路和结构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2176272" y="2231136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本节回答：思路怎么展开？系统与内容按什么逻辑组织？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176272" y="320040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87168" y="301752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由三项约束推导出的四个设计决定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176272" y="384048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87168" y="365760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总体方案：主动式复核的十状态流程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176272" y="448056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87168" y="429768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系统结构：四进程、四接口、五份接口契约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176272" y="512064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87168" y="493776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逻辑主线：一次复核的十二步数据流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176272" y="576072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87168" y="557784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研究内容的组织方式：代码分层与模块职责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研究思路：由三项约束推出的四个设计决定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每个决定对应上一页的一项约束，可以逐条追溯到任务书要求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7839" cy="1097280"/>
          </a:xfrm>
          <a:prstGeom prst="roundRect">
            <a:avLst>
              <a:gd name="adj" fmla="val 58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298448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40817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两段式感知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181051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巡航期与复核期用不同的模型和不同的输入分辨率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426464"/>
            <a:ext cx="7360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精度要求 0.5 % FS 对应 120 px 的成像下限，而 5 m 处 1× 只有 50 px。全程按复核精度采集会超出 30 min 的时间预算，所以把采集分成两段：巡航期只做检出，复核期才做测量。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487168"/>
            <a:ext cx="11057839" cy="1097280"/>
          </a:xfrm>
          <a:prstGeom prst="roundRect">
            <a:avLst>
              <a:gd name="adj" fmla="val 58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487168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25968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执行器单一出口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29992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感知与任务进程都不持有驱动实例，指令一律经安全网关下发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2615184"/>
            <a:ext cx="7360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模型存在误判，而误判会转化为车辆动作。把对执行器的访问集中到唯一进程，并让该进程不加载任何模型，是为了让它能在感知或任务进程异常退出后继续工作。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1057839" cy="1097280"/>
          </a:xfrm>
          <a:prstGeom prst="roundRect">
            <a:avLst>
              <a:gd name="adj" fmla="val 58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675888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378561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接口先冻结再实现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481328" y="418795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JSON Schema 在编码前定稿，字段全部 additionalProperties: false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3803904"/>
            <a:ext cx="7360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四个人要并行开发，进程之间又必须能对接。先把报文结构固定下来，各自实现时就不会互相等待，联调时也不会出现字段对不上的情况。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64608"/>
            <a:ext cx="11057839" cy="1097280"/>
          </a:xfrm>
          <a:prstGeom prst="roundRect">
            <a:avLst>
              <a:gd name="adj" fmla="val 58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864608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1481328" y="497433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驱动抽象与故障注入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481328" y="537667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四个抽象基类隔离硬件，桩注入真机上实际存在的故障率</a:t>
            </a:r>
            <a:endParaRPr lang="en-US" sz="980" dirty="0"/>
          </a:p>
        </p:txBody>
      </p:sp>
      <p:sp>
        <p:nvSpPr>
          <p:cNvPr id="25" name="Text 23"/>
          <p:cNvSpPr txBox="1"/>
          <p:nvPr/>
        </p:nvSpPr>
        <p:spPr>
          <a:xfrm>
            <a:off x="4023360" y="4992624"/>
            <a:ext cx="7360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硬件到位时间不确定，但控制与状态机逻辑不应该等硬件。桩按真实角速度约束运动，并注入 2 % ACK 丢包与 5 % 对焦失败，使在桩上通过的验收具有参考价值。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四个决定共同构成「代码先行、模型后训、硬件后接」这条实施路径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总体方案：主动式复核的十状态流程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十状态机。每个状态都定义了超时转移，不存在没有出边的状态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89888"/>
            <a:ext cx="1316736" cy="274320"/>
          </a:xfrm>
          <a:prstGeom prst="rect">
            <a:avLst/>
          </a:prstGeom>
          <a:solidFill>
            <a:srgbClr val="35617D"/>
          </a:solidFill>
          <a:ln w="6350">
            <a:solidFill>
              <a:srgbClr val="3561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865376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952244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52244" y="1389888"/>
            <a:ext cx="1316736" cy="274320"/>
          </a:xfrm>
          <a:prstGeom prst="rect">
            <a:avLst/>
          </a:prstGeom>
          <a:solidFill>
            <a:srgbClr val="35617D"/>
          </a:solidFill>
          <a:ln w="6350">
            <a:solidFill>
              <a:srgbClr val="3561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52244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025396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250692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337560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37560" y="1389888"/>
            <a:ext cx="1316736" cy="27432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37560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10712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 PAUSE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636008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722876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22876" y="1389888"/>
            <a:ext cx="1316736" cy="27432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22876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796028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021324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108192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08192" y="1389888"/>
            <a:ext cx="1316736" cy="27432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08192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181344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p_target 算倍率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变焦到 120 px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406640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93508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3508" y="1389888"/>
            <a:ext cx="1316736" cy="274320"/>
          </a:xfrm>
          <a:prstGeom prst="rect">
            <a:avLst/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93508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7566660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791956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878824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878824" y="1389888"/>
            <a:ext cx="1316736" cy="274320"/>
          </a:xfrm>
          <a:prstGeom prst="rect">
            <a:avLst/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878824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8951976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0177272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10264140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64140" y="1389888"/>
            <a:ext cx="1316736" cy="274320"/>
          </a:xfrm>
          <a:prstGeom prst="rect">
            <a:avLst/>
          </a:prstGeom>
          <a:solidFill>
            <a:srgbClr val="35617D"/>
          </a:solidFill>
          <a:ln w="6350">
            <a:solidFill>
              <a:srgbClr val="35617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264140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0337292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恢复巡航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3785616"/>
            <a:ext cx="3538728" cy="1938528"/>
          </a:xfrm>
          <a:prstGeom prst="roundRect">
            <a:avLst>
              <a:gd name="adj" fmla="val 330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39502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804672" y="4297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804672" y="4626864"/>
            <a:ext cx="3127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算得出这一趟还能复核几次，排不下的顺延到下一轮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343400" y="3785616"/>
            <a:ext cx="3538728" cy="1938528"/>
          </a:xfrm>
          <a:prstGeom prst="roundRect">
            <a:avLst>
              <a:gd name="adj" fmla="val 330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81144" y="39502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</a:t>
            </a:r>
            <a:endParaRPr lang="en-US" sz="1450" dirty="0"/>
          </a:p>
        </p:txBody>
      </p:sp>
      <p:sp>
        <p:nvSpPr>
          <p:cNvPr id="51" name="Text 49"/>
          <p:cNvSpPr txBox="1"/>
          <p:nvPr/>
        </p:nvSpPr>
        <p:spPr>
          <a:xfrm>
            <a:off x="4581144" y="4297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81144" y="4626864"/>
            <a:ext cx="3127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同一个航点不重复停车，定位丢了就不再触发复核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119872" y="3785616"/>
            <a:ext cx="3538728" cy="1938528"/>
          </a:xfrm>
          <a:prstGeom prst="roundRect">
            <a:avLst>
              <a:gd name="adj" fmla="val 330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357616" y="39502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安全优先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8357616" y="4297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 200 ms 内中止复核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8357616" y="4626864"/>
            <a:ext cx="3127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任何时刻安全事件都能打断正在进行的复核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实现：patrol/mission/fsm.py（598 行，十状态）· suppress.py（三条抑制）· budget.py（预算与顺延队列）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系统结构：四进程、四接口与五份接口契约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进程边界按安全职责划分：安全网关必须在感知与任务进程异常退出后继续工作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  感知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相机、四路模型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驱动以 passive 建，收不到指令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  任务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60273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十状态机、PID、预算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60273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不碰驱动，不碰模型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3620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737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  安全网关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3737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四个驱动实例（唯一）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不碰模型、不碰图像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7084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7201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  上传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27201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证据目录、上传队列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927201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不碰驱动，不碰模型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29584"/>
          <a:ext cx="6903720" cy="914400"/>
        </p:xfrm>
        <a:graphic>
          <a:graphicData uri="http://schemas.openxmlformats.org/drawingml/2006/table">
            <a:tbl>
              <a:tblPr/>
              <a:tblGrid>
                <a:gridCol w="713232"/>
                <a:gridCol w="1938528"/>
                <a:gridCol w="1691640"/>
                <a:gridCol w="100584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传输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DetectionEvent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感知 → 任务 / 上传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Hz + 按需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ControlCommand / Ack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 → 网关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REQ/REP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事件驱动 + 5 Hz 心跳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StatusReport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 → 所有人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Hz + 安全插播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EvidencePackage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上传 → 云端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HTTP / MQTT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每次复核一包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744968" y="3529584"/>
            <a:ext cx="3877056" cy="2432304"/>
          </a:xfrm>
          <a:prstGeom prst="roundRect">
            <a:avLst>
              <a:gd name="adj" fmla="val 2632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973568" y="37307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为什么非要拆四个进程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973568" y="4133088"/>
            <a:ext cx="345643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安全网关必须是执行器的唯一入口，并且要在感知或任务进程异常退出后继续工作。放在同一进程内无法做到：一次段错误会同时终止两侧。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「终止感知与任务进程后，车辆仍按路线走完」这条演示验证的就是这个边界。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JSON Schema 全部 additionalProperties: false；改接口要走 validate.py 的 ALLOWED_DRIFT 白名单流程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逻辑主线：一次复核的完整数据流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十二步，跨四个边缘进程与云端。这条链路能完整走通，系统各层的接口就是对的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98448"/>
                <a:gridCol w="6675120"/>
                <a:gridCol w="2670048"/>
              </a:tblGrid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代码位置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Hz 巡航，L1 检出一块表，置信度落在 0.25 至 0.60 的可疑带内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node.py::process_frame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铸 event_id（仅在车辆运动且变焦处于广角端时铸），发 IF-1，is_suspect=true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node.py，new_uuid()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连续三帧同一 track_id 才确认，再查三条抑制规则与复核预算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fsm.py::_st_cruise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下发 PAUSE，网关执行五项校验后底盘停车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fsm.py::_st_halt_req → gateway/checks.py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针孔几何算 aim_offset 做前馈粗对准，再用 PID 闭合像素残差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fsm.py::_st_aim、servo.py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zoom_for_density(1.0, p_before, 120, 3.0) 算倍率并下发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scene/optics.py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IF-3 的状态组合识别出正在复核，运行四路模型并做融合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node.py::verify_due → fusion.py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融合结论写入 evidence/&lt;run&gt;/&lt;event&gt;/fusion.json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node.py::_dump_fusion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状态机过程写入 mission_ctx.json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node.py::_dump_ctx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 before 与 after，合并两个 sidecar，生成 manifest.json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node.py::_finish、packer.py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先传元数据再传文件，支持断点续传与指数退避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transport.py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入库、台账展示、人工裁决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cloud/db.py、server.py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773168"/>
            <a:ext cx="11057839" cy="859536"/>
          </a:xfrm>
          <a:prstGeom prst="roundRect">
            <a:avLst>
              <a:gd name="adj" fmla="val 744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7824" y="486460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步与第 9 步为什么走文件而不走总线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5157216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IF-1 的 Schema 是 additionalProperties: false，OCR 原文与状态机内部过程放不进去。而 ICD §6.1 本身就把证据目录的结构定义为契约，两个进程读写同一个 &lt;run_id&gt;/&lt;event_id&gt;/ 目录属于该契约内的用法，不需要新开第五条接口。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读代码建议顺这条线读一遍；每一步都有对应的测试用例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研究内容的组织：代码分层与模块职责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按职责分层。同一层内的模块可以互换实现，跨层调用不允许绕过既定接口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29844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cloud/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29844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858768" y="1298448"/>
            <a:ext cx="841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 行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882896" y="1325880"/>
            <a:ext cx="6547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接收证据包，SQLite 存台账。五个页签：台账、人工复核、复核增益、模型版本、实时遥测。实时那一路只在内存保留最近一段，不落库。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02996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02996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uploader/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202996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证据与上传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858768" y="2029968"/>
            <a:ext cx="841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918 行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882896" y="2057400"/>
            <a:ext cx="6547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 before 与 after，合并两个进程写出的 sidecar，生成 manifest。上传队列支持断点续传与指数退避。磁盘保留策略是全仓库唯一会删文件的地方，未确认上传的证据永不自动删除。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66928" y="276148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76148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mission/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276148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任务决策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858768" y="2761488"/>
            <a:ext cx="841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1 309 行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882896" y="2788920"/>
            <a:ext cx="6547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十状态机、云台 PID 与增益调度、三条抑制规则、复核预算与顺延队列。不持有驱动实例，也不加载模型，只发指令。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349300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34930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gateway/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349300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安全网关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858768" y="3493008"/>
            <a:ext cx="841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697 行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882896" y="3520440"/>
            <a:ext cx="6547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指令白名单、五项校验、参数范围硬编码、心跳看门狗、审计日志。持有全部四个驱动实例，是执行器的唯一入口。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422452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perception/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377440" y="422452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858768" y="4224528"/>
            <a:ext cx="841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3 665 行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882896" y="4251960"/>
            <a:ext cx="6547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四路模型加融合仲裁：L1 检测、L2 分割与几何读数、L2′ OCR 互证、L3 非监督异常、L4 显式仲裁。相机以 passive 方式建立，收不到控制指令。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495604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" y="495604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drivers/  scene/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2377440" y="495604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硬件抽象与虚拟场景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858768" y="4956048"/>
            <a:ext cx="841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3 408 行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4882896" y="4983480"/>
            <a:ext cx="6547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四个抽象基类隔离硬件，factory.py 是全仓库唯一的 driver_mode 分支点。scene 提供针孔光学、世界模型与表计绘制，只在 stub 模式加载。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5797296"/>
            <a:ext cx="11057839" cy="512064"/>
          </a:xfrm>
          <a:prstGeom prst="roundRect">
            <a:avLst>
              <a:gd name="adj" fmla="val 12500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41248" y="5797296"/>
            <a:ext cx="10515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common/ 869 行（双时间戳、报文构造与 Schema 校验、ZeroMQ 封装）、tools/ 2 534 行（校验、预览、标定、PID 整定、假小车、模型横向对比）、training/ 1 418 行（数据集接入与三类训练、ONNX 与 RKNN 导出）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分层原则：同层可换实现，跨层不绕过接口。感知进程取不到执行器，网关进程不加载模型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417320"/>
            <a:ext cx="1170432" cy="1170432"/>
          </a:xfrm>
          <a:prstGeom prst="ellipse">
            <a:avLst/>
          </a:prstGeom>
          <a:solidFill>
            <a:srgbClr val="171C24"/>
          </a:solidFill>
          <a:ln w="25400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1417320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139696" y="1481328"/>
            <a:ext cx="7315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方法和研究内容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2176272" y="2231136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本节回答：采用什么方法？从何开展？如何实施？资料从哪获取？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176272" y="320040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87168" y="301752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两项支撑性方法：虚拟试验台与接口冻结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176272" y="384048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87168" y="365760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资料来源：两份公开数据集、合成数据与系统自产证据包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176272" y="448056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87168" y="429768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九项研究内容：识别层四路模型、安全边界、云台伺服、端到端闭环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176272" y="512064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87168" y="493776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每一项都给出实施方式、实测数据与复现命令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176272" y="576072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87168" y="557784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两处标注为待补的实测项，将于明日补入并重新出图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研究方法（一）：虚拟试验台与故障注入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虚拟配电室按针孔投影渲染，因此精度与控制指标是实测值而非推导值</a:t>
            </a:r>
            <a:endParaRPr lang="en-US" sz="1300" dirty="0"/>
          </a:p>
        </p:txBody>
      </p:sp>
      <p:pic>
        <p:nvPicPr>
          <p:cNvPr id="6" name="Image 0" descr="/home/user/2026summer/deliverables/_deck/img/thirdperson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6903720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657600"/>
            <a:ext cx="6903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第三人称机位同时画出车身、云台朝向与当前视锥。变焦 1× 到 3× 时视场角由 60.0° 收窄到 21.8°，视锥落在被复核的表盘上。指令下发、云台转动、视场覆盖目标这一串过程因此可以直接观察，不必只看日志。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754112" y="1298448"/>
            <a:ext cx="3867912" cy="1188720"/>
          </a:xfrm>
          <a:prstGeom prst="roundRect">
            <a:avLst>
              <a:gd name="adj" fmla="val 538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73568" y="1417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桩不是空实现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973568" y="1700784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桩会注入真机上实际存在的故障：ACK 丢包 2 %、对焦失败 5 %、云台角速度上限、安全事件 0.05 次/分。如果驱动只是把目标值直接赋给状态量，任何到位判据都会通过，验证就没有意义。</a:t>
            </a:r>
            <a:endParaRPr lang="en-US" sz="980" dirty="0"/>
          </a:p>
        </p:txBody>
      </p:sp>
      <p:sp>
        <p:nvSpPr>
          <p:cNvPr id="11" name="Shape 8"/>
          <p:cNvSpPr/>
          <p:nvPr/>
        </p:nvSpPr>
        <p:spPr>
          <a:xfrm>
            <a:off x="7754112" y="2596896"/>
            <a:ext cx="3867912" cy="1188720"/>
          </a:xfrm>
          <a:prstGeom prst="roundRect">
            <a:avLst>
              <a:gd name="adj" fmla="val 538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73568" y="27157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7973568" y="2999232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world.py 中的 truth 只提供给渲染器和评分逻辑，感知侧读不到。否则精度指标等于用真值去核对真值。这条约束是评测结果可信的前提。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7754112" y="3895344"/>
            <a:ext cx="3867912" cy="1188720"/>
          </a:xfrm>
          <a:prstGeom prst="roundRect">
            <a:avLst>
              <a:gd name="adj" fmla="val 538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73568" y="401421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7973568" y="4297680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driver_mode: stub → real，configs/real.yaml 填端口。上位机代码一行不动。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566928" y="4517136"/>
            <a:ext cx="6903720" cy="1225296"/>
          </a:xfrm>
          <a:prstGeom prst="roundRect">
            <a:avLst>
              <a:gd name="adj" fmla="val 5224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64515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真车到之前，串口链路已经用「假小车」验通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974336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以独立进程运行，字节经过内核（POSIX 用 PTY，Windows 用 TCP 环回）。分帧、CRC 校验、超时、重传与 2 % ACK 丢包注入均按原样发生，可以验证协议栈与时序逻辑的正确性。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虚拟配电室 1 131 行 · 驱动抽象层 2 277 行（四个 ABC + 桩 + 真机串口/V4L2）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研究方法（二）：接口冻结与一致性校验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四个人并行开发的前提，是报文结构在开发过程中保持稳定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6903720" cy="914400"/>
        </p:xfrm>
        <a:graphic>
          <a:graphicData uri="http://schemas.openxmlformats.org/drawingml/2006/table">
            <a:tbl>
              <a:tblPr/>
              <a:tblGrid>
                <a:gridCol w="1664208"/>
                <a:gridCol w="1874520"/>
                <a:gridCol w="33649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Schema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承载接口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关键约束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detection_event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IF-1 感知到任务/上传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trigger_rule 枚举含 CONF_BAND / L2_UNREADABLE / L3_ANOMALY 三级判据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control_command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 任务到网关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command 枚举 6 条；每条指令的参数范围与网关硬编码常量逐条比对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command_ack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 网关回执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ACCEPTED 时不得携带 reject_code；拒绝时必须给出失败的校验项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status_report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IF-3 网关广播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含云台位姿、底盘状态、安全事件；20 Hz 周期发送并支持插播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evidence_package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IF-4 上传到云端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verdict.result 六个取值；gain 三项增益指标；files[].role 枚举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54112" y="1298448"/>
            <a:ext cx="3867912" cy="2743200"/>
          </a:xfrm>
          <a:prstGeom prst="roundRect">
            <a:avLst>
              <a:gd name="adj" fmla="val 2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73568" y="144475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改动成本表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973568" y="1828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新增可选字段、新增枚举值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973568" y="210312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次版本号 +1，通知即可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973568" y="2560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修改字段语义、类型、范围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973568" y="283464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主版本号 +1，全组重评审，三个桩同步改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973568" y="3291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增删指令白名单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973568" y="356616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需重新评审安全边界，默认不批准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4242816"/>
            <a:ext cx="11057839" cy="585216"/>
          </a:xfrm>
          <a:prstGeom prst="roundRect">
            <a:avLst>
              <a:gd name="adj" fmla="val 10938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242816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项一致性校验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364992" y="4242816"/>
            <a:ext cx="8046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与代码、网关硬编码常量与 Schema 范围逐条交叉比对，每次提交前执行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901184"/>
            <a:ext cx="11057839" cy="585216"/>
          </a:xfrm>
          <a:prstGeom prst="roundRect">
            <a:avLst>
              <a:gd name="adj" fmla="val 10938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4901184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条反例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364992" y="4901184"/>
            <a:ext cx="8046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构造越界报文与非法字段组合，必须全部被 Schema 拦截，防止校验形同虚设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5559552"/>
            <a:ext cx="11057839" cy="585216"/>
          </a:xfrm>
          <a:prstGeom prst="roundRect">
            <a:avLst>
              <a:gd name="adj" fmla="val 10938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5559552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ALLOWED_DRIFT 白名单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364992" y="5559552"/>
            <a:ext cx="8046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确需偏离冻结基线时，必须登记在白名单中并说明理由，不允许未经登记直接增删字段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全部 additionalProperties: false；ICD 冻结于 M1（D3）评审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资料来源：数据从何获取，如何处理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公开数据集为主，合成数据只补公开数据在结构上给不了的部分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170432"/>
                <a:gridCol w="1234440"/>
                <a:gridCol w="1783080"/>
                <a:gridCol w="4654296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许可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获取与处理方式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Roboflow distribution_room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2 773 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检测框标注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CC BY 4.0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检测训练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注册免费账号后导出 YOLOv8 格式；prepare_dataset --to-yolo 统一到本项目三类状态量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工业表计读数数据集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分割 374 训练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 验证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百度官方公开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分割训练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直链 wget，无需登录；--from-paddlex 转换，类别映射 pointer→needle、scale→ticks，background 映射为 255 忽略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合成数据集（自建）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按需生成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至 800 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增广 / L2 掩膜 / L3 正常集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gen_synthetic 按针孔投影渲染，RGB 与掩膜共用同一套比例常数，逐像素对齐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系统运行产出的证据包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每轮 4 至 6 个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正常样本 / 量化校准集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run_all 跑一轮即产出；L3 用 --from-evidence 直接读取，分布最接近运行时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700016"/>
            <a:ext cx="11057839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700016"/>
            <a:ext cx="3063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公开数据训纹理，合成数据补结构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968496" y="4754880"/>
            <a:ext cx="7452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合成数据在纹理多样性、光照、背景杂物上无法与真实照片相比，因此权重从公开数据集训练。合成数据补的是公开数据在结构上给不了的三样：像素密度分层、同一目标的 before/after 配对、表面文字的真值。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566928" y="5541264"/>
            <a:ext cx="11057839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541264"/>
            <a:ext cx="3063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真实标注用在合成数据最教不会的一环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968496" y="5596128"/>
            <a:ext cx="7452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指针与刻度的区分是合成掩膜最弱的一维，实测仅用合成掩膜训练时指针 IoU 只有 0.251。加入 PaddleX 真实标注后升到 0.384，同一模型同一评测口径，提高 53 %。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两份公开数据集的选取依据见 training/README.md；转换脚本与类别映射见 training/prepare_dataset.py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研究内容（一）：多模型协同的识别层设计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「这块表有没有问题」看起来是一个问题，实际是四个，且四者对算力、精度与输出形式的要求互相冲突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788920"/>
                <a:gridCol w="1920240"/>
                <a:gridCol w="5294376"/>
              </a:tblGrid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为什么不能合进一个模型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需要全图扫描且延迟低。巡航期 30 Hz 只能负担这一路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 L2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需要像素级精度，只能在放大后的小 ROI 上运行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输出是字符串不是数，损失函数与评价指标都不同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训练集里根本没有的异常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有监督模型对训练集之外的类别不会输出，属于系统性漏检而非误判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四路证据互相矛盾时如何取舍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必须能逐条给出判定依据，这是评审首先会问的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425696"/>
            <a:ext cx="11057839" cy="1609344"/>
          </a:xfrm>
          <a:prstGeom prst="roundRect">
            <a:avLst>
              <a:gd name="adj" fmla="val 397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" y="4608576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用单一模型承担全部任务，代价不是精度略有下降，而是每一路都会被其余几路的约束限制到无法运行或无法收敛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4992624"/>
            <a:ext cx="10424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要保持 30 Hz 就无法做像素级分割；要做像素级分割就无法全图扫描；要识别字符就要换一套输出头；要识别训练集之外的异常就不能用有监督的损失函数。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这个划分不是我们新加的：ICD 的 trigger_rule 枚举中已经写明 L1、L2、L3 三级判据，verdict.result 的六个取值也对应仲裁层的六种结论。我们只是把协议里已经预留的位置填上，没有修改任何 Schema。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详见 docs/多模型协同.md（五种协作关系：级联 / 接力 / 互证 / 兜底 / 仲裁）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研究内容（二）：L4 显式仲裁的判定规则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全部为显式规则，每条结论附带 reasons 字段，判定依据可以逐级追溯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517904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07008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00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298448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2856" y="1517904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83480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983480" y="1700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19872" y="1298448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39328" y="1517904"/>
            <a:ext cx="310896" cy="310896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59952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759952" y="1700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2267712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2487168"/>
            <a:ext cx="310896" cy="310896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207008" y="23591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70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43400" y="2267712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2856" y="2487168"/>
            <a:ext cx="310896" cy="310896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83480" y="23591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983480" y="2670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19872" y="2267712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39328" y="2487168"/>
            <a:ext cx="310896" cy="310896"/>
          </a:xfrm>
          <a:prstGeom prst="ellipse">
            <a:avLst/>
          </a:prstGeom>
          <a:solidFill>
            <a:srgbClr val="6B7A8A"/>
          </a:solidFill>
          <a:ln w="12700">
            <a:solidFill>
              <a:srgbClr val="6B7A8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59952" y="23591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59952" y="2670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3328416"/>
            <a:ext cx="11057839" cy="932688"/>
          </a:xfrm>
          <a:prstGeom prst="roundRect">
            <a:avLst>
              <a:gd name="adj" fmla="val 68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3602736"/>
            <a:ext cx="365760" cy="365760"/>
          </a:xfrm>
          <a:prstGeom prst="ellipse">
            <a:avLst/>
          </a:prstGeom>
          <a:solidFill>
            <a:srgbClr val="FBEAC9"/>
          </a:solidFill>
          <a:ln w="15875">
            <a:solidFill>
              <a:srgbClr val="E8940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335024" y="34564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举证责任的方向决定系统好不好用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1335024" y="37490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「证据不足」默认判为正常还是可疑，属于运维策略问题，不是算法问题。全部判为可疑会产生大量无效工单，全部判为正常会漏掉真实缺陷，因此按触发条件分情况显式规定。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4352544"/>
            <a:ext cx="11057839" cy="932688"/>
          </a:xfrm>
          <a:prstGeom prst="roundRect">
            <a:avLst>
              <a:gd name="adj" fmla="val 68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626864"/>
            <a:ext cx="365760" cy="365760"/>
          </a:xfrm>
          <a:prstGeom prst="ellipse">
            <a:avLst/>
          </a:prstGeom>
          <a:solidFill>
            <a:srgbClr val="FBEAC9"/>
          </a:solidFill>
          <a:ln w="15875">
            <a:solidFill>
              <a:srgbClr val="E8940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626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335024" y="448056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「证据不足」和「冲突」是两件事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1335024" y="477316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四路都没有输出，与四路都有输出但结论矛盾，是两种情况。前者应补充观测，后者应转人工复核。合并为一类，运维就无法判断下一步该做什么。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5376672"/>
            <a:ext cx="11057839" cy="932688"/>
          </a:xfrm>
          <a:prstGeom prst="roundRect">
            <a:avLst>
              <a:gd name="adj" fmla="val 68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5650992"/>
            <a:ext cx="365760" cy="365760"/>
          </a:xfrm>
          <a:prstGeom prst="ellipse">
            <a:avLst/>
          </a:prstGeom>
          <a:solidFill>
            <a:srgbClr val="FBEAC9"/>
          </a:solidFill>
          <a:ln w="15875">
            <a:solidFill>
              <a:srgbClr val="E8940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5650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335024" y="550468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密度不达标就不下读数类结论</a:t>
            </a:r>
            <a:endParaRPr lang="en-US" sz="1450" dirty="0"/>
          </a:p>
        </p:txBody>
      </p:sp>
      <p:sp>
        <p:nvSpPr>
          <p:cNvPr id="44" name="Text 42"/>
          <p:cNvSpPr txBox="1"/>
          <p:nvPr/>
        </p:nvSpPr>
        <p:spPr>
          <a:xfrm>
            <a:off x="1335024" y="579729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fusion.py 的门槛是 120 × 0.8 = 96 px。观测条件不满足时输出 INCONCLUSIVE，而不给出一个数值精确但实际不可信的读数。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实现：patrol/perception/fusion.py（278 行，纯规则无学习成分）· 六种结论各有测试用例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研究内容（三）：L1 目标检测的训练与结果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训练集 distribution_room（公开数据集，2 773 张，CC BY 4.0），骨干 yolo11s，训练 120 轮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620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084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150" dirty="0"/>
          </a:p>
        </p:txBody>
      </p:sp>
      <p:pic>
        <p:nvPicPr>
          <p:cNvPr id="18" name="Image 0" descr="/home/user/2026summer/deliverables/_deck/img/l1_p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743200"/>
            <a:ext cx="3520440" cy="2999232"/>
          </a:xfrm>
          <a:prstGeom prst="rect">
            <a:avLst/>
          </a:prstGeom>
        </p:spPr>
      </p:pic>
      <p:pic>
        <p:nvPicPr>
          <p:cNvPr id="19" name="Image 1" descr="/home/user/2026summer/deliverables/_deck/img/l1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392" y="2743200"/>
            <a:ext cx="4206240" cy="299923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668512" y="2743200"/>
            <a:ext cx="2953512" cy="2999232"/>
          </a:xfrm>
          <a:prstGeom prst="roundRect">
            <a:avLst>
              <a:gd name="adj" fmla="val 216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869680" y="290779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训练配置</a:t>
            </a:r>
            <a:endParaRPr lang="en-US" sz="1450" dirty="0"/>
          </a:p>
        </p:txBody>
      </p:sp>
      <p:sp>
        <p:nvSpPr>
          <p:cNvPr id="22" name="Text 18"/>
          <p:cNvSpPr txBox="1"/>
          <p:nvPr/>
        </p:nvSpPr>
        <p:spPr>
          <a:xfrm>
            <a:off x="8869680" y="3255264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骨干  yolo11s（预训练起训）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轮次  120 epochs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 640 × 640，batch 4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  沿用 Roboflow 原始 train/valid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映射  原始类别 → 本项目三类状态量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8814816" y="4828032"/>
            <a:ext cx="2670048" cy="859536"/>
          </a:xfrm>
          <a:prstGeom prst="roundRect">
            <a:avLst>
              <a:gd name="adj" fmla="val 7447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61120" y="4901184"/>
            <a:ext cx="2395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mAP50 已达 0.9759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需先排除训练集与验证集之间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存在同源增广副本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产物：deliverables/甲-检测/（stage_meta / args / results.csv / 7 张曲线图）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研究内容（三·续）：识别对象的确定与分类表现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归一化混淆矩阵与 PR 曲线。识别对象是任务书定的三类状态量，不是外观缺陷</a:t>
            </a:r>
            <a:endParaRPr lang="en-US" sz="1300" dirty="0"/>
          </a:p>
        </p:txBody>
      </p:sp>
      <p:pic>
        <p:nvPicPr>
          <p:cNvPr id="6" name="Image 0" descr="/home/user/2026summer/deliverables/_deck/img/l1_c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5468112" cy="4096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72784" y="1298448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92240" y="14630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识别对象为什么是这三类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1810512"/>
            <a:ext cx="48828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方案书 §6.2.1 的调研结论是：室内配电室的设备外观缺陷（渗漏油、呼吸器变色、积水）几乎没有公开可用的标注数据，而设备状态量（表计读数、指示灯、开关位置）有配套数据集。识别对象因此定为三类状态量。这也是差异清单 A2 把 ICD 原定的 OIL_LEAK 换成 SWITCH_HANDLE 的理由。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外观缺陷这一路没有放弃，改由 L3 非监督异常承接：它只需要正常样本，正好绕开标注数据不可得的约束。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2784" y="3401568"/>
            <a:ext cx="5349240" cy="1298448"/>
          </a:xfrm>
          <a:prstGeom prst="roundRect">
            <a:avLst>
              <a:gd name="adj" fmla="val 4930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92240" y="35478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两级模型的分工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3895344"/>
            <a:ext cx="4882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巡航级追求召回：置信度阈值压到 0.25，宁可多报也不漏检，误报交给复核环节消解。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复核级追求准确：阈值提到 0.60，在放大后的画面上重新判定，并输出 Δconf 作为复核增益的度量。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72784" y="4882896"/>
            <a:ext cx="5349240" cy="731520"/>
          </a:xfrm>
          <a:prstGeom prst="roundRect">
            <a:avLst>
              <a:gd name="adj" fmla="val 8750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4882896"/>
            <a:ext cx="4882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复核级模型明天上午补入，届时本页补充两级对比与 Δconf 的实测分布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识别对象：压力表读数 / 指示灯颜色 / 开关分合位。外观缺陷由 L3 非监督异常承接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研究内容（三·续）：待补充的实测项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复核级模型与链路切换对比，明天上午补入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5486400" cy="3584448"/>
          </a:xfrm>
          <a:prstGeom prst="roundRect">
            <a:avLst>
              <a:gd name="adj" fmla="val 1531"/>
            </a:avLst>
          </a:prstGeom>
          <a:solidFill>
            <a:srgbClr val="FDF6E8"/>
          </a:solidFill>
          <a:ln w="22225">
            <a:solidFill>
              <a:srgbClr val="E8940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841248" y="1536192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1517904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训练与指标（明早补）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35024" y="1993392"/>
            <a:ext cx="438912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 yolo11m 训练与 mAP50（验收：优于巡航级）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单帧推理耗时（限值 ≤ 33 ms，巡航期 30 Hz 的硬指标）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漏检率（限值 ≤ 2 %）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增广对比表：只用公开集 vs 公开集 + 合成集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--check-leak 排查结果（train/val 增广副本）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335024" y="442569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明天上午由甲提供，替换本页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72784" y="1298448"/>
            <a:ext cx="5349240" cy="3584448"/>
          </a:xfrm>
          <a:prstGeom prst="roundRect">
            <a:avLst>
              <a:gd name="adj" fmla="val 1531"/>
            </a:avLst>
          </a:prstGeom>
          <a:solidFill>
            <a:srgbClr val="FDF6E8"/>
          </a:solidFill>
          <a:ln w="22225">
            <a:solidFill>
              <a:srgbClr val="E8940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547104" y="1536192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151790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链路切换验证（明早补）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1993392"/>
            <a:ext cx="425196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→ perception.detector: yolo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run_all 各跑三轮，对比证据包数 / 密度比 / Δconf / 成功率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验收标准：不退化于合成检测器即为成功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注意：切到 yolo 后距离由 bbox 反算而非真值透传，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指标变化要区分是检测精度下降，还是距离由真值改为估计值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442569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明天上午由甲提供，替换本页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84064"/>
            <a:ext cx="11057839" cy="969264"/>
          </a:xfrm>
          <a:prstGeom prst="roundRect">
            <a:avLst>
              <a:gd name="adj" fmla="val 6604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5084064"/>
            <a:ext cx="10424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切换对比比 mAP 更重要，因为它验证的是「先写代码、后训模型」这条路径是否成立：上层代码不做任何修改，只改一项配置就能把训练好的权重接入全链路。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本页为占位，明天上午补齐后重新生成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研究内容（四）：L2 语义分割的三级对比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指针类别的分割 IoU。公开数据集中只有 PaddleX 这一份提供了像素级指针标注</a:t>
            </a:r>
            <a:endParaRPr lang="en-US" sz="1300" dirty="0"/>
          </a:p>
        </p:txBody>
      </p:sp>
      <p:pic>
        <p:nvPicPr>
          <p:cNvPr id="6" name="Image 0" descr="/home/user/2026summer/deliverables/_deck/img/l2_i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5577840" cy="34564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364224" y="1298448"/>
            <a:ext cx="5257800" cy="1088136"/>
          </a:xfrm>
          <a:prstGeom prst="roundRect">
            <a:avLst>
              <a:gd name="adj" fmla="val 58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65392" y="1298448"/>
            <a:ext cx="12252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0.251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7845552" y="14264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纯合成掩膜训练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845552" y="1755648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链路先跑通的基线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64224" y="2496312"/>
            <a:ext cx="5257800" cy="1088136"/>
          </a:xfrm>
          <a:prstGeom prst="roundRect">
            <a:avLst>
              <a:gd name="adj" fmla="val 58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65392" y="2496312"/>
            <a:ext cx="12252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0.384</a:t>
            </a:r>
            <a:endParaRPr lang="en-US" sz="2500" dirty="0"/>
          </a:p>
        </p:txBody>
      </p:sp>
      <p:sp>
        <p:nvSpPr>
          <p:cNvPr id="13" name="Text 10"/>
          <p:cNvSpPr txBox="1"/>
          <p:nvPr/>
        </p:nvSpPr>
        <p:spPr>
          <a:xfrm>
            <a:off x="7845552" y="26243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 + PaddleX 真实标注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845552" y="2953512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同一模型，仅加真实数据 → +0.133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364224" y="3694176"/>
            <a:ext cx="5257800" cy="1088136"/>
          </a:xfrm>
          <a:prstGeom prst="roundRect">
            <a:avLst>
              <a:gd name="adj" fmla="val 58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65392" y="3694176"/>
            <a:ext cx="12252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0.778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3822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U-Net（合成 + PaddleX）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845552" y="415137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同一评测口径下再翻一倍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937760"/>
            <a:ext cx="11057839" cy="1115568"/>
          </a:xfrm>
          <a:prstGeom prst="roundRect">
            <a:avLst>
              <a:gd name="adj" fmla="val 5738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77824" y="50474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本路线的主要结论：限制分割精度的是训练数据，不是模型容量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77824" y="5358384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模型与评测口径都不变，仅把 PaddleX 的真实像素标注加入训练集，指针 IoU 就从 0.251 升到 0.384，提高 53 %。这说明真实标注是当前的瓶颈，也验证了指针与刻度的区分正是合成掩膜最难提供监督信号的一环。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顺带修了两个只有真跑过才会暴露的 bug：PaddleX 直链 404（且原指向检测集）、标注目录结构不匹配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L2：真实数据是否接入正确，只能通过人工检查叠加图确认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掩膜错位不会反映在指标上。IoU 仍然正常，但模型学到的是错误的类别对应关系</a:t>
            </a:r>
            <a:endParaRPr lang="en-US" sz="1300" dirty="0"/>
          </a:p>
        </p:txBody>
      </p:sp>
      <p:pic>
        <p:nvPicPr>
          <p:cNvPr id="6" name="Image 0" descr="/home/user/2026summer/deliverables/_deck/img/l2_m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298448"/>
            <a:ext cx="10058400" cy="32186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64515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" y="47731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两边类别对不齐，这是接的时候唯一要动脑子的地方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5084064"/>
            <a:ext cx="49560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  background · face · needle · ticks（四类）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PaddleX  background · pointer · scale（三类，没有盘面）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PaddleX 的 background 中大部分实际是盘面，两者无法区分，因此映射为 255 并排除出损失函数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81344" y="4645152"/>
            <a:ext cx="5440680" cy="1389888"/>
          </a:xfrm>
          <a:prstGeom prst="roundRect">
            <a:avLst>
              <a:gd name="adj" fmla="val 4605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47731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分工因此变得清楚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5084064"/>
            <a:ext cx="49743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指针与刻度的区分：由真实标注提供监督（合成掩膜在这一维上最弱）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盘面与背景的区分：由合成掩膜提供监督（合成数据在这一维上标注明确）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验收标准原文：人眼查看 check/ 目录下的叠加图，确认掩膜没有错位。类别映射错一位，后续所有 IoU 都是错的，且不会报错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研究内容（四·续）：几何法与学习法的比选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核心图正在重画，现有版本的采样量不足以支撑结论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5394960" cy="1700784"/>
          </a:xfrm>
          <a:prstGeom prst="roundRect">
            <a:avLst>
              <a:gd name="adj" fmla="val 37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42646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已确定的部分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175564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级联单次耗时约 59 ms，占 VERIFY 预算 2 500 ms 的 2.4 %，在预算内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分割替换的只是「哪些像素是针」，亚度级精度仍由几何解算给出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两者读数误差同量级（0.06 至 0.19 % FS），均优于 0.5 % FS 的限值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81344" y="1298448"/>
            <a:ext cx="5440680" cy="1700784"/>
          </a:xfrm>
          <a:prstGeom prst="roundRect">
            <a:avLst>
              <a:gd name="adj" fmla="val 3226"/>
            </a:avLst>
          </a:prstGeom>
          <a:solidFill>
            <a:srgbClr val="FDF6E8"/>
          </a:solidFill>
          <a:ln w="22225">
            <a:solidFill>
              <a:srgbClr val="E8940C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455664" y="1536192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55664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1517904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核心图重画（明早补）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1993392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采样量 n=24 → 200 以上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纵轴改用 P90，中位数在这里会掩盖尾部误差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542032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明天上午替换 reading_error.png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218688"/>
            <a:ext cx="11057839" cy="2834640"/>
          </a:xfrm>
          <a:prstGeom prst="roundRect">
            <a:avLst>
              <a:gd name="adj" fmla="val 2258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338328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这张图要重画的原因，也是本次自查的主要发现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822192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2219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采样噪声大于待比差异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同一方法、同一档像素密度，仅更换随机种子重跑 40 次，中位数在 0.053 至 0.228 % FS 之间波动。这个区间覆盖了几何法（0.06 至 0.14）与 U-Net（0.07 至 0.19）的全部差异，因此在 n=24 下两者无法区分。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553712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55371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中位数是错的统计量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采样量提高到 200 后中位数基本不变，变化的是尾部：P90 随像素密度单调下降，由 0.415 降到 0.178 % FS。像素密度改善的是大误差的发生概率，不是典型误差，因此改用 P90 反而更支持本项目的论点。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5285232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28523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合成表盘对几何法天然有利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表盘的指针是近黑色线段绘制在近白盘面上，几何法「指针是盘面上最暗的贯穿条」这一假设按构造成立，且处于最大对比度。分割方法要解决的失效模式在这个测试集上没有出现，因此结论只能限定为「在合成表盘上无法区分」，不能外推到真实表计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结论措辞取「在合成表盘上三者不可区分」，而非「几何法更优」。最终比选需要真实表盘的误差表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研究内容（五）：L3 未知异常的四方案比选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非监督方法，训练只使用正常样本，避开缺陷标注数据不可得的约束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2450592"/>
                <a:gridCol w="2011680"/>
                <a:gridCol w="2148840"/>
                <a:gridCol w="1783080"/>
                <a:gridCol w="2660904"/>
              </a:tblGrid>
              <a:tr h="4069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 120 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单次打分（CPU）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说得清哪个通道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480560"/>
            <a:ext cx="5394960" cy="1481328"/>
          </a:xfrm>
          <a:prstGeom prst="roundRect">
            <a:avLst>
              <a:gd name="adj" fmla="val 4321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" y="46085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评测条件（同一批样本，阈值统一 0.55）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937760"/>
            <a:ext cx="49560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训练集  796 张正常裁片（密度分层 259 + 复核几何/检测框抖动增广 537）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评测集  另种子正常裁片 106 张 + 异常裁片 120 张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（场景 FOREIGN_OBJECT 60 + 训练与场景都没见过的合成贴片 60）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81344" y="4480560"/>
            <a:ext cx="5440680" cy="1481328"/>
          </a:xfrm>
          <a:prstGeom prst="roundRect">
            <a:avLst>
              <a:gd name="adj" fmla="val 4321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46085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漏报率 90.8 % → 3.3 %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5010912"/>
            <a:ext cx="49743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代价是权重从 1.6 KB 涨到 44 MB、打分从 6 ms 到 26 ms，且失去可解释性。部署目标是 RK3576 的 NPU，26 ms 在复核态预算内，因此这个取舍成立。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简化蒸馏实测出现分数倒挂，异常样本得分反而更低，未采用。原因与数据一并记录在案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研究内容（五·续）：误报与漏报的成因分析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同一批样本、同一阈值 0.55 下的直接比较</a:t>
            </a:r>
            <a:endParaRPr lang="en-US" sz="1300" dirty="0"/>
          </a:p>
        </p:txBody>
      </p:sp>
      <p:pic>
        <p:nvPicPr>
          <p:cNvPr id="6" name="Image 0" descr="/home/user/2026summer/deliverables/_deck/img/l3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5760720" cy="4096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65392" y="1298448"/>
            <a:ext cx="5056632" cy="1371600"/>
          </a:xfrm>
          <a:prstGeom prst="roundRect">
            <a:avLst>
              <a:gd name="adj" fmla="val 466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84848" y="140817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统计法为什么漏报高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784848" y="1719072"/>
            <a:ext cx="46360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它用马氏距离衡量偏离，只对整体分布的偏移敏感。异物遮挡只改变局部区域，在全局统计量上的体现很弱，因此 120 张异常样本里有 109 张没有越过阈值。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65392" y="2779776"/>
            <a:ext cx="5056632" cy="1371600"/>
          </a:xfrm>
          <a:prstGeom prst="roundRect">
            <a:avLst>
              <a:gd name="adj" fmla="val 466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84848" y="2889504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为什么倒挂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784848" y="3200400"/>
            <a:ext cx="46360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简化蒸馏在正常样本上过拟合后，学生网络对异常区域的重建误差反而更小，导致异常样本得分低于正常样本。这不是调整超参数能解决的，属于方法与数据规模不匹配。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565392" y="4261104"/>
            <a:ext cx="5056632" cy="1371600"/>
          </a:xfrm>
          <a:prstGeom prst="roundRect">
            <a:avLst>
              <a:gd name="adj" fmla="val 466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84848" y="4370832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全协方差为什么有效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784848" y="4681728"/>
            <a:ext cx="46360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对角版本假设特征通道之间互相独立，忽略了通道间的相关性。异物带来的正是通道间相关结构的改变，所以保留完整协方差矩阵后漏报从 48.3 % 降到 3.3 %，代价是权重从 3.1 MB 增加到约 44 MB。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三种方法的失败原因各不相同，因此比选结论不是「学习法更好」，而是「哪一种假设与本场景的数据匹配」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研究内容（五·续）：分数分布与 ROC 曲线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正常与异常两组分数是否分离，可以直接从分布图判断</a:t>
            </a:r>
            <a:endParaRPr lang="en-US" sz="1300" dirty="0"/>
          </a:p>
        </p:txBody>
      </p:sp>
      <p:pic>
        <p:nvPicPr>
          <p:cNvPr id="6" name="Image 0" descr="/home/user/2026summer/deliverables/_deck/img/l3_score_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5440680" cy="3493008"/>
          </a:xfrm>
          <a:prstGeom prst="rect">
            <a:avLst/>
          </a:prstGeom>
        </p:spPr>
      </p:pic>
      <p:pic>
        <p:nvPicPr>
          <p:cNvPr id="7" name="Image 1" descr="/home/user/2026summer/deliverables/_deck/img/l3_ro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4" y="1298448"/>
            <a:ext cx="5440680" cy="34930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4901184"/>
            <a:ext cx="5440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四种方法的正常 / 异常分数分布（竖线 = 阈值 0.55）。全协方差 PaDiM 两簇几乎完全分开；对角版在增广后区分度下降；统计法只抬不越线；EfficientAD 倒挂。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181344" y="4901184"/>
            <a:ext cx="5440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阈值由 0 扫描到 1。全协方差 PaDiM 的曲线靠近左上角，整条曲线均可用，说明该结果不依赖于某一个特定阈值。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产物：deliverables/丙-异常/（l3_report.json / baseline.json / onnx_smoke.json / rknn_export.md）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研究内容（五·续）：两项决定结果的实测发现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这两条解释了第一版为什么失败，比最终指标更有参考价值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7839" cy="1956816"/>
          </a:xfrm>
          <a:prstGeom prst="roundRect">
            <a:avLst>
              <a:gd name="adj" fmla="val 327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36192"/>
            <a:ext cx="420624" cy="42062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5361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08176" y="14996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训练裁片必须模拟运行时的检测框噪声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193852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系统送入 L3 的是检测框，而检测框存在抖动，会把表盘边缘裁掉。实测裁掉 12 % 的正常表盘，异常分由 0.5 升到 1.0，全部误报。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408176" y="232257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处置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增广集加入抖动框后，系统实测的复核 ROI（600 s 跑出来的 6 张）从「全部 1.0 误报」回到正常分 0.00–0.09。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408176" y="2761488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离线数据集的分布必须与运行时管道实际送入的数据分布一致，否则离线指标再好，接入系统后也会失效。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29584"/>
            <a:ext cx="11057839" cy="1956816"/>
          </a:xfrm>
          <a:prstGeom prst="roundRect">
            <a:avLst>
              <a:gd name="adj" fmla="val 327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767328"/>
            <a:ext cx="420624" cy="42062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08176" y="3730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与 L2 的分工在数据上看得见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08176" y="416966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开位的开关被 L2 判为 READING_ABNORMAL（状态异常），而 L3 对它的外观给正常分。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45537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处置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外观异常（FOREIGN_OBJECT 异物）由 L3 负责。两层分工明确，没有互相覆盖。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4992624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这条印证了「四类模型分开做」的设计：它们回答的不是同一个问题，所以不该用同一个指标去衡量。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两条都已写入交付文档。第一版为什么失败，比最终版指标多高更能说明流程是真正跑通的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研究内容（六）：三层安全边界的设计与验证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按方案书的要求，安全设计需要以可现场复现的方式验证，而不是仅在文档中声明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98448"/>
            <a:ext cx="82296" cy="12801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14081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 · 指令白名单与参数硬限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1737360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PASS、FAIL 或 SKIP。参数范围硬编码在源码中，不放在配置文件里：配置可以被修改，安全边界不应该。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71616" y="1426464"/>
            <a:ext cx="5532120" cy="384048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426464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6071616" y="1901952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越界指令被拒，并留下逐项校验的审计记录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706624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706624"/>
            <a:ext cx="82296" cy="1280160"/>
          </a:xfrm>
          <a:prstGeom prst="rect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9536" y="2816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 · 心跳看门狗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314553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感知与任务进程异常退出后，网关在 1.5 s 内接管，下发 RESUME 使车辆按原路线走完。这是四进程划分要保证的能力。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71616" y="2834640"/>
            <a:ext cx="5532120" cy="384048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9632" y="283464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&amp;  然后  pkill -f patrol.mission.node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071616" y="3310128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终止感知与任务进程后，车辆仍按路线走完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114800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4114800"/>
            <a:ext cx="82296" cy="1280160"/>
          </a:xfrm>
          <a:prstGeom prst="rect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9536" y="42245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 · 安全事件抢占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9536" y="455371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71616" y="4242816"/>
            <a:ext cx="5532120" cy="384048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99632" y="424281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071616" y="4718304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注入安全事件，正在进行的复核 200 ms 内中止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596128"/>
            <a:ext cx="11057839" cy="566928"/>
          </a:xfrm>
          <a:prstGeom prst="roundRect">
            <a:avLst>
              <a:gd name="adj" fmla="val 11290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" y="55961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所有指向底盘与云台的动作只经过 gateway 一个出口。这是第一层安全边界在代码结构上的保证，不依赖各模块自觉遵守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 697 行：node.py 收发与审计 / checks.py 五项校验 / limits.py 参数硬限 / watchdog.py 看门狗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研究内容（七）：云台伺服与变焦增益调度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方案书 §11.1 列出的交付物：云台阶跃响应曲线，本页为本次实测结果</a:t>
            </a:r>
            <a:endParaRPr lang="en-US" sz="1300" dirty="0"/>
          </a:p>
        </p:txBody>
      </p:sp>
      <p:pic>
        <p:nvPicPr>
          <p:cNvPr id="6" name="Image 0" descr="/home/user/2026summer/deliverables/_deck/img/pid_st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6675120" cy="4078224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43216" y="1298448"/>
          <a:ext cx="4178808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841248"/>
                <a:gridCol w="987552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0.901 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1.202 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1.102 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443216" y="2999232"/>
            <a:ext cx="4178808" cy="1481328"/>
          </a:xfrm>
          <a:prstGeom prst="roundRect">
            <a:avLst>
              <a:gd name="adj" fmla="val 4321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662672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662672" y="3456432"/>
            <a:ext cx="3749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 1° 的云台转角，在 3× 变焦下对应的画面位移是 1× 的三倍。若控制量不按变焦倍率缩放，等效于把回路增益放大三倍，必然产生过冲。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= θ / (W · z) · u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443216" y="4608576"/>
            <a:ext cx="4178808" cy="1005840"/>
          </a:xfrm>
          <a:prstGeom prst="roundRect">
            <a:avLst>
              <a:gd name="adj" fmla="val 6364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7183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超调 1.0 % → 37.7 %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62672" y="5047488"/>
            <a:ext cx="3767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关闭增益调度后过冲接近 40 %，对应图中绿色曲线。这组对比是本课题控制部分的主要实测依据。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patrol.tools.tune_pid --out out/pid --compare-gain-schedule（本页数据为本次实测，README 旧值已更新）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研究内容（八）：端到端闭环的实测验证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四个边缘进程与云端台账构成全链路，单轮 300 秒，结束后输出统计小结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3931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620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复核前后像素密度比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084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0859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0859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Δconf（目标 &gt; +0.25）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2816352"/>
            <a:ext cx="6675120" cy="2340864"/>
          </a:xfrm>
          <a:prstGeom prst="roundRect">
            <a:avLst>
              <a:gd name="adj" fmla="val 2734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296265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一轮巡检小结（实测输出）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3310128"/>
            <a:ext cx="612648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证据包 6 个，复核成功率 83.3 %（目标 &gt; 85 %）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结论                条数    平均Δconf   平均密度比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READING_ABNORMAL       2      0.4441      2.2922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READING_OK             4      0.5644      1.5699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真缺陷组 Δconf 均值 = 0.4441（目标 &gt; +0.25）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443216" y="2816352"/>
            <a:ext cx="4178808" cy="2340864"/>
          </a:xfrm>
          <a:prstGeom prst="roundRect">
            <a:avLst>
              <a:gd name="adj" fmla="val 2734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62672" y="296265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如实报告：成功率未达目标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662672" y="3310128"/>
            <a:ext cx="376732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两轮实测为 83.3 % 与 75.0 %，均低于 85 % 的目标；文档记录的正常波动区间是 50 %–100 %。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主要原因是证据包偶发配对失败：before 记录为空，导致密度比为 0，该包不计入成功。这是已定位但尚未修复的缺陷，已列入待办，没有通过调整判定条件规避。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 30 Hz 巡航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2244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007108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IF-1 可疑事件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37560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92424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任务状态机决策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22876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777740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IF-2 网关校验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08192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63056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执行器动作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493508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548372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四路模型复核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878824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33688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4140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19004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云端台账入库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patrol.tools.run_all --seconds 300　然后浏览器开 127.0.0.1:8000 看台账与实时页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研究内容（九）：复核效果的度量方法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每次复核产出一个证据包，包含 before 与 after 两帧及其完整推理过程</a:t>
            </a:r>
            <a:endParaRPr lang="en-US" sz="13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2212848"/>
                <a:gridCol w="1389888"/>
                <a:gridCol w="1097280"/>
                <a:gridCol w="5056632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像素密度比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p_after / p_before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1.5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至 2.3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复核使目标成像放大的倍数。等于 0 表示 before 记录缺失，该包不计入成功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Δconf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after.confidence − before.confidence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+0.25（真缺陷组）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+0.44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必须按 verdict 分组统计。误报组为负值是正常的，混在一起算均值会接近零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复核成功率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verify_success 为真的包占比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85 %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 至 83 %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未达标。主因是证据包偶发配对失败，已定位未修复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547872"/>
            <a:ext cx="5394960" cy="2304288"/>
          </a:xfrm>
          <a:prstGeom prst="roundRect">
            <a:avLst>
              <a:gd name="adj" fmla="val 2778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36758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证据包目录结构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4005072"/>
            <a:ext cx="4864608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evidence/&lt;run_id&gt;/&lt;event_id&gt;/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manifest.json      结论、增益、时间线、文件清单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fusion.json        四路模型各自的输出与仲裁理由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mission_ctx.json   状态机过程与每个状态的耗时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cruise_frame.jpg   巡航态原图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verify_frame.jpg   复核态原图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verify_roi.jpg     放大后的读数区域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anomaly_heatmap.png  L3 异常热力图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6181344" y="3547872"/>
            <a:ext cx="544068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36210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统计口径由代码强制，不依赖人工遵守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3858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cloud/db.py 的 gain_stats() 强制按 verdict 分组，并单独给出真缺陷组的均值。run_all 的小结与台账网页上都印着这条提醒。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181344" y="4343400"/>
            <a:ext cx="544068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44165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未确认上传的证据永不自动删除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46542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磁盘保留策略是全仓库唯一会删文件的地方。超出配额时如实上报并交人处理，不静默丢弃。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181344" y="5138928"/>
            <a:ext cx="544068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0" y="5212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上传不阻塞主循环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544982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上传队列独立于感知与任务的主循环，断网时证据保留在本地，网络恢复后按指数退避补传。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证据包是本系统对外的唯一权威记录；告警快通路允许丢失，证据包保证不丢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417320"/>
            <a:ext cx="1170432" cy="1170432"/>
          </a:xfrm>
          <a:prstGeom prst="ellipse">
            <a:avLst/>
          </a:prstGeom>
          <a:solidFill>
            <a:srgbClr val="171C24"/>
          </a:solidFill>
          <a:ln w="25400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1417320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139696" y="1481328"/>
            <a:ext cx="7315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总结与创新点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2176272" y="2231136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本节回答：做了多少工作？完成到什么程度？有哪些创新？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176272" y="320040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87168" y="301752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研究工作量统计与质量保障措施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176272" y="384048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87168" y="365760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研究进度：已完成九项、进行中两项、未开始两项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176272" y="448056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87168" y="429768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三条识别路线的阶段性结论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176272" y="512064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87168" y="493776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四条主要创新点及其实测支撑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176272" y="576072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87168" y="557784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研究过程中形成的一条方法论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研究工作量统计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四周内完成一套可运行、可测量、可现场演示的系统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21 100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 Python 代码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620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4 700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行技术文档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084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次版本提交</a:t>
            </a:r>
            <a:endParaRPr lang="en-US" sz="11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15184"/>
          <a:ext cx="690372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822960"/>
                <a:gridCol w="4114800"/>
              </a:tblGrid>
              <a:tr h="2212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patrol/perception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3 665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四路模型 + 融合仲裁 + 成像质量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5 900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501 项用例，覆盖率 75 %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patrol/tools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2 534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校验 / 预览 / 标定 / 整定 / 假小车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patrol/drivers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2 277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四个抽象基类 + 桩 + 真机串口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training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1 418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数据集接入 / 三类训练 / ONNX·RKNN 导出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patrol/mission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1 309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十状态机 / PID 伺服 / 抑制 / 预算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patrol/scene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1 131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针孔光学 / 世界模型 / 表计绘制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patrol/common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869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双时间戳 / 报文构造 / ZeroMQ 封装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patrol/uploader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证据打包 / 断点续传 / 保留策略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patrol/gateway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五项校验 / 参数硬限 / 心跳看门狗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FastAPI + SQLite 台账 + 五个页签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7754112" y="2615184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36992" y="2615184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8613648" y="27066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份冻结 JSON Schema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613648" y="298094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四条接口的契约，全部 additionalProperties: false</a:t>
            </a:r>
            <a:endParaRPr lang="en-US" sz="930" dirty="0"/>
          </a:p>
        </p:txBody>
      </p:sp>
      <p:sp>
        <p:nvSpPr>
          <p:cNvPr id="23" name="Shape 20"/>
          <p:cNvSpPr/>
          <p:nvPr/>
        </p:nvSpPr>
        <p:spPr>
          <a:xfrm>
            <a:off x="7754112" y="3474720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936992" y="3474720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613648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份技术文档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8613648" y="38404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架构、设计思想、ICD、代码地图、新手上路、演示指南…</a:t>
            </a:r>
            <a:endParaRPr lang="en-US" sz="930" dirty="0"/>
          </a:p>
        </p:txBody>
      </p:sp>
      <p:sp>
        <p:nvSpPr>
          <p:cNvPr id="27" name="Shape 24"/>
          <p:cNvSpPr/>
          <p:nvPr/>
        </p:nvSpPr>
        <p:spPr>
          <a:xfrm>
            <a:off x="7754112" y="4334256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36992" y="4334256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100" dirty="0"/>
          </a:p>
        </p:txBody>
      </p:sp>
      <p:sp>
        <p:nvSpPr>
          <p:cNvPr id="29" name="Text 26"/>
          <p:cNvSpPr txBox="1"/>
          <p:nvPr/>
        </p:nvSpPr>
        <p:spPr>
          <a:xfrm>
            <a:off x="8613648" y="44256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路识别模型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613648" y="470001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检测 / L2 分割 + OCR / L3 异常 / L4 显式仲裁</a:t>
            </a:r>
            <a:endParaRPr lang="en-US" sz="930" dirty="0"/>
          </a:p>
        </p:txBody>
      </p:sp>
      <p:sp>
        <p:nvSpPr>
          <p:cNvPr id="31" name="Shape 28"/>
          <p:cNvSpPr/>
          <p:nvPr/>
        </p:nvSpPr>
        <p:spPr>
          <a:xfrm>
            <a:off x="7754112" y="5193792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36992" y="5193792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613648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个可当场演示的能力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613648" y="555955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越界拒绝、看门狗接管、200 ms 中止、变焦对比…</a:t>
            </a:r>
            <a:endParaRPr lang="en-US" sz="930" dirty="0"/>
          </a:p>
        </p:txBody>
      </p:sp>
      <p:sp>
        <p:nvSpPr>
          <p:cNvPr id="35" name="Text 32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统计口径：git 仓库实测，不含空行与第三方依赖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质量保障措施与执行结果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三项检查，每次提交前全部执行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3538728" cy="3017520"/>
          </a:xfrm>
          <a:prstGeom prst="roundRect">
            <a:avLst>
              <a:gd name="adj" fmla="val 212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813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项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50592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与代码、网关硬编码常量与 Schema 范围逐条交叉比对。其中 9 条为反例，构造越界报文，必须全部被拦截。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" y="3822192"/>
            <a:ext cx="3172968" cy="365760"/>
          </a:xfrm>
          <a:prstGeom prst="roundRect">
            <a:avLst>
              <a:gd name="adj" fmla="val 17500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" y="38221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343400" y="1298448"/>
            <a:ext cx="3538728" cy="3017520"/>
          </a:xfrm>
          <a:prstGeom prst="roundRect">
            <a:avLst>
              <a:gd name="adj" fmla="val 212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9432" y="14813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 项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2450592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覆盖率 75 %。含端到端 300 s 全链路、串口协议往返、状态机超时、网关五项校验、云端台账、证据保留策略。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26280" y="3822192"/>
            <a:ext cx="3172968" cy="365760"/>
          </a:xfrm>
          <a:prstGeom prst="roundRect">
            <a:avLst>
              <a:gd name="adj" fmla="val 17500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6008" y="38221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119872" y="1298448"/>
            <a:ext cx="3538728" cy="3017520"/>
          </a:xfrm>
          <a:prstGeom prst="roundRect">
            <a:avLst>
              <a:gd name="adj" fmla="val 212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75904" y="14813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 s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375904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2450592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起全系统跑一轮真实巡检，产出证据包并统计复核增益。没有产出数据即视为未跑通，不接受仅在设计上成立的结论。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02752" y="3822192"/>
            <a:ext cx="3172968" cy="365760"/>
          </a:xfrm>
          <a:prstGeom prst="roundRect">
            <a:avLst>
              <a:gd name="adj" fmla="val 17500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0" y="38221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6928" y="4535424"/>
            <a:ext cx="11057839" cy="1389888"/>
          </a:xfrm>
          <a:prstGeom prst="roundRect">
            <a:avLst>
              <a:gd name="adj" fmla="val 4605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7824" y="468172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一条贯穿全项目的记录原则：没有测到的写「未测」，测出来不理想的照实写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877824" y="5047488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例如重复性 0.321 % FS 超出 0.3 % 的限值，我们把它写在 README 首页，而不是通过调整参数让它落进限值。后一种做法只是掩盖了误差来源。指标偏低通常可以解释，指标来源不清则无法解释。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三项检查在每次提交前全部执行；validate 不通过就不提交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研究进度：已完成、进行中、未开始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逐项列出，包含尚未达标的指标与尚未开始的工作</a:t>
            </a:r>
            <a:endParaRPr lang="en-US" sz="13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960120"/>
                <a:gridCol w="3950208"/>
                <a:gridCol w="3648456"/>
              </a:tblGrid>
              <a:tr h="2852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尚未完成的部分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四进程闭环 + 云端台账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 300 s 可重复运行，产出 4 至 6 个证据包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接口一致性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项全部通过，含 9 条反例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PTZ_RATE 为增补指令，尚未写入冻结 Schema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自动化测试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501 项通过，整体覆盖率 75 %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yolo.py 与 onnx_seg.py 仍为接口回归，无真权重用例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安全边界三层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三条演示可现场执行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 PID 与增益调度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超调 3.0 %，3× 超调 1.0 %，均达标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故障率与复核成功率的关系曲线未做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几何读数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0.469 % FS、线性度 0.267 % FS 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0.321 % FS 超出 0.3 % 限值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L4 融合仲裁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六种结论各有用例，每条附 reasons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L2′ OCR 互证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RapidOCR 离线权重，90 px 以上可读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低像素密度档的误判率未系统评测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全协方差，漏报 3.3 %、误报 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上板与 INT8 掉点未测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学习分割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C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U-Net 指针 IoU 0.778，已接入读数链路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核心比选图采样量不足，真实表盘误差表未做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C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0.9949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复核级未训；耗时、漏检率、链路切换对比未做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五点标定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calibrate.py 已实现，覆盖率 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无真实标定数据，标定表尚未进配置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真机联调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驱动层与串口协议已由假小车验证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硬件未到位，属外部约束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340096"/>
            <a:ext cx="621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225296" y="53400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项已完成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670048" y="5340096"/>
            <a:ext cx="621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3328416" y="53400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项进行中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773168" y="5340096"/>
            <a:ext cx="621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5431536" y="53400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项未开始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967728" y="5340096"/>
            <a:ext cx="4654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两项未开始的都受外部条件限制：五点标定缺真实标定数据，真机联调缺硬件。两项进行中的预计明日补齐。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状态判定标准：能产出可复现的实测数据才记为已完成，否则记为进行中或未开始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三条识别路线的阶段性结论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每条路线都给出了实测数据，也写明了尚未测试的部分</a:t>
            </a:r>
            <a:endParaRPr lang="en-US" sz="13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566928"/>
                <a:gridCol w="3749040"/>
                <a:gridCol w="3063240"/>
                <a:gridCol w="2103120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 · 实测数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比选结论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yolo11s：mAP50 0.9949 / mAP50-95 0.7513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使用公开数据集训练，合成数据仅用于增广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复核级、耗时、切换对比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语义分割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乙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 IoU 0.251 → 0.384 → 0.778；耗时 59 ms 在预算内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在合成表盘上与几何法不可区分，仍以几何法为默认实现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核心图重画、真实图误差表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丙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90.8 % → 3.3 %，误报 3.8 %；ROC 贴左上角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全协方差版本最优，EfficientAD 因分数倒挂未采用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上板 INT8 掉点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681728"/>
            <a:ext cx="11057839" cy="1371600"/>
          </a:xfrm>
          <a:prstGeom prst="roundRect">
            <a:avLst>
              <a:gd name="adj" fmla="val 4667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7824" y="482803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三条路线共同印证了一条设计判断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5175504"/>
            <a:ext cx="10424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依靠公开数据集获得纹理多样性，L2 依靠真实标注学习指针与刻度的区分，L3 依靠合成正常样本避开缺陷数据不可得的约束。三条路线所需的数据类型完全不同，这是四类模型分开训练而不是合并为单一模型的实证依据。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三份完整交付见 deliverables/ 下各自目录（一页纸 + 图 + 产物 + 复现命令）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主要创新点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四条，每条都给出与既有做法的区别以及本阶段的实测支撑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7839" cy="1078992"/>
          </a:xfrm>
          <a:prstGeom prst="roundRect">
            <a:avLst>
              <a:gd name="adj" fmla="val 593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298448"/>
            <a:ext cx="548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138988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采集参数由判读结果决定的主动式复核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426464" y="1737360"/>
            <a:ext cx="4709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既有巡检系统按固定参数采集，采集时无法判断这一帧是否够用。本系统把判读结果反馈回采集环节：检出可疑目标后停车、对准，并按 zoom_for_density 算出使成像达到 120 px 所需的变焦倍率。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309360" y="1426464"/>
            <a:ext cx="5312664" cy="822960"/>
          </a:xfrm>
          <a:prstGeom prst="roundRect">
            <a:avLst>
              <a:gd name="adj" fmla="val 7778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148132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1719072"/>
            <a:ext cx="4873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实测像素密度由 50.0 px 提高到 150.0 px，与针孔投影公式的计算值相差 0.4 %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468880"/>
            <a:ext cx="11057839" cy="1078992"/>
          </a:xfrm>
          <a:prstGeom prst="roundRect">
            <a:avLst>
              <a:gd name="adj" fmla="val 593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468880"/>
            <a:ext cx="548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426464" y="25603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变焦增益调度的云台伺服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2907792"/>
            <a:ext cx="4709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画面位移与变焦倍率成正比，固定增益的 PID 在变焦后等效增益被放大。本系统按 ω = θ/(W·z)·u 缩放控制量，使同一组参数在 1× 与 3× 下都稳定。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6309360" y="2596896"/>
            <a:ext cx="5312664" cy="822960"/>
          </a:xfrm>
          <a:prstGeom prst="roundRect">
            <a:avLst>
              <a:gd name="adj" fmla="val 7778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28816" y="265176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2889504"/>
            <a:ext cx="4873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变焦超调 1.0 %、调节时间 1.202 s；关闭调度后超调升至 37.7 %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3639312"/>
            <a:ext cx="11057839" cy="1078992"/>
          </a:xfrm>
          <a:prstGeom prst="roundRect">
            <a:avLst>
              <a:gd name="adj" fmla="val 593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4672" y="3639312"/>
            <a:ext cx="548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426464" y="373075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四类模型协同并由显式规则仲裁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426464" y="4078224"/>
            <a:ext cx="4709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检出、测量、认字、发现未知异常这四个子问题对速度、精度、输出形式的要求互相冲突，单一模型无法兼顾。本系统按四路分别实现，再由纯规则的 L4 层仲裁，每条结论附带 reasons 字段可追溯。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6309360" y="3767328"/>
            <a:ext cx="5312664" cy="822960"/>
          </a:xfrm>
          <a:prstGeom prst="roundRect">
            <a:avLst>
              <a:gd name="adj" fmla="val 7778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28816" y="382219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528816" y="4059936"/>
            <a:ext cx="4873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六种结论各有测试用例；L3 对训练集外异常的漏报由 90.8 % 降至 3.3 %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4809744"/>
            <a:ext cx="11057839" cy="1078992"/>
          </a:xfrm>
          <a:prstGeom prst="roundRect">
            <a:avLst>
              <a:gd name="adj" fmla="val 593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" y="4809744"/>
            <a:ext cx="5486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1426464" y="490118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接口先冻结、驱动先抽象的无硬件开发方法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1426464" y="5248656"/>
            <a:ext cx="4709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JSON Schema 在编码前定稿并配 51 项一致性校验；四个抽象基类隔离硬件，桩注入真机上实际存在的故障率。硬件到位时只需修改两处配置。</a:t>
            </a:r>
            <a:endParaRPr lang="en-US" sz="930" dirty="0"/>
          </a:p>
        </p:txBody>
      </p:sp>
      <p:sp>
        <p:nvSpPr>
          <p:cNvPr id="31" name="Shape 29"/>
          <p:cNvSpPr/>
          <p:nvPr/>
        </p:nvSpPr>
        <p:spPr>
          <a:xfrm>
            <a:off x="6309360" y="4937760"/>
            <a:ext cx="5312664" cy="822960"/>
          </a:xfrm>
          <a:prstGeom prst="roundRect">
            <a:avLst>
              <a:gd name="adj" fmla="val 7778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28816" y="4992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528816" y="5230368"/>
            <a:ext cx="4873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 项测试、端到端 300 s 闭环均在无硬件条件下完成；假小车已验证串口协议栈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四条创新点均可在本机复现，对应命令见各研究内容页的页脚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5836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本阶段最重要的一条方法论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33856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测试集太容易时，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比选结论是被数据决定的，不是被方法决定的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926080"/>
            <a:ext cx="3456432" cy="2212848"/>
          </a:xfrm>
          <a:prstGeom prst="roundRect">
            <a:avLst>
              <a:gd name="adj" fmla="val 2893"/>
            </a:avLst>
          </a:prstGeom>
          <a:solidFill>
            <a:srgbClr val="222A35"/>
          </a:solidFill>
          <a:ln w="9525">
            <a:solidFill>
              <a:srgbClr val="3340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30906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检测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34381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 = 0.9949，epoch 1 就有 0.9759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95020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指标接近上限，复核级「mAP50 优于巡航级 5 个点」的验收标准已没有余量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70248" y="2926080"/>
            <a:ext cx="3456432" cy="2212848"/>
          </a:xfrm>
          <a:prstGeom prst="roundRect">
            <a:avLst>
              <a:gd name="adj" fmla="val 2893"/>
            </a:avLst>
          </a:prstGeom>
          <a:solidFill>
            <a:srgbClr val="222A35"/>
          </a:solidFill>
          <a:ln w="9525">
            <a:solidFill>
              <a:srgbClr val="3340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7992" y="30906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分割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07992" y="34381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n=24 时中位数噪声 0.053–0.228 % FS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07992" y="395020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噪声区间覆盖了几何法与 U-Net 的全部差异，两者无法区分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73568" y="2926080"/>
            <a:ext cx="3456432" cy="2212848"/>
          </a:xfrm>
          <a:prstGeom prst="roundRect">
            <a:avLst>
              <a:gd name="adj" fmla="val 2893"/>
            </a:avLst>
          </a:prstGeom>
          <a:solidFill>
            <a:srgbClr val="222A35"/>
          </a:solidFill>
          <a:ln w="9525">
            <a:solidFill>
              <a:srgbClr val="3340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11312" y="30906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异常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11312" y="34381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统计法基线在原样本上误报漏报皆为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11312" y="395020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改用难度更高的增广样本后才暴露出 90.8 % 的漏报，比选结果才具备区分度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39496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三条路线各自独立遇到了同一个问题。其中只有丙主动提高了评测样本的难度，比选表才具备区分度。这条经验已写入三份交付文档，作为下一阶段所有对比实验的前置检查项。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417320"/>
            <a:ext cx="1170432" cy="1170432"/>
          </a:xfrm>
          <a:prstGeom prst="ellipse">
            <a:avLst/>
          </a:prstGeom>
          <a:solidFill>
            <a:srgbClr val="171C24"/>
          </a:solidFill>
          <a:ln w="25400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1417320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139696" y="1481328"/>
            <a:ext cx="7315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参考文献与存在的不足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2176272" y="2231136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本节回答：参考了哪些资料？怎么处理的？还存在哪些不足？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176272" y="320040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87168" y="301752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规范文件、公开数据集、方法来源三类参考资料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176272" y="384048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87168" y="365760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参考资料的处理原则：引用之后落到可执行的检查上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176272" y="448056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87168" y="429768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六项存在的不足，含两项已定位但尚未修复的缺陷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176272" y="512064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87168" y="493776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下一阶段的工作计划与分工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176272" y="5760720"/>
            <a:ext cx="118872" cy="118872"/>
          </a:xfrm>
          <a:prstGeom prst="ellipse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87168" y="557784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两项尚未开始的工作及其外部制约条件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参考资料与处理方式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分为规范文件、公开数据集、方法来源三类，全部在仓库内可追溯</a:t>
            </a:r>
            <a:endParaRPr lang="en-US" sz="13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3401568"/>
                <a:gridCol w="278892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在本项目中的作用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处理方式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规范文件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《测控系统综合实训课题任务书》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三项验收指标的来源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指标逐条对应到 configs 与测试用例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规范文件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《配电室设备状态视觉测控系统 设计方案书》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识别对象选取、精度指标、交付物清单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ICD 逐条比对，出具 22 处差异清单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规范文件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《ICD-RK3576-PATROL v1.0》接口控制文件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四条接口与五份 Schema 的定义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编码前冻结，改动走 ALLOWED_DRIFT 白名单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公开数据集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Roboflow distribution_room（CC BY 4.0）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检测训练集，2 773 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转 YOLO 格式，类别映射到本项目三类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公开数据集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工业表计读数数据集（百度公开）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分割训练集，414 张像素级标注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类别映射 + background 置 255 忽略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方法来源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PaDiM：基于分块分布建模的异常检测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采用方案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复现全协方差版本，与对角版本、统计法同批比选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方法来源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EfficientAD：轻量化蒸馏异常检测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候选方案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实测分数倒挂，未采用，原因与数据一并记录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方法来源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YOLO11（Ultralytics）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检测骨干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yolo11s 已训，复核级 yolo11m 待训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700016"/>
            <a:ext cx="11057839" cy="932688"/>
          </a:xfrm>
          <a:prstGeom prst="roundRect">
            <a:avLst>
              <a:gd name="adj" fmla="val 6863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" y="480974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参考资料的处理原则：引用之后必须落到可执行的检查上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5120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规范文件的每一项指标都对应到 configs 中的一个常量和至少一条测试用例，方案书与 ICD 的不一致之处逐条列入差异清单并在评审中裁定；公开数据集的类别与本项目不一致时，映射规则写进 prepare_dataset.py 并配核对图，不做隐式转换；方法来源按同一批样本、同一阈值复现后再比选，未采用的方案连同失败原因一并记录。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完整差异清单见 docs/一致性差异清单-方案书-ICD-v1.0.md（22 处，分 A/B/C/D 四类）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存在的不足与待解决问题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如实列出，其中包含两项已定位但尚未修复的缺陷</a:t>
            </a:r>
            <a:endParaRPr lang="en-US" sz="13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005840"/>
                <a:gridCol w="2926080"/>
                <a:gridCol w="4727448"/>
              </a:tblGrid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0.321 % FS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限值 0.3 %，压线且逐次浮动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主要受检测框噪声影响，不是读数算法的精度上限。不通过调参掩盖，列入待办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证据包配对偶发丢 before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该包密度比为 0，复核成功率被拉低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已定位到 uploader 配对逻辑，下一阶段修复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复核成功率 75–83 %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 &gt; 85 %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主因同上；修复配对后重新评估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mAP50 0.9949 偏高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训练集与验证集可能存在同源增广副本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 --check-leak 排查命令，明日出结果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真实表盘读数误差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比选无法外推到真实表计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无读数真值，需另找带真值的数据或人工标注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上板实测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阻塞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INT8 掉点与实际帧率未知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导出链路已通过 ONNX 冒烟推理，等板子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846320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7824" y="4846320"/>
            <a:ext cx="10424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本页不做修饰。项目一贯的记录原则是：证据不足时写明不足，不做推测。重复性超差写在 README 首页，端到端成功率如实记为 75 % 至 83 %，EfficientAD 方案失败也照样写进比选表。指标偏低通常可以解释，指标来源不清则无法解释。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六项风险中四项有明确处置路径，两项（真实表盘读数真值、上板实测）受外部条件限制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下一阶段工作计划与分工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按接口边界划分，四条线可并行推进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499616"/>
            <a:ext cx="365760" cy="365760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499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4813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 · L1 检测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1956816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 --check-leak，排除训练集与验证集的同源样本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训练复核级 yolo11m 并导出 ONNX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测单帧耗时与漏检率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 detector: yolo，run_all 三轮对比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81344" y="1298448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9088" y="1499616"/>
            <a:ext cx="365760" cy="365760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9088" y="1499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12864" y="14813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 分割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12864" y="1956816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核心图重画：n≥200，纵轴改 P90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 split.json 交代训练/验证划分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重新运行 make_figures，修正图例配色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寻找带读数真值的真实表盘数据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47872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3749040"/>
            <a:ext cx="365760" cy="3657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37307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 异常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98448" y="4206240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RKNN 导出与上板实测（等板子）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FP32 / INT8 两组数与掉点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量化校准集从 evidence/ 取本场景图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主体已完成，转入部署验证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81344" y="3547872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19088" y="3749040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19088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12864" y="37307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组长 · 系统与交付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12864" y="4206240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修复证据包配对丢失 before 记录的缺陷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重复性超差归因（检测框噪声定量）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故障率 → 复核成功率的可靠性曲线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答辩材料与演示脚本收口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分工按接口边界划分，不按文件数量划分，四个人可以并行修改各自的模块而不产生冲突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90288" y="1481328"/>
            <a:ext cx="3017520" cy="3017520"/>
          </a:xfrm>
          <a:prstGeom prst="ellipse">
            <a:avLst/>
          </a:prstGeom>
          <a:solidFill>
            <a:srgbClr val="171C24"/>
          </a:solidFill>
          <a:ln w="15875">
            <a:solidFill>
              <a:srgbClr val="2C38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01768" y="1892808"/>
            <a:ext cx="2194560" cy="2194560"/>
          </a:xfrm>
          <a:prstGeom prst="ellipse">
            <a:avLst/>
          </a:prstGeom>
          <a:solidFill>
            <a:srgbClr val="171C24"/>
          </a:solidFill>
          <a:ln w="22225">
            <a:solidFill>
              <a:srgbClr val="E894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2100000">
            <a:off x="6078474" y="2487168"/>
            <a:ext cx="41148" cy="100584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61888" y="2871216"/>
            <a:ext cx="274320" cy="27432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846320"/>
            <a:ext cx="121916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敬请指正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0" y="5468112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 · 中期答辩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0" y="5870448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现场可演示：变焦对比 · 越界指令被拒 · 看门狗接管 · 复核 200 ms 中止 · 端到端一轮巡检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2026-09-03T01:57:37Z</dcterms:created>
  <dcterms:modified xsi:type="dcterms:W3CDTF">2026-09-03T01:57:37Z</dcterms:modified>
</cp:coreProperties>
</file>
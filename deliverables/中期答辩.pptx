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开场：这个项目的一句话是——巡航时低成本扫一遍，发现可疑目标就停车、对准、变焦、再看一眼。这一步把表盘从 50 像素放大到 150 像素，读数才够得着 0.5 % FS 的精度要求。这是我们和「拍一路视频回去慢慢看」的根本区别。硬件还没到，但整套系统现在就能在笔记本上跑起来，所有指标都是实测的。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提纲四部分。时间紧的话，重点讲 01 的像素密度立论和 03 的三条实测结论。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三项要求互相打架是这一页的核心。评审如果问「为什么不直接用更大的模型」——答案是模型再大也解决不了 50 像素上没有信息这件事。信息在光学环节就丢了，只能靠变焦补回来。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这张图是整个项目最该记住的一幕。左边巡航态 50 像素，指针根本读不出来；右边 3 倍变焦后 150 像素，刻度清清楚楚。关键是：实测框宽和针孔投影公式算出来的值吻合到 0.4 %，说明我们的虚拟场景不是画着好看，它在光学上是自洽的——所以在它上面测出来的精度指标是有意义的。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十个状态里这里画了八个主线状态，另外两个是 ABORT 和 ERROR。设计上有一条硬纪律：没有一个状态的出边是空的，每个状态都有超时去处，所以状态机不会卡死。复核预算那个公式很重要——它保证「主动式」不会把巡检时间拖爆。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这一页回答「为什么这么复杂」。四个进程的边界是按安全职责切的，不是按代码量切的。五份 Schema 是冻结的契约，改一个字段都要走白名单流程，这样四个人可以并行改而不互相踩。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回答「你们没硬件怎么做」的关键。要强调两点：一是桩会主动注入真机上的麻烦，所以在桩上跑通是有意义的验收；二是真值和先验严格分开，感知读不到真值，所以精度数字不是自己骗自己。假小车那条能证明我们的真机代码路径不是死代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这一页专门讲工作量。要强调的不是行数本身，而是结构——测试 5900 行几乎和核心业务代码一样多，说明质量不是最后补的。文档 4700 行意味着这套系统别人接得住。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这一页讲我们怎么守质量。三道闸门都是命令行一条就能跑的，可以当场演示。最后那句纪律很重要——重复性超差我们主动写在 README 首页，这个态度本身就是答辩的加分项。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这一页是识别部分的总纲。评审很可能问「为什么不用一个端到端大模型」——答案在最后那段：四个问题对速度、精度、输出形式、损失函数的要求互相冲突。而且这个拆法是 ICD 协议里本来就留好的位置，我们没有改接口。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仲裁层是纯规则不是学习的，这是有意的——它必须能逐条讲清凭什么。三条教训里第一条最值得讲：举证责任的方向是产品决策，不是技术决策。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甲的巡航级模型已经训完，指标很高。但要主动说明一件事：epoch 1 就有 0.976，这个数偏高，我们已经写了 --check-leak 命令去排查 Roboflow 增广副本跨 train/val 的问题，明天出结果。主动说比被问出来好。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这一页明天上午替换。如果答辩前甲还没补上，就照现在这样讲——诚实说明哪些还没测，比编一个数字好。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乙这一路最有价值的不是 0.778 这个数，是 0.251→0.384 这一步——同一个模型只加真实数据就涨 53%，说明瓶颈在数据不在模型。另外他修的那两个 bug 值得提一句：那是只有真正下载并跑通才会暴露的问题。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这一页讲的是方法论：有些东西数字上看不出来，只能人眼核对。类别映射错一位，IoU 照样能训得很好看，但模型学的是错的东西。所以我们把「人眼看叠加图」写成了硬性验收标准。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其实是全场最能体现我们方法论水平的一页。我们没有把一张好看的图直接放上去，而是自己算了采样噪声，发现差异全在噪声里。这种自查比结论本身更值钱。评审如果问「你们怎么知道这个差异是真的」，这就是答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丙这一路是三条里做得最完整的。四个方案在同一批样本、同一个阈值下比，结论清楚。要强调 EfficientAD 那一列——它失败了，我们照实写进表里而不是删掉，这是诚实比选。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左图是最好讲的一张——两簇分开就是好，重叠就是不好，不需要懂算法也看得懂。右图 ROC 证明结论不依赖阈值选择。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第一条是全项目最好的一个 debug 故事：离线数据集和运行时管道的分布不一致，导致离线好看上线全错。这种问题只有真正把模型接进系统跑才会发现，纯做数据集是碰不到的。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这一页收口识别部分。最后那段是升华：三条路需要的数据完全不同，这就是分开做的实证依据，不是拍脑袋。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三条演示都可以当场跑，加起来不到一分钟。如果评审对安全设计有疑问，直接演示第二条——杀掉 AI 进程，车照样走完路线，这个最有冲击力。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课题名叫「测控系统」，「控」那一半的证据全在这一页。绿线那个大过冲最直观——关掉增益调度就是这个样子。这三组数是这次现场跑出来的，不是抄旧文档。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这一页要主动讲成功率没达标。83.3% 和 75%，都低于 85% 目标。原因已经定位——证据包配对偶发丢 before 记录。我们把它写进待办而不是调参数凑过去。评审会欣赏这个态度，而且比被问出来好得多。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这一页是全场最能体现方法论水平的地方。三个人各自独立撞上同一个坑：测试集太容易，导致比选结论其实是数据定的。这种跨路线的共性发现，比任何单个指标都更能说明我们真的在做研究而不是调参。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这一页要坦然讲。六项风险里我们主动列了两个已定位未修复的缺陷。这种坦白反而会让评审觉得数据可信——因为一个全是好消息的报告本身就可疑。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下一阶段四条线并行。丙那条已经基本完成，转入部署验证；组长这条主要是修缺陷和补可靠性曲线。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结束页。如果还有时间，主动提出演示——五条里挑一条，看门狗接管那条最有冲击力。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1C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75320" y="1051560"/>
            <a:ext cx="3611880" cy="3611880"/>
          </a:xfrm>
          <a:prstGeom prst="ellipse">
            <a:avLst/>
          </a:prstGeom>
          <a:solidFill>
            <a:srgbClr val="171C24"/>
          </a:solidFill>
          <a:ln w="19050">
            <a:solidFill>
              <a:srgbClr val="E8940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05088" y="1481328"/>
            <a:ext cx="2752344" cy="2752344"/>
          </a:xfrm>
          <a:prstGeom prst="ellipse">
            <a:avLst/>
          </a:prstGeom>
          <a:solidFill>
            <a:srgbClr val="171C24"/>
          </a:solidFill>
          <a:ln w="12700">
            <a:solidFill>
              <a:srgbClr val="35617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2040000">
            <a:off x="10060686" y="2308860"/>
            <a:ext cx="41148" cy="1097280"/>
          </a:xfrm>
          <a:prstGeom prst="rect">
            <a:avLst/>
          </a:prstGeom>
          <a:solidFill>
            <a:srgbClr val="E8940C"/>
          </a:solidFill>
          <a:ln w="6350">
            <a:solidFill>
              <a:srgbClr val="E8940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925812" y="2702052"/>
            <a:ext cx="310896" cy="310896"/>
          </a:xfrm>
          <a:prstGeom prst="ellipse">
            <a:avLst/>
          </a:prstGeom>
          <a:solidFill>
            <a:srgbClr val="E8940C"/>
          </a:solidFill>
          <a:ln w="12700">
            <a:solidFill>
              <a:srgbClr val="E8940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66928" y="118872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中期答辩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691640"/>
            <a:ext cx="73152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800"/>
              </a:lnSpc>
              <a:buNone/>
            </a:pPr>
            <a:r>
              <a:rPr lang="en-US" sz="3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 RK3576 边缘计算的</a:t>
            </a:r>
            <a:endParaRPr lang="en-US" sz="37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3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无人车主动式 AI 巡检系统</a:t>
            </a:r>
            <a:endParaRPr lang="en-US" sz="37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3529584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9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配电室设备状态视觉测控 · 停车对准变焦，把表盘从 50 px 放大到 150 px 再读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422452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21 100</a:t>
            </a:r>
            <a:endParaRPr lang="en-US" sz="25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4700016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9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行代码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2377440" y="422452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501</a:t>
            </a:r>
            <a:endParaRPr lang="en-US" sz="2500" dirty="0"/>
          </a:p>
        </p:txBody>
      </p:sp>
      <p:sp>
        <p:nvSpPr>
          <p:cNvPr id="12" name="Text 10"/>
          <p:cNvSpPr txBox="1"/>
          <p:nvPr/>
        </p:nvSpPr>
        <p:spPr>
          <a:xfrm>
            <a:off x="2377440" y="4700016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9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项测试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187952" y="422452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2500" dirty="0"/>
          </a:p>
        </p:txBody>
      </p:sp>
      <p:sp>
        <p:nvSpPr>
          <p:cNvPr id="14" name="Text 12"/>
          <p:cNvSpPr txBox="1"/>
          <p:nvPr/>
        </p:nvSpPr>
        <p:spPr>
          <a:xfrm>
            <a:off x="4187952" y="4700016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9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路模型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998464" y="422452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51</a:t>
            </a:r>
            <a:endParaRPr lang="en-US" sz="2500" dirty="0"/>
          </a:p>
        </p:txBody>
      </p:sp>
      <p:sp>
        <p:nvSpPr>
          <p:cNvPr id="16" name="Text 14"/>
          <p:cNvSpPr txBox="1"/>
          <p:nvPr/>
        </p:nvSpPr>
        <p:spPr>
          <a:xfrm>
            <a:off x="5998464" y="4700016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A9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项接口校验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598932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9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四人小组 · 甲 L1 检测 / 乙 L2 分割 / 丙 L3 异常 / 组长 系统与交付        2026 年 9 月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93776" cy="49377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894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2918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汇报提纲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2296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四个部分，重点在第二、三部分的实测数据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353312"/>
            <a:ext cx="11057839" cy="1042416"/>
          </a:xfrm>
          <a:prstGeom prst="roundRect">
            <a:avLst>
              <a:gd name="adj" fmla="val 6140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1248" y="1353312"/>
            <a:ext cx="82296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1700784" y="1536192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课题与技术路线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1700784" y="1901952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为什么必须「停车变焦再看一眼」；像素密度这条立论怎么来的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10253167" y="1353312"/>
            <a:ext cx="109728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561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 3 – 7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66928" y="2551176"/>
            <a:ext cx="11057839" cy="1042416"/>
          </a:xfrm>
          <a:prstGeom prst="roundRect">
            <a:avLst>
              <a:gd name="adj" fmla="val 6140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41248" y="2551176"/>
            <a:ext cx="82296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1700784" y="2734056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工作量与质量保障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700784" y="3099816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代码规模、接口冻结、501 项测试如何守住这套系统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10253167" y="2551176"/>
            <a:ext cx="109728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561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 8 – 11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3749040"/>
            <a:ext cx="11057839" cy="1042416"/>
          </a:xfrm>
          <a:prstGeom prst="roundRect">
            <a:avLst>
              <a:gd name="adj" fmla="val 6140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41248" y="3749040"/>
            <a:ext cx="82296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1700784" y="393192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三条识别路线的实测成果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1700784" y="4297680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L1 检测 / L2 分割 / L3 异常，各自的比选结论与数据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10253167" y="3749040"/>
            <a:ext cx="109728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561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 12 – 20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66928" y="4946904"/>
            <a:ext cx="11057839" cy="1042416"/>
          </a:xfrm>
          <a:prstGeom prst="roundRect">
            <a:avLst>
              <a:gd name="adj" fmla="val 6140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41248" y="4946904"/>
            <a:ext cx="82296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3000" dirty="0"/>
          </a:p>
        </p:txBody>
      </p:sp>
      <p:sp>
        <p:nvSpPr>
          <p:cNvPr id="23" name="Text 21"/>
          <p:cNvSpPr txBox="1"/>
          <p:nvPr/>
        </p:nvSpPr>
        <p:spPr>
          <a:xfrm>
            <a:off x="1700784" y="5129784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系统能力与收口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1700784" y="5495544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安全边界、云台控制、端到端闭环、风险与下一步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10253167" y="4946904"/>
            <a:ext cx="109728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3561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 21 – 27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93776" cy="49377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894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2918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课题：配电室要什么样的巡检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2296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任务书三项要求，每一项都指向同一个矛盾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298448"/>
            <a:ext cx="3538728" cy="2670048"/>
          </a:xfrm>
          <a:prstGeom prst="roundRect">
            <a:avLst>
              <a:gd name="adj" fmla="val 2397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554480"/>
            <a:ext cx="384048" cy="384048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335024" y="1536192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看得清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084832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表计读数误差 ≤ 0.5 % FS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2432304"/>
            <a:ext cx="303580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m 处 1× 变焦，表盘只有 50 px——指针根本读不出来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343400" y="1298448"/>
            <a:ext cx="3538728" cy="2670048"/>
          </a:xfrm>
          <a:prstGeom prst="roundRect">
            <a:avLst>
              <a:gd name="adj" fmla="val 2397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99432" y="1554480"/>
            <a:ext cx="384048" cy="384048"/>
          </a:xfrm>
          <a:prstGeom prst="ellipse">
            <a:avLst/>
          </a:prstGeom>
          <a:solidFill>
            <a:srgbClr val="E8940C"/>
          </a:solidFill>
          <a:ln w="12700">
            <a:solidFill>
              <a:srgbClr val="E8940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99432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111496" y="1536192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跑得完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4599432" y="2084832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单次巡检 ≤ 30 min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599432" y="2432304"/>
            <a:ext cx="303580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要读得清就得靠近、放大、多拍，每一样都在花时间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119872" y="1298448"/>
            <a:ext cx="3538728" cy="2670048"/>
          </a:xfrm>
          <a:prstGeom prst="roundRect">
            <a:avLst>
              <a:gd name="adj" fmla="val 2397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375904" y="1554480"/>
            <a:ext cx="384048" cy="384048"/>
          </a:xfrm>
          <a:prstGeom prst="ellipse">
            <a:avLst/>
          </a:prstGeom>
          <a:solidFill>
            <a:srgbClr val="35617D"/>
          </a:solidFill>
          <a:ln w="12700">
            <a:solidFill>
              <a:srgbClr val="35617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375904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8887968" y="1536192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不添乱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8375904" y="2084832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561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不能因 AI 误判撞到设备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375904" y="2432304"/>
            <a:ext cx="303580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模型会错，而车是会动的——决策权不能交给模型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66928" y="4169664"/>
            <a:ext cx="11057839" cy="1883664"/>
          </a:xfrm>
          <a:prstGeom prst="roundRect">
            <a:avLst>
              <a:gd name="adj" fmla="val 3398"/>
            </a:avLst>
          </a:prstGeom>
          <a:solidFill>
            <a:srgbClr val="171C24"/>
          </a:solidFill>
          <a:ln w="9525">
            <a:solidFill>
              <a:srgbClr val="171C2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50976" y="4407408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三项要求互相打架，这就是课题的真正难点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950976" y="4864608"/>
            <a:ext cx="10241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9AA9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「全程慢慢拍」看得清但跑不完；「全程快速扫」跑得完但看不清。我们的解法是把两者分开——巡航期用小模型 30 Hz 低成本扫，只在发现可疑目标时才停车、对准、变焦、重拍。代价只花在真正需要的地方，而「要不要停车」这个决策由规则和安全网关把关，不交给模型。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指标出处：设计方案书 §2.2 表 2-2 / 测控系统综合实训课题任务书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93776" cy="49377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894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2918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核心立论：像素密度决定读数精度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2296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全项目最直观的一幕——同一块压力表，变焦前后</a:t>
            </a:r>
            <a:endParaRPr lang="en-US" sz="1300" dirty="0"/>
          </a:p>
        </p:txBody>
      </p:sp>
      <p:pic>
        <p:nvPicPr>
          <p:cNvPr id="6" name="Image 0" descr="/home/user/2026summer/deliverables/_deck/img/zoom_compa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298448"/>
            <a:ext cx="11055096" cy="358444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506577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50.0 px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565099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巡航态 1× 实测框宽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3355848" y="506577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150.0 px</a:t>
            </a:r>
            <a:endParaRPr lang="en-US" sz="3400" dirty="0"/>
          </a:p>
        </p:txBody>
      </p:sp>
      <p:sp>
        <p:nvSpPr>
          <p:cNvPr id="10" name="Text 7"/>
          <p:cNvSpPr txBox="1"/>
          <p:nvPr/>
        </p:nvSpPr>
        <p:spPr>
          <a:xfrm>
            <a:off x="3355848" y="565099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复核态 3× 实测框宽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6144768" y="506577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3561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0.4 %</a:t>
            </a:r>
            <a:endParaRPr lang="en-US" sz="3400" dirty="0"/>
          </a:p>
        </p:txBody>
      </p:sp>
      <p:sp>
        <p:nvSpPr>
          <p:cNvPr id="12" name="Text 9"/>
          <p:cNvSpPr txBox="1"/>
          <p:nvPr/>
        </p:nvSpPr>
        <p:spPr>
          <a:xfrm>
            <a:off x="6144768" y="565099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实测与针孔公式的偏差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9070848" y="4992624"/>
            <a:ext cx="2551176" cy="1060704"/>
          </a:xfrm>
          <a:prstGeom prst="roundRect">
            <a:avLst>
              <a:gd name="adj" fmla="val 6034"/>
            </a:avLst>
          </a:prstGeom>
          <a:solidFill>
            <a:srgbClr val="FBEAC9"/>
          </a:solidFill>
          <a:ln w="9525">
            <a:solidFill>
              <a:srgbClr val="FBEAC9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299448" y="5102352"/>
            <a:ext cx="21945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b="1" dirty="0">
                <a:solidFill>
                  <a:srgbClr val="8A5A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公式算出 49.8 / 149.5 px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b="1" dirty="0">
                <a:solidFill>
                  <a:srgbClr val="8A5A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渲染器与光学模型自洽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复现：python -m patrol.tools.viewer --demo-zoom --out out/   ·   光学公式集中在 patrol/scene/optics.py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93776" cy="49377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894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2918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主动式复核：一次完整的决策闭环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2296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十状态机，每个状态都有超时去处——没有一条出边是空的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389888"/>
            <a:ext cx="1316736" cy="2139696"/>
          </a:xfrm>
          <a:prstGeom prst="roundRect">
            <a:avLst>
              <a:gd name="adj" fmla="val 4861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389888"/>
            <a:ext cx="1316736" cy="274320"/>
          </a:xfrm>
          <a:prstGeom prst="rect">
            <a:avLst/>
          </a:prstGeom>
          <a:solidFill>
            <a:srgbClr val="35617D"/>
          </a:solidFill>
          <a:ln w="6350">
            <a:solidFill>
              <a:srgbClr val="35617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66928" y="1389888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CRUISE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737360"/>
            <a:ext cx="1170432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 Hz 巡航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L1 小模型扫描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1865376" y="2157984"/>
            <a:ext cx="128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1952244" y="1389888"/>
            <a:ext cx="1316736" cy="2139696"/>
          </a:xfrm>
          <a:prstGeom prst="roundRect">
            <a:avLst>
              <a:gd name="adj" fmla="val 4861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952244" y="1389888"/>
            <a:ext cx="1316736" cy="274320"/>
          </a:xfrm>
          <a:prstGeom prst="rect">
            <a:avLst/>
          </a:prstGeom>
          <a:solidFill>
            <a:srgbClr val="35617D"/>
          </a:solidFill>
          <a:ln w="6350">
            <a:solidFill>
              <a:srgbClr val="35617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952244" y="1389888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SUSPECT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2025396" y="1737360"/>
            <a:ext cx="1170432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连续三帧同一目标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才确认，防抖动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3250692" y="2157984"/>
            <a:ext cx="128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337560" y="1389888"/>
            <a:ext cx="1316736" cy="2139696"/>
          </a:xfrm>
          <a:prstGeom prst="roundRect">
            <a:avLst>
              <a:gd name="adj" fmla="val 4861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337560" y="1389888"/>
            <a:ext cx="1316736" cy="274320"/>
          </a:xfrm>
          <a:prstGeom prst="rect">
            <a:avLst/>
          </a:prstGeom>
          <a:solidFill>
            <a:srgbClr val="E8940C"/>
          </a:solidFill>
          <a:ln w="6350">
            <a:solidFill>
              <a:srgbClr val="E8940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337560" y="1389888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HALT_REQ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3410712" y="1737360"/>
            <a:ext cx="1170432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下发 PAUSE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网关五项校验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4636008" y="2157984"/>
            <a:ext cx="128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4722876" y="1389888"/>
            <a:ext cx="1316736" cy="2139696"/>
          </a:xfrm>
          <a:prstGeom prst="roundRect">
            <a:avLst>
              <a:gd name="adj" fmla="val 4861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22876" y="1389888"/>
            <a:ext cx="1316736" cy="274320"/>
          </a:xfrm>
          <a:prstGeom prst="rect">
            <a:avLst/>
          </a:prstGeom>
          <a:solidFill>
            <a:srgbClr val="E8940C"/>
          </a:solidFill>
          <a:ln w="6350">
            <a:solidFill>
              <a:srgbClr val="E8940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722876" y="1389888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AIM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4796028" y="1737360"/>
            <a:ext cx="1170432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针孔几何前馈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 PID 残差闭环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6021324" y="2157984"/>
            <a:ext cx="128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6108192" y="1389888"/>
            <a:ext cx="1316736" cy="2139696"/>
          </a:xfrm>
          <a:prstGeom prst="roundRect">
            <a:avLst>
              <a:gd name="adj" fmla="val 4861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108192" y="1389888"/>
            <a:ext cx="1316736" cy="274320"/>
          </a:xfrm>
          <a:prstGeom prst="rect">
            <a:avLst/>
          </a:prstGeom>
          <a:solidFill>
            <a:srgbClr val="E8940C"/>
          </a:solidFill>
          <a:ln w="6350">
            <a:solidFill>
              <a:srgbClr val="E8940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108192" y="1389888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ZOOM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6181344" y="1737360"/>
            <a:ext cx="1170432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 p_target 算倍率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变焦到 120 px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7406640" y="2157984"/>
            <a:ext cx="128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7493508" y="1389888"/>
            <a:ext cx="1316736" cy="2139696"/>
          </a:xfrm>
          <a:prstGeom prst="roundRect">
            <a:avLst>
              <a:gd name="adj" fmla="val 4861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493508" y="1389888"/>
            <a:ext cx="1316736" cy="274320"/>
          </a:xfrm>
          <a:prstGeom prst="rect">
            <a:avLst/>
          </a:prstGeom>
          <a:solidFill>
            <a:srgbClr val="2E9E6B"/>
          </a:solidFill>
          <a:ln w="6350">
            <a:solidFill>
              <a:srgbClr val="2E9E6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493508" y="1389888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VERIFY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7566660" y="1737360"/>
            <a:ext cx="1170432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四路模型推理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L4 显式仲裁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8791956" y="2157984"/>
            <a:ext cx="128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1500" dirty="0"/>
          </a:p>
        </p:txBody>
      </p:sp>
      <p:sp>
        <p:nvSpPr>
          <p:cNvPr id="36" name="Shape 34"/>
          <p:cNvSpPr/>
          <p:nvPr/>
        </p:nvSpPr>
        <p:spPr>
          <a:xfrm>
            <a:off x="8878824" y="1389888"/>
            <a:ext cx="1316736" cy="2139696"/>
          </a:xfrm>
          <a:prstGeom prst="roundRect">
            <a:avLst>
              <a:gd name="adj" fmla="val 4861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878824" y="1389888"/>
            <a:ext cx="1316736" cy="274320"/>
          </a:xfrm>
          <a:prstGeom prst="rect">
            <a:avLst/>
          </a:prstGeom>
          <a:solidFill>
            <a:srgbClr val="2E9E6B"/>
          </a:solidFill>
          <a:ln w="6350">
            <a:solidFill>
              <a:srgbClr val="2E9E6B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878824" y="1389888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PACK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8951976" y="1737360"/>
            <a:ext cx="1170432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证据包组装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before/after 配对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10177272" y="2157984"/>
            <a:ext cx="128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1500" dirty="0"/>
          </a:p>
        </p:txBody>
      </p:sp>
      <p:sp>
        <p:nvSpPr>
          <p:cNvPr id="41" name="Shape 39"/>
          <p:cNvSpPr/>
          <p:nvPr/>
        </p:nvSpPr>
        <p:spPr>
          <a:xfrm>
            <a:off x="10264140" y="1389888"/>
            <a:ext cx="1316736" cy="2139696"/>
          </a:xfrm>
          <a:prstGeom prst="roundRect">
            <a:avLst>
              <a:gd name="adj" fmla="val 4861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0264140" y="1389888"/>
            <a:ext cx="1316736" cy="274320"/>
          </a:xfrm>
          <a:prstGeom prst="rect">
            <a:avLst/>
          </a:prstGeom>
          <a:solidFill>
            <a:srgbClr val="35617D"/>
          </a:solidFill>
          <a:ln w="6350">
            <a:solidFill>
              <a:srgbClr val="35617D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10264140" y="1389888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RESUME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10337292" y="1737360"/>
            <a:ext cx="1170432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恢复巡航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写入抑制表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66928" y="3785616"/>
            <a:ext cx="3538728" cy="1938528"/>
          </a:xfrm>
          <a:prstGeom prst="roundRect">
            <a:avLst>
              <a:gd name="adj" fmla="val 3302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804672" y="395020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复核预算</a:t>
            </a:r>
            <a:endParaRPr lang="en-US" sz="1450" dirty="0"/>
          </a:p>
        </p:txBody>
      </p:sp>
      <p:sp>
        <p:nvSpPr>
          <p:cNvPr id="47" name="Text 45"/>
          <p:cNvSpPr txBox="1"/>
          <p:nvPr/>
        </p:nvSpPr>
        <p:spPr>
          <a:xfrm>
            <a:off x="804672" y="429768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561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N_max = ⌊(T_max − L/v) / T_r⌋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804672" y="4626864"/>
            <a:ext cx="31272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算得出这一趟还能复核几次，排不下的顺延到下一轮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4343400" y="3785616"/>
            <a:ext cx="3538728" cy="1938528"/>
          </a:xfrm>
          <a:prstGeom prst="roundRect">
            <a:avLst>
              <a:gd name="adj" fmla="val 3302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4581144" y="395020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三条抑制</a:t>
            </a:r>
            <a:endParaRPr lang="en-US" sz="1450" dirty="0"/>
          </a:p>
        </p:txBody>
      </p:sp>
      <p:sp>
        <p:nvSpPr>
          <p:cNvPr id="51" name="Text 49"/>
          <p:cNvSpPr txBox="1"/>
          <p:nvPr/>
        </p:nvSpPr>
        <p:spPr>
          <a:xfrm>
            <a:off x="4581144" y="429768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561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航点去重 / 定位失效 / 恢复静默</a:t>
            </a:r>
            <a:endParaRPr lang="en-US" sz="1100" dirty="0"/>
          </a:p>
        </p:txBody>
      </p:sp>
      <p:sp>
        <p:nvSpPr>
          <p:cNvPr id="52" name="Text 50"/>
          <p:cNvSpPr txBox="1"/>
          <p:nvPr/>
        </p:nvSpPr>
        <p:spPr>
          <a:xfrm>
            <a:off x="4581144" y="4626864"/>
            <a:ext cx="31272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同一个航点不重复停车，定位丢了就不再触发复核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8119872" y="3785616"/>
            <a:ext cx="3538728" cy="1938528"/>
          </a:xfrm>
          <a:prstGeom prst="roundRect">
            <a:avLst>
              <a:gd name="adj" fmla="val 3302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8357616" y="395020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安全优先</a:t>
            </a:r>
            <a:endParaRPr lang="en-US" sz="1450" dirty="0"/>
          </a:p>
        </p:txBody>
      </p:sp>
      <p:sp>
        <p:nvSpPr>
          <p:cNvPr id="55" name="Text 53"/>
          <p:cNvSpPr txBox="1"/>
          <p:nvPr/>
        </p:nvSpPr>
        <p:spPr>
          <a:xfrm>
            <a:off x="8357616" y="429768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561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安全事件 200 ms 内中止复核</a:t>
            </a:r>
            <a:endParaRPr lang="en-US" sz="1100" dirty="0"/>
          </a:p>
        </p:txBody>
      </p:sp>
      <p:sp>
        <p:nvSpPr>
          <p:cNvPr id="56" name="Text 54"/>
          <p:cNvSpPr txBox="1"/>
          <p:nvPr/>
        </p:nvSpPr>
        <p:spPr>
          <a:xfrm>
            <a:off x="8357616" y="4626864"/>
            <a:ext cx="31272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任何时刻安全事件都能打断正在进行的复核</a:t>
            </a:r>
            <a:endParaRPr lang="en-US" sz="1100" dirty="0"/>
          </a:p>
        </p:txBody>
      </p:sp>
      <p:sp>
        <p:nvSpPr>
          <p:cNvPr id="57" name="Text 55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实现：patrol/mission/fsm.py（598 行，十状态）· suppress.py（三条抑制）· budget.py（预算与顺延队列）</a:t>
            </a:r>
            <a:endParaRPr lang="en-US" sz="950" dirty="0"/>
          </a:p>
        </p:txBody>
      </p:sp>
      <p:sp>
        <p:nvSpPr>
          <p:cNvPr id="58" name="Text 56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93776" cy="49377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894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2918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系统架构：四进程 + 四接口 + 五份冻结 Schema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2296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拆进程不是为了好看，是为了安全网关能在 AI 崩掉之后继续工作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298448"/>
            <a:ext cx="2651760" cy="2011680"/>
          </a:xfrm>
          <a:prstGeom prst="roundRect">
            <a:avLst>
              <a:gd name="adj" fmla="val 3182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463040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561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perception  感知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68096" y="1865376"/>
            <a:ext cx="2286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拥有  相机、四路模型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235915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绝不碰  驱动以 passive 建，收不到指令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401568" y="1298448"/>
            <a:ext cx="2651760" cy="2011680"/>
          </a:xfrm>
          <a:prstGeom prst="roundRect">
            <a:avLst>
              <a:gd name="adj" fmla="val 3182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02736" y="1463040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561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mission  任务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3602736" y="1865376"/>
            <a:ext cx="2286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拥有  十状态机、PID、预算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3602736" y="235915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绝不碰  不碰驱动，不碰模型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36208" y="1298448"/>
            <a:ext cx="2651760" cy="2011680"/>
          </a:xfrm>
          <a:prstGeom prst="roundRect">
            <a:avLst>
              <a:gd name="adj" fmla="val 3182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37376" y="1463040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gateway  安全网关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6437376" y="1865376"/>
            <a:ext cx="2286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拥有  四个驱动实例（唯一）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6437376" y="235915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绝不碰  不碰模型、不碰图像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9070848" y="1298448"/>
            <a:ext cx="2651760" cy="2011680"/>
          </a:xfrm>
          <a:prstGeom prst="roundRect">
            <a:avLst>
              <a:gd name="adj" fmla="val 3182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272016" y="1463040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561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uploader  上传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9272016" y="1865376"/>
            <a:ext cx="2286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拥有  证据目录、上传队列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9272016" y="235915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绝不碰  不碰驱动，不碰模型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529584"/>
          <a:ext cx="6903720" cy="914400"/>
        </p:xfrm>
        <a:graphic>
          <a:graphicData uri="http://schemas.openxmlformats.org/drawingml/2006/table">
            <a:tbl>
              <a:tblPr/>
              <a:tblGrid>
                <a:gridCol w="713232"/>
                <a:gridCol w="1938528"/>
                <a:gridCol w="1691640"/>
                <a:gridCol w="1005840"/>
                <a:gridCol w="155448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编号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报文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方向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传输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频率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IF-1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DetectionEvent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感知 → 任务 / 上传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PUB/SUB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 Hz + 按需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IF-2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ControlCommand / Ack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任务 → 网关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REQ/REP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事件驱动 + 5 Hz 心跳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IF-3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StatusReport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网关 → 所有人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PUB/SUB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 Hz + 安全插播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IF-4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EvidencePackage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上传 → 云端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HTTP / MQTT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每次复核一包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3" name="Shape 20"/>
          <p:cNvSpPr/>
          <p:nvPr/>
        </p:nvSpPr>
        <p:spPr>
          <a:xfrm>
            <a:off x="7744968" y="3529584"/>
            <a:ext cx="3877056" cy="2432304"/>
          </a:xfrm>
          <a:prstGeom prst="roundRect">
            <a:avLst>
              <a:gd name="adj" fmla="val 2632"/>
            </a:avLst>
          </a:prstGeom>
          <a:solidFill>
            <a:srgbClr val="171C24"/>
          </a:solidFill>
          <a:ln w="9525">
            <a:solidFill>
              <a:srgbClr val="171C24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973568" y="3730752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为什么非要拆四个进程</a:t>
            </a:r>
            <a:endParaRPr lang="en-US" sz="1350" dirty="0"/>
          </a:p>
        </p:txBody>
      </p:sp>
      <p:sp>
        <p:nvSpPr>
          <p:cNvPr id="25" name="Text 22"/>
          <p:cNvSpPr txBox="1"/>
          <p:nvPr/>
        </p:nvSpPr>
        <p:spPr>
          <a:xfrm>
            <a:off x="7973568" y="4133088"/>
            <a:ext cx="3456432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9AA9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安全网关必须是唯一能碰执行器的地方，而且必须能在 AI 进程崩掉之后继续工作。同一个进程里做不到——一个段错误会把两边一起带走。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9AA9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「杀掉 AI 进程后车自己走完路线」这条演示，验的就是这条边界。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五份 JSON Schema 全部 additionalProperties: false；改接口要走 validate.py 的 ALLOWED_DRIFT 白名单流程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93776" cy="49377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894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2918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硬件没到，怎么把「控」这一半做出来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2296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虚拟配电室按针孔投影渲染，所以测出来的是真数，不是推导值</a:t>
            </a:r>
            <a:endParaRPr lang="en-US" sz="1300" dirty="0"/>
          </a:p>
        </p:txBody>
      </p:sp>
      <p:pic>
        <p:nvPicPr>
          <p:cNvPr id="6" name="Image 0" descr="/home/user/2026summer/deliverables/_deck/img/thirdperson_compa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298448"/>
            <a:ext cx="6903720" cy="22677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3657600"/>
            <a:ext cx="6903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第三人称机位：车身 + 云台朝向 + 当前视锥。变焦 1×→3× 时视场角从 60.0° 收紧到 21.8°，并正好罩住被复核的表盘——「指令下去 → 云台转了 → 视场扫过目标」这条因果链第一次是可见的。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7754112" y="1298448"/>
            <a:ext cx="3867912" cy="1188720"/>
          </a:xfrm>
          <a:prstGeom prst="roundRect">
            <a:avLst>
              <a:gd name="adj" fmla="val 5385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973568" y="141732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桩不是占位符</a:t>
            </a:r>
            <a:endParaRPr lang="en-US" sz="1450" dirty="0"/>
          </a:p>
        </p:txBody>
      </p:sp>
      <p:sp>
        <p:nvSpPr>
          <p:cNvPr id="10" name="Text 7"/>
          <p:cNvSpPr txBox="1"/>
          <p:nvPr/>
        </p:nvSpPr>
        <p:spPr>
          <a:xfrm>
            <a:off x="7973568" y="1700784"/>
            <a:ext cx="3474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8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主动注入真机上会出现的麻烦：ACK 丢包 2 %、对焦失败 5 %、真实角速度约束、安全事件 0.05 次/分。赋值即到位的假驱动会让任何判据都显得正确。</a:t>
            </a:r>
            <a:endParaRPr lang="en-US" sz="980" dirty="0"/>
          </a:p>
        </p:txBody>
      </p:sp>
      <p:sp>
        <p:nvSpPr>
          <p:cNvPr id="11" name="Shape 8"/>
          <p:cNvSpPr/>
          <p:nvPr/>
        </p:nvSpPr>
        <p:spPr>
          <a:xfrm>
            <a:off x="7754112" y="2596896"/>
            <a:ext cx="3867912" cy="1188720"/>
          </a:xfrm>
          <a:prstGeom prst="roundRect">
            <a:avLst>
              <a:gd name="adj" fmla="val 5385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973568" y="271576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真值与先验严格分开</a:t>
            </a:r>
            <a:endParaRPr lang="en-US" sz="1450" dirty="0"/>
          </a:p>
        </p:txBody>
      </p:sp>
      <p:sp>
        <p:nvSpPr>
          <p:cNvPr id="13" name="Text 10"/>
          <p:cNvSpPr txBox="1"/>
          <p:nvPr/>
        </p:nvSpPr>
        <p:spPr>
          <a:xfrm>
            <a:off x="7973568" y="2999232"/>
            <a:ext cx="3474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8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world.py 里 truth 只给渲染与打分，感知侧永远读不到——否则精度指标全是自己糊弄自己。这条是整个评测可信度的地基。</a:t>
            </a:r>
            <a:endParaRPr lang="en-US" sz="980" dirty="0"/>
          </a:p>
        </p:txBody>
      </p:sp>
      <p:sp>
        <p:nvSpPr>
          <p:cNvPr id="14" name="Shape 11"/>
          <p:cNvSpPr/>
          <p:nvPr/>
        </p:nvSpPr>
        <p:spPr>
          <a:xfrm>
            <a:off x="7754112" y="3895344"/>
            <a:ext cx="3867912" cy="1188720"/>
          </a:xfrm>
          <a:prstGeom prst="roundRect">
            <a:avLst>
              <a:gd name="adj" fmla="val 5385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973568" y="4014216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硬件到位只改两处</a:t>
            </a:r>
            <a:endParaRPr lang="en-US" sz="1450" dirty="0"/>
          </a:p>
        </p:txBody>
      </p:sp>
      <p:sp>
        <p:nvSpPr>
          <p:cNvPr id="16" name="Text 13"/>
          <p:cNvSpPr txBox="1"/>
          <p:nvPr/>
        </p:nvSpPr>
        <p:spPr>
          <a:xfrm>
            <a:off x="7973568" y="4297680"/>
            <a:ext cx="3474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8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configs/system.yaml 的 driver_mode: stub → real，configs/real.yaml 填端口。上位机代码一行不动。</a:t>
            </a:r>
            <a:endParaRPr lang="en-US" sz="980" dirty="0"/>
          </a:p>
        </p:txBody>
      </p:sp>
      <p:sp>
        <p:nvSpPr>
          <p:cNvPr id="17" name="Shape 14"/>
          <p:cNvSpPr/>
          <p:nvPr/>
        </p:nvSpPr>
        <p:spPr>
          <a:xfrm>
            <a:off x="566928" y="4517136"/>
            <a:ext cx="6903720" cy="1225296"/>
          </a:xfrm>
          <a:prstGeom prst="roundRect">
            <a:avLst>
              <a:gd name="adj" fmla="val 5224"/>
            </a:avLst>
          </a:prstGeom>
          <a:solidFill>
            <a:srgbClr val="D7EFE3"/>
          </a:solidFill>
          <a:ln w="9525">
            <a:solidFill>
              <a:srgbClr val="D7EFE3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22960" y="464515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6B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真车到之前，串口链路已经用「假小车」验通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822960" y="4974336"/>
            <a:ext cx="6400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C6B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fakecar 起独立进程，字节真的过内核（POSIX 走 PTY，Windows 走 TCP 环回）。分帧、CRC、超时、重传、2 % ACK 丢包注入全部照原样发生——证明协议栈与时序逻辑正确。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虚拟配电室 1 131 行 · 驱动抽象层 2 277 行（四个 ABC + 桩 + 真机串口/V4L2）</a:t>
            </a:r>
            <a:endParaRPr lang="en-US" sz="950" dirty="0"/>
          </a:p>
        </p:txBody>
      </p:sp>
      <p:sp>
        <p:nvSpPr>
          <p:cNvPr id="21" name="Text 18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93776" cy="49377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894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2918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工作量总览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2296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从零起步，四周内建成一套可运行、可测量、可演示的完整系统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298448"/>
            <a:ext cx="2651760" cy="1133856"/>
          </a:xfrm>
          <a:prstGeom prst="roundRect">
            <a:avLst>
              <a:gd name="adj" fmla="val 5645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1444752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21 100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02996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行 Python 代码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401568" y="1298448"/>
            <a:ext cx="2651760" cy="1133856"/>
          </a:xfrm>
          <a:prstGeom prst="roundRect">
            <a:avLst>
              <a:gd name="adj" fmla="val 5645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57600" y="1444752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501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3657600" y="202996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项自动化测试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236208" y="1298448"/>
            <a:ext cx="2651760" cy="1133856"/>
          </a:xfrm>
          <a:prstGeom prst="roundRect">
            <a:avLst>
              <a:gd name="adj" fmla="val 5645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92240" y="1444752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3561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4 700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202996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行技术文档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9070848" y="1298448"/>
            <a:ext cx="2651760" cy="1133856"/>
          </a:xfrm>
          <a:prstGeom prst="roundRect">
            <a:avLst>
              <a:gd name="adj" fmla="val 5645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326880" y="1444752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3400" dirty="0"/>
          </a:p>
        </p:txBody>
      </p:sp>
      <p:sp>
        <p:nvSpPr>
          <p:cNvPr id="17" name="Text 15"/>
          <p:cNvSpPr txBox="1"/>
          <p:nvPr/>
        </p:nvSpPr>
        <p:spPr>
          <a:xfrm>
            <a:off x="9326880" y="202996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次版本提交</a:t>
            </a:r>
            <a:endParaRPr lang="en-US" sz="11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615184"/>
          <a:ext cx="690372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822960"/>
                <a:gridCol w="4114800"/>
              </a:tblGrid>
              <a:tr h="2212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模块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行数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职责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</a:tr>
              <a:tr h="22128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patrol/perception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3 665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四路模型 + 融合仲裁 + 成像质量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128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tests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5 900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501 项用例，覆盖率 75 %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128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patrol/tools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2 534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校验 / 预览 / 标定 / 整定 / 假小车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128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patrol/drivers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2 277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四个抽象基类 + 桩 + 真机串口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128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training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1 418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数据集接入 / 三类训练 / ONNX·RKNN 导出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128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patrol/mission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1 309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十状态机 / PID 伺服 / 抑制 / 预算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128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patrol/scene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1 131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针孔光学 / 世界模型 / 表计绘制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128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patrol/common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869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双时间戳 / 报文构造 / ZeroMQ 封装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128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patrol/uploader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918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证据打包 / 断点续传 / 保留策略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128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patrol/gateway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697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五项校验 / 参数硬限 / 心跳看门狗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128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cloud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500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FastAPI + SQLite 台账 + 五个页签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9" name="Shape 16"/>
          <p:cNvSpPr/>
          <p:nvPr/>
        </p:nvSpPr>
        <p:spPr>
          <a:xfrm>
            <a:off x="7754112" y="2615184"/>
            <a:ext cx="3867912" cy="768096"/>
          </a:xfrm>
          <a:prstGeom prst="roundRect">
            <a:avLst>
              <a:gd name="adj" fmla="val 8333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936992" y="2615184"/>
            <a:ext cx="65836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2100" dirty="0"/>
          </a:p>
        </p:txBody>
      </p:sp>
      <p:sp>
        <p:nvSpPr>
          <p:cNvPr id="21" name="Text 18"/>
          <p:cNvSpPr txBox="1"/>
          <p:nvPr/>
        </p:nvSpPr>
        <p:spPr>
          <a:xfrm>
            <a:off x="8613648" y="270662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份冻结 JSON Schema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8613648" y="2980944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3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四条接口的契约，全部 additionalProperties: false</a:t>
            </a:r>
            <a:endParaRPr lang="en-US" sz="930" dirty="0"/>
          </a:p>
        </p:txBody>
      </p:sp>
      <p:sp>
        <p:nvSpPr>
          <p:cNvPr id="23" name="Shape 20"/>
          <p:cNvSpPr/>
          <p:nvPr/>
        </p:nvSpPr>
        <p:spPr>
          <a:xfrm>
            <a:off x="7754112" y="3474720"/>
            <a:ext cx="3867912" cy="768096"/>
          </a:xfrm>
          <a:prstGeom prst="roundRect">
            <a:avLst>
              <a:gd name="adj" fmla="val 8333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936992" y="3474720"/>
            <a:ext cx="65836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2100" dirty="0"/>
          </a:p>
        </p:txBody>
      </p:sp>
      <p:sp>
        <p:nvSpPr>
          <p:cNvPr id="25" name="Text 22"/>
          <p:cNvSpPr txBox="1"/>
          <p:nvPr/>
        </p:nvSpPr>
        <p:spPr>
          <a:xfrm>
            <a:off x="8613648" y="35661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份技术文档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8613648" y="3840480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3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架构、设计思想、ICD、代码地图、新手上路、演示指南…</a:t>
            </a:r>
            <a:endParaRPr lang="en-US" sz="930" dirty="0"/>
          </a:p>
        </p:txBody>
      </p:sp>
      <p:sp>
        <p:nvSpPr>
          <p:cNvPr id="27" name="Shape 24"/>
          <p:cNvSpPr/>
          <p:nvPr/>
        </p:nvSpPr>
        <p:spPr>
          <a:xfrm>
            <a:off x="7754112" y="4334256"/>
            <a:ext cx="3867912" cy="768096"/>
          </a:xfrm>
          <a:prstGeom prst="roundRect">
            <a:avLst>
              <a:gd name="adj" fmla="val 8333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936992" y="4334256"/>
            <a:ext cx="65836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2100" dirty="0"/>
          </a:p>
        </p:txBody>
      </p:sp>
      <p:sp>
        <p:nvSpPr>
          <p:cNvPr id="29" name="Text 26"/>
          <p:cNvSpPr txBox="1"/>
          <p:nvPr/>
        </p:nvSpPr>
        <p:spPr>
          <a:xfrm>
            <a:off x="8613648" y="442569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路识别模型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8613648" y="4700016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3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L1 检测 / L2 分割 + OCR / L3 异常 / L4 显式仲裁</a:t>
            </a:r>
            <a:endParaRPr lang="en-US" sz="930" dirty="0"/>
          </a:p>
        </p:txBody>
      </p:sp>
      <p:sp>
        <p:nvSpPr>
          <p:cNvPr id="31" name="Shape 28"/>
          <p:cNvSpPr/>
          <p:nvPr/>
        </p:nvSpPr>
        <p:spPr>
          <a:xfrm>
            <a:off x="7754112" y="5193792"/>
            <a:ext cx="3867912" cy="768096"/>
          </a:xfrm>
          <a:prstGeom prst="roundRect">
            <a:avLst>
              <a:gd name="adj" fmla="val 8333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936992" y="5193792"/>
            <a:ext cx="65836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2100" dirty="0"/>
          </a:p>
        </p:txBody>
      </p:sp>
      <p:sp>
        <p:nvSpPr>
          <p:cNvPr id="33" name="Text 30"/>
          <p:cNvSpPr txBox="1"/>
          <p:nvPr/>
        </p:nvSpPr>
        <p:spPr>
          <a:xfrm>
            <a:off x="8613648" y="52852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个可当场演示的能力</a:t>
            </a:r>
            <a:endParaRPr lang="en-US" sz="1150" dirty="0"/>
          </a:p>
        </p:txBody>
      </p:sp>
      <p:sp>
        <p:nvSpPr>
          <p:cNvPr id="34" name="Text 31"/>
          <p:cNvSpPr txBox="1"/>
          <p:nvPr/>
        </p:nvSpPr>
        <p:spPr>
          <a:xfrm>
            <a:off x="8613648" y="5559552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3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越界拒绝、看门狗接管、200 ms 中止、变焦对比…</a:t>
            </a:r>
            <a:endParaRPr lang="en-US" sz="930" dirty="0"/>
          </a:p>
        </p:txBody>
      </p:sp>
      <p:sp>
        <p:nvSpPr>
          <p:cNvPr id="35" name="Text 32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统计口径：git 仓库实测，不含空行与第三方依赖</a:t>
            </a:r>
            <a:endParaRPr lang="en-US" sz="950" dirty="0"/>
          </a:p>
        </p:txBody>
      </p:sp>
      <p:sp>
        <p:nvSpPr>
          <p:cNvPr id="36" name="Text 33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93776" cy="49377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894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2918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质量保障：怎么保证这套系统不是「看起来能跑」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2296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三道闸门，每次提交都要全过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298448"/>
            <a:ext cx="3538728" cy="3017520"/>
          </a:xfrm>
          <a:prstGeom prst="roundRect">
            <a:avLst>
              <a:gd name="adj" fmla="val 2121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1481328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51 项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084832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接口一致性校验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450592"/>
            <a:ext cx="303580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Schema 与代码、网关硬编码常量与 Schema 范围逐条交叉比对。含 9 条反例——故意构造越界报文，必须全部被拦下。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49808" y="3822192"/>
            <a:ext cx="3172968" cy="365760"/>
          </a:xfrm>
          <a:prstGeom prst="roundRect">
            <a:avLst>
              <a:gd name="adj" fmla="val 17500"/>
            </a:avLst>
          </a:prstGeom>
          <a:solidFill>
            <a:srgbClr val="171C24"/>
          </a:solidFill>
          <a:ln w="9525">
            <a:solidFill>
              <a:srgbClr val="171C2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59536" y="3822192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94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-m patrol.tools.validate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343400" y="1298448"/>
            <a:ext cx="3538728" cy="3017520"/>
          </a:xfrm>
          <a:prstGeom prst="roundRect">
            <a:avLst>
              <a:gd name="adj" fmla="val 2121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99432" y="1481328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501 项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4599432" y="2084832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自动化测试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599432" y="2450592"/>
            <a:ext cx="303580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覆盖率 75 %。含端到端 300 s 全链路、串口协议往返、状态机超时、网关五项校验、云端台账、证据保留策略。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26280" y="3822192"/>
            <a:ext cx="3172968" cy="365760"/>
          </a:xfrm>
          <a:prstGeom prst="roundRect">
            <a:avLst>
              <a:gd name="adj" fmla="val 17500"/>
            </a:avLst>
          </a:prstGeom>
          <a:solidFill>
            <a:srgbClr val="171C24"/>
          </a:solidFill>
          <a:ln w="9525">
            <a:solidFill>
              <a:srgbClr val="171C2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636008" y="3822192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94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-m pytest -q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8119872" y="1298448"/>
            <a:ext cx="3538728" cy="3017520"/>
          </a:xfrm>
          <a:prstGeom prst="roundRect">
            <a:avLst>
              <a:gd name="adj" fmla="val 2121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375904" y="1481328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561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300 s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8375904" y="2084832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端到端实跑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375904" y="2450592"/>
            <a:ext cx="303580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起全系统跑一轮真实巡检，产出证据包并统计复核增益。跑不出数就是没跑通——不接受「理论上可以」。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302752" y="3822192"/>
            <a:ext cx="3172968" cy="365760"/>
          </a:xfrm>
          <a:prstGeom prst="roundRect">
            <a:avLst>
              <a:gd name="adj" fmla="val 17500"/>
            </a:avLst>
          </a:prstGeom>
          <a:solidFill>
            <a:srgbClr val="171C24"/>
          </a:solidFill>
          <a:ln w="9525">
            <a:solidFill>
              <a:srgbClr val="171C2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412480" y="3822192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94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-m patrol.tools.run_all --seconds 300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566928" y="4535424"/>
            <a:ext cx="11057839" cy="1389888"/>
          </a:xfrm>
          <a:prstGeom prst="roundRect">
            <a:avLst>
              <a:gd name="adj" fmla="val 4605"/>
            </a:avLst>
          </a:prstGeom>
          <a:solidFill>
            <a:srgbClr val="FBEAC9"/>
          </a:solidFill>
          <a:ln w="9525">
            <a:solidFill>
              <a:srgbClr val="FBEAC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77824" y="4681728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8A5A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一条贯穿全项目的纪律：测不到的写「未测」，测出来难看的如实写</a:t>
            </a:r>
            <a:endParaRPr lang="en-US" sz="1450" dirty="0"/>
          </a:p>
        </p:txBody>
      </p:sp>
      <p:sp>
        <p:nvSpPr>
          <p:cNvPr id="26" name="Text 24"/>
          <p:cNvSpPr txBox="1"/>
          <p:nvPr/>
        </p:nvSpPr>
        <p:spPr>
          <a:xfrm>
            <a:off x="877824" y="5047488"/>
            <a:ext cx="10424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A5A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举例：重复性指标 0.321 % FS 压线超差（限值 0.3），我们把它挂在 README 首页而不是调参数凑过去——那等于把误差藏起来。评审最容易问倒人的不是「你这个指标为什么低」，而是「你这个数是怎么来的」。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三道闸门在每次提交前全跑；validate 不过就不提交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93776" cy="49377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894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2918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识别层：为什么不是训一个更大的 YOLO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2296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「这块表有没有问题」听上去是一个问题，做起来是四个，而且它们要的东西互相打架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98448"/>
          <a:ext cx="11057839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2788920"/>
                <a:gridCol w="1920240"/>
                <a:gridCol w="5294376"/>
              </a:tblGrid>
              <a:tr h="4846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问题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要回答的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模型类别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为什么不能合进一个模型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在哪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画面里有哪些设备，框在哪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561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目标检测 L1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要快、要全图扫。巡航期 30 Hz 只跑得起它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多少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指针指向几、液位到哪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561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语义分割 + 几何 L2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要像素级精度。只在放大后的小 ROI 上跑得起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写的什么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铭牌量程、单位、位置指示牌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561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OCR L2′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输出是字符串不是数，损失函数与评价指标都不同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没见过的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训练集里根本没有的异常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561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非监督异常 L3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有监督模型对未知类别系统性沉默——不是识别错，是压根不吭声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信谁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四路证据打架时怎么办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561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显式规则仲裁 L4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必须能逐条讲清「凭什么」，评审第一个问题就是这个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425696"/>
            <a:ext cx="11057839" cy="1609344"/>
          </a:xfrm>
          <a:prstGeom prst="roundRect">
            <a:avLst>
              <a:gd name="adj" fmla="val 3977"/>
            </a:avLst>
          </a:prstGeom>
          <a:solidFill>
            <a:srgbClr val="171C24"/>
          </a:solidFill>
          <a:ln w="9525">
            <a:solidFill>
              <a:srgbClr val="171C2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96112" y="4608576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一个模型全干的代价不是「精度差一点」，是每一路都被别的路拖到跑不动或学不会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896112" y="4992624"/>
            <a:ext cx="104241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AA9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 30 Hz 就不能像素级，要像素级就不能全图扫，要认字就得换一套输出头，要认没见过的就不能用有监督的损失函数。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AA9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这个拆法不是新加的概念——ICD 的 trigger_rule 枚举里 L1/L2/L3 三级判据阶梯本来就写在协议里，verdict.result 的六个取值也正是一个仲裁层该有的六种结论。我们只是把协议里画好的格子填满，没有改任何 Schema。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详见 docs/多模型协同.md（五种协作关系：级联 / 接力 / 互证 / 兜底 / 仲裁）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93776" cy="49377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894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2918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L4 显式仲裁：四路证据 → 六种结论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2296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纯规则、每条结论带 reasons——评审能顺着理由链问到底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298448"/>
            <a:ext cx="3538728" cy="859536"/>
          </a:xfrm>
          <a:prstGeom prst="roundRect">
            <a:avLst>
              <a:gd name="adj" fmla="val 7447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517904"/>
            <a:ext cx="310896" cy="31089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207008" y="138988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CONFIRMED_DEFECT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170078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确认缺陷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43400" y="1298448"/>
            <a:ext cx="3538728" cy="859536"/>
          </a:xfrm>
          <a:prstGeom prst="roundRect">
            <a:avLst>
              <a:gd name="adj" fmla="val 7447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62856" y="1517904"/>
            <a:ext cx="310896" cy="31089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983480" y="138988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READING_ABNORMAL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983480" y="170078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读数越界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119872" y="1298448"/>
            <a:ext cx="3538728" cy="859536"/>
          </a:xfrm>
          <a:prstGeom prst="roundRect">
            <a:avLst>
              <a:gd name="adj" fmla="val 7447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39328" y="1517904"/>
            <a:ext cx="310896" cy="310896"/>
          </a:xfrm>
          <a:prstGeom prst="ellipse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759952" y="138988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READING_OK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759952" y="170078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读数正常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2267712"/>
            <a:ext cx="3538728" cy="859536"/>
          </a:xfrm>
          <a:prstGeom prst="roundRect">
            <a:avLst>
              <a:gd name="adj" fmla="val 7447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86384" y="2487168"/>
            <a:ext cx="310896" cy="310896"/>
          </a:xfrm>
          <a:prstGeom prst="ellipse">
            <a:avLst/>
          </a:prstGeom>
          <a:solidFill>
            <a:srgbClr val="35617D"/>
          </a:solidFill>
          <a:ln w="12700">
            <a:solidFill>
              <a:srgbClr val="35617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207008" y="235915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FALSE_ALARM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207008" y="267004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误报消解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343400" y="2267712"/>
            <a:ext cx="3538728" cy="859536"/>
          </a:xfrm>
          <a:prstGeom prst="roundRect">
            <a:avLst>
              <a:gd name="adj" fmla="val 7447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62856" y="2487168"/>
            <a:ext cx="310896" cy="310896"/>
          </a:xfrm>
          <a:prstGeom prst="ellipse">
            <a:avLst/>
          </a:prstGeom>
          <a:solidFill>
            <a:srgbClr val="E8940C"/>
          </a:solidFill>
          <a:ln w="12700">
            <a:solidFill>
              <a:srgbClr val="E8940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983480" y="235915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UNKNOWN_ANOMALY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4983480" y="267004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未知异常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8119872" y="2267712"/>
            <a:ext cx="3538728" cy="859536"/>
          </a:xfrm>
          <a:prstGeom prst="roundRect">
            <a:avLst>
              <a:gd name="adj" fmla="val 7447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339328" y="2487168"/>
            <a:ext cx="310896" cy="310896"/>
          </a:xfrm>
          <a:prstGeom prst="ellipse">
            <a:avLst/>
          </a:prstGeom>
          <a:solidFill>
            <a:srgbClr val="6B7A8A"/>
          </a:solidFill>
          <a:ln w="12700">
            <a:solidFill>
              <a:srgbClr val="6B7A8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759952" y="235915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INCONCLUSIVE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8759952" y="267004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证据不足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66928" y="3328416"/>
            <a:ext cx="11057839" cy="932688"/>
          </a:xfrm>
          <a:prstGeom prst="roundRect">
            <a:avLst>
              <a:gd name="adj" fmla="val 6863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04672" y="3602736"/>
            <a:ext cx="365760" cy="365760"/>
          </a:xfrm>
          <a:prstGeom prst="ellipse">
            <a:avLst/>
          </a:prstGeom>
          <a:solidFill>
            <a:srgbClr val="FBEAC9"/>
          </a:solidFill>
          <a:ln w="15875">
            <a:solidFill>
              <a:srgbClr val="E8940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04672" y="36027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1335024" y="3456432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举证责任的方向决定系统好不好用</a:t>
            </a:r>
            <a:endParaRPr lang="en-US" sz="1450" dirty="0"/>
          </a:p>
        </p:txBody>
      </p:sp>
      <p:sp>
        <p:nvSpPr>
          <p:cNvPr id="34" name="Text 32"/>
          <p:cNvSpPr txBox="1"/>
          <p:nvPr/>
        </p:nvSpPr>
        <p:spPr>
          <a:xfrm>
            <a:off x="1335024" y="374904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「证据不足」默认判正常还是判可疑，是个产品决策不是技术决策。全判可疑会把人淹死，全判正常会漏掉真问题——所以要分情况显式写死。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66928" y="4352544"/>
            <a:ext cx="11057839" cy="932688"/>
          </a:xfrm>
          <a:prstGeom prst="roundRect">
            <a:avLst>
              <a:gd name="adj" fmla="val 6863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04672" y="4626864"/>
            <a:ext cx="365760" cy="365760"/>
          </a:xfrm>
          <a:prstGeom prst="ellipse">
            <a:avLst/>
          </a:prstGeom>
          <a:solidFill>
            <a:srgbClr val="FBEAC9"/>
          </a:solidFill>
          <a:ln w="15875">
            <a:solidFill>
              <a:srgbClr val="E8940C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04672" y="46268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1335024" y="448056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「证据不足」和「冲突」是两件事</a:t>
            </a:r>
            <a:endParaRPr lang="en-US" sz="1450" dirty="0"/>
          </a:p>
        </p:txBody>
      </p:sp>
      <p:sp>
        <p:nvSpPr>
          <p:cNvPr id="39" name="Text 37"/>
          <p:cNvSpPr txBox="1"/>
          <p:nvPr/>
        </p:nvSpPr>
        <p:spPr>
          <a:xfrm>
            <a:off x="1335024" y="4773168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四路都没说话 ≠ 四路说了但互相矛盾。前者要补观测，后者要交人复核。混成一类，运维就不知道该干什么。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566928" y="5376672"/>
            <a:ext cx="11057839" cy="932688"/>
          </a:xfrm>
          <a:prstGeom prst="roundRect">
            <a:avLst>
              <a:gd name="adj" fmla="val 6863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04672" y="5650992"/>
            <a:ext cx="365760" cy="365760"/>
          </a:xfrm>
          <a:prstGeom prst="ellipse">
            <a:avLst/>
          </a:prstGeom>
          <a:solidFill>
            <a:srgbClr val="FBEAC9"/>
          </a:solidFill>
          <a:ln w="15875">
            <a:solidFill>
              <a:srgbClr val="E8940C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04672" y="56509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1335024" y="550468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密度不达标就不下读数类结论</a:t>
            </a:r>
            <a:endParaRPr lang="en-US" sz="1450" dirty="0"/>
          </a:p>
        </p:txBody>
      </p:sp>
      <p:sp>
        <p:nvSpPr>
          <p:cNvPr id="44" name="Text 42"/>
          <p:cNvSpPr txBox="1"/>
          <p:nvPr/>
        </p:nvSpPr>
        <p:spPr>
          <a:xfrm>
            <a:off x="1335024" y="5797296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fusion.py 的门槛是 120 × 0.8 = 96 px。观测条件不够时宁可报 INCONCLUSIVE，也不出一个看起来精确的假读数。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实现：patrol/perception/fusion.py（278 行，纯规则无学习成分）· 六种结论各有测试用例</a:t>
            </a:r>
            <a:endParaRPr lang="en-US" sz="950" dirty="0"/>
          </a:p>
        </p:txBody>
      </p:sp>
      <p:sp>
        <p:nvSpPr>
          <p:cNvPr id="46" name="Text 44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93776" cy="49377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894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2918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甲 · L1 目标检测：巡航级模型已训成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2296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公开数据集 distribution_room（2 773 张，CC BY 4.0）· yolo11s · 120 轮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298448"/>
            <a:ext cx="2651760" cy="1261872"/>
          </a:xfrm>
          <a:prstGeom prst="roundRect">
            <a:avLst>
              <a:gd name="adj" fmla="val 5072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1499616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0.9949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08483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mAP50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401568" y="1298448"/>
            <a:ext cx="2651760" cy="1261872"/>
          </a:xfrm>
          <a:prstGeom prst="roundRect">
            <a:avLst>
              <a:gd name="adj" fmla="val 5072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57600" y="1499616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3561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0.7513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3657600" y="208483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mAP50-95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236208" y="1298448"/>
            <a:ext cx="2651760" cy="1261872"/>
          </a:xfrm>
          <a:prstGeom prst="roundRect">
            <a:avLst>
              <a:gd name="adj" fmla="val 5072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92240" y="1499616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3561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0.9967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208483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precision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9070848" y="1298448"/>
            <a:ext cx="2651760" cy="1261872"/>
          </a:xfrm>
          <a:prstGeom prst="roundRect">
            <a:avLst>
              <a:gd name="adj" fmla="val 5072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326880" y="1499616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3561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0.9976</a:t>
            </a:r>
            <a:endParaRPr lang="en-US" sz="3400" dirty="0"/>
          </a:p>
        </p:txBody>
      </p:sp>
      <p:sp>
        <p:nvSpPr>
          <p:cNvPr id="17" name="Text 15"/>
          <p:cNvSpPr txBox="1"/>
          <p:nvPr/>
        </p:nvSpPr>
        <p:spPr>
          <a:xfrm>
            <a:off x="9326880" y="208483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recall</a:t>
            </a:r>
            <a:endParaRPr lang="en-US" sz="1150" dirty="0"/>
          </a:p>
        </p:txBody>
      </p:sp>
      <p:pic>
        <p:nvPicPr>
          <p:cNvPr id="18" name="Image 0" descr="/home/user/2026summer/deliverables/_deck/img/l1_p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743200"/>
            <a:ext cx="3520440" cy="2999232"/>
          </a:xfrm>
          <a:prstGeom prst="rect">
            <a:avLst/>
          </a:prstGeom>
        </p:spPr>
      </p:pic>
      <p:pic>
        <p:nvPicPr>
          <p:cNvPr id="19" name="Image 1" descr="/home/user/2026summer/deliverables/_deck/img/l1_resul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9392" y="2743200"/>
            <a:ext cx="4206240" cy="2999232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8668512" y="2743200"/>
            <a:ext cx="2953512" cy="2999232"/>
          </a:xfrm>
          <a:prstGeom prst="roundRect">
            <a:avLst>
              <a:gd name="adj" fmla="val 2167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8869680" y="2907792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561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训练配置</a:t>
            </a:r>
            <a:endParaRPr lang="en-US" sz="1450" dirty="0"/>
          </a:p>
        </p:txBody>
      </p:sp>
      <p:sp>
        <p:nvSpPr>
          <p:cNvPr id="22" name="Text 18"/>
          <p:cNvSpPr txBox="1"/>
          <p:nvPr/>
        </p:nvSpPr>
        <p:spPr>
          <a:xfrm>
            <a:off x="8869680" y="3255264"/>
            <a:ext cx="257860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骨干  yolo11s（预训练起训）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轮次  120 epochs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  640 × 640，batch 4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划分  沿用 Roboflow 原始 train/valid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映射  原始类别 → 本项目三类状态量</a:t>
            </a:r>
            <a:endParaRPr lang="en-US" sz="1050" dirty="0"/>
          </a:p>
        </p:txBody>
      </p:sp>
      <p:sp>
        <p:nvSpPr>
          <p:cNvPr id="23" name="Shape 19"/>
          <p:cNvSpPr/>
          <p:nvPr/>
        </p:nvSpPr>
        <p:spPr>
          <a:xfrm>
            <a:off x="8814816" y="4828032"/>
            <a:ext cx="2670048" cy="859536"/>
          </a:xfrm>
          <a:prstGeom prst="roundRect">
            <a:avLst>
              <a:gd name="adj" fmla="val 7447"/>
            </a:avLst>
          </a:prstGeom>
          <a:solidFill>
            <a:srgbClr val="FBEAC9"/>
          </a:solidFill>
          <a:ln w="9525">
            <a:solidFill>
              <a:srgbClr val="FBEAC9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8961120" y="4901184"/>
            <a:ext cx="23957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8A5A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epoch 1 就有 mAP50 0.9759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8A5A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需先排除 train/val 增广副本串台</a:t>
            </a:r>
            <a:endParaRPr lang="en-US" sz="1000" dirty="0"/>
          </a:p>
        </p:txBody>
      </p:sp>
      <p:sp>
        <p:nvSpPr>
          <p:cNvPr id="25" name="Text 21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产物：deliverables/甲-检测/（stage_meta / args / results.csv / 7 张曲线图）</a:t>
            </a:r>
            <a:endParaRPr lang="en-US" sz="950" dirty="0"/>
          </a:p>
        </p:txBody>
      </p:sp>
      <p:sp>
        <p:nvSpPr>
          <p:cNvPr id="26" name="Text 22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93776" cy="49377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894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2918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甲 · L1 检测：待补齐部分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2296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复核级模型与链路切换对比——明天上午补入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298448"/>
            <a:ext cx="5486400" cy="3584448"/>
          </a:xfrm>
          <a:prstGeom prst="roundRect">
            <a:avLst>
              <a:gd name="adj" fmla="val 1531"/>
            </a:avLst>
          </a:prstGeom>
          <a:solidFill>
            <a:srgbClr val="FDF6E8"/>
          </a:solidFill>
          <a:ln w="22225">
            <a:solidFill>
              <a:srgbClr val="E8940C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841248" y="1536192"/>
            <a:ext cx="365760" cy="365760"/>
          </a:xfrm>
          <a:prstGeom prst="ellipse">
            <a:avLst/>
          </a:prstGeom>
          <a:solidFill>
            <a:srgbClr val="E8940C"/>
          </a:solidFill>
          <a:ln w="12700">
            <a:solidFill>
              <a:srgbClr val="E8940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41248" y="15361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!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35024" y="1517904"/>
            <a:ext cx="4480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5A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训练与指标（明早补）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335024" y="1993392"/>
            <a:ext cx="4389120" cy="2414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6E480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复核级 yolo11m 训练与 mAP50（验收：优于巡航级）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6E480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单帧推理耗时（限值 ≤ 33 ms，巡航期 30 Hz 的硬指标）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6E480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漏检率（限值 ≤ 2 %）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6E480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增广对比表：只用公开集 vs 公开集 + 合成集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6E480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--check-leak 排查结果（train/val 增广副本）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335024" y="4425696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明天上午由甲提供，替换本页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272784" y="1298448"/>
            <a:ext cx="5349240" cy="3584448"/>
          </a:xfrm>
          <a:prstGeom prst="roundRect">
            <a:avLst>
              <a:gd name="adj" fmla="val 1531"/>
            </a:avLst>
          </a:prstGeom>
          <a:solidFill>
            <a:srgbClr val="FDF6E8"/>
          </a:solidFill>
          <a:ln w="22225">
            <a:solidFill>
              <a:srgbClr val="E8940C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6547104" y="1536192"/>
            <a:ext cx="365760" cy="365760"/>
          </a:xfrm>
          <a:prstGeom prst="ellipse">
            <a:avLst/>
          </a:prstGeom>
          <a:solidFill>
            <a:srgbClr val="E8940C"/>
          </a:solidFill>
          <a:ln w="12700">
            <a:solidFill>
              <a:srgbClr val="E8940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47104" y="15361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!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040880" y="1517904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5A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链路切换验证（明早补）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7040880" y="1993392"/>
            <a:ext cx="4251960" cy="2414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6E480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configs/system.yaml → perception.detector: yolo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6E480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run_all 各跑三轮，对比证据包数 / 密度比 / Δconf / 成功率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6E480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验收标准：不退化于合成检测器即为成功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6E480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注意：切到 yolo 后距离由 bbox 反算而非真值透传，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6E480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  指标变化要区分「检测变差」与「距离改估计」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040880" y="4425696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明天上午由甲提供，替换本页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5084064"/>
            <a:ext cx="11057839" cy="969264"/>
          </a:xfrm>
          <a:prstGeom prst="roundRect">
            <a:avLst>
              <a:gd name="adj" fmla="val 6604"/>
            </a:avLst>
          </a:prstGeom>
          <a:solidFill>
            <a:srgbClr val="171C24"/>
          </a:solidFill>
          <a:ln w="9525">
            <a:solidFill>
              <a:srgbClr val="171C2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96112" y="5084064"/>
            <a:ext cx="1042416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AA9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为什么切换对比比 mAP 更重要：它证明「代码先行、模型后训」这条路走通了——上层一行不改，只换配置就能把真权重接进全链路。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本页为占位，明天上午补齐后重新生成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93776" cy="49377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894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2918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乙 · L2 语义分割：接上真实数据后 IoU 三级跃升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2296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针的分割 IoU——公开数据里只有 PaddleX 那一份给了像素级指针标注</a:t>
            </a:r>
            <a:endParaRPr lang="en-US" sz="1300" dirty="0"/>
          </a:p>
        </p:txBody>
      </p:sp>
      <p:pic>
        <p:nvPicPr>
          <p:cNvPr id="6" name="Image 0" descr="/home/user/2026summer/deliverables/_deck/img/l2_io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298448"/>
            <a:ext cx="5577840" cy="345643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364224" y="1298448"/>
            <a:ext cx="5257800" cy="1088136"/>
          </a:xfrm>
          <a:prstGeom prst="roundRect">
            <a:avLst>
              <a:gd name="adj" fmla="val 5882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565392" y="1298448"/>
            <a:ext cx="122529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0.251</a:t>
            </a:r>
            <a:endParaRPr lang="en-US" sz="2500" dirty="0"/>
          </a:p>
        </p:txBody>
      </p:sp>
      <p:sp>
        <p:nvSpPr>
          <p:cNvPr id="9" name="Text 6"/>
          <p:cNvSpPr txBox="1"/>
          <p:nvPr/>
        </p:nvSpPr>
        <p:spPr>
          <a:xfrm>
            <a:off x="7845552" y="1426464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纯合成掩膜训练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7845552" y="1755648"/>
            <a:ext cx="3584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链路先跑通的基线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364224" y="2496312"/>
            <a:ext cx="5257800" cy="1088136"/>
          </a:xfrm>
          <a:prstGeom prst="roundRect">
            <a:avLst>
              <a:gd name="adj" fmla="val 5882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565392" y="2496312"/>
            <a:ext cx="122529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561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0.384</a:t>
            </a:r>
            <a:endParaRPr lang="en-US" sz="2500" dirty="0"/>
          </a:p>
        </p:txBody>
      </p:sp>
      <p:sp>
        <p:nvSpPr>
          <p:cNvPr id="13" name="Text 10"/>
          <p:cNvSpPr txBox="1"/>
          <p:nvPr/>
        </p:nvSpPr>
        <p:spPr>
          <a:xfrm>
            <a:off x="7845552" y="2624328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合成 + PaddleX 真实标注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7845552" y="2953512"/>
            <a:ext cx="3584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同一模型，仅加真实数据 → +0.133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364224" y="3694176"/>
            <a:ext cx="5257800" cy="1088136"/>
          </a:xfrm>
          <a:prstGeom prst="roundRect">
            <a:avLst>
              <a:gd name="adj" fmla="val 5882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565392" y="3694176"/>
            <a:ext cx="122529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0.778</a:t>
            </a:r>
            <a:endParaRPr lang="en-US" sz="2500" dirty="0"/>
          </a:p>
        </p:txBody>
      </p:sp>
      <p:sp>
        <p:nvSpPr>
          <p:cNvPr id="17" name="Text 14"/>
          <p:cNvSpPr txBox="1"/>
          <p:nvPr/>
        </p:nvSpPr>
        <p:spPr>
          <a:xfrm>
            <a:off x="7845552" y="3822192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U-Net（合成 + PaddleX）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7845552" y="4151376"/>
            <a:ext cx="3584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同一评测口径下再翻一倍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566928" y="4937760"/>
            <a:ext cx="11057839" cy="1115568"/>
          </a:xfrm>
          <a:prstGeom prst="roundRect">
            <a:avLst>
              <a:gd name="adj" fmla="val 5738"/>
            </a:avLst>
          </a:prstGeom>
          <a:solidFill>
            <a:srgbClr val="D7EFE3"/>
          </a:solidFill>
          <a:ln w="9525">
            <a:solidFill>
              <a:srgbClr val="D7EFE3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77824" y="5047488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6B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最有价值的结论：卡住分割的是数据，不是模型容量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877824" y="5358384"/>
            <a:ext cx="10424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C6B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 numpy 逻辑回归、同一套评测口径，只是把 PaddleX 的真实像素标注加进训练集，IoU 就从 0.251 涨到 0.384（+53 %）。这直接说明真实标注是瓶颈——也印证了「针 vs 刻度」这一环正是合成数据最教不会的地方。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乙 顺带修了两个只有真跑过才会暴露的 bug：PaddleX 直链 404（且原指向检测集）、标注目录结构不匹配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93776" cy="49377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894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2918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乙 · L2：真实数据接对了没有，只能靠人眼看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2296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掩膜错位在数字上完全看不出来——IoU 照样好看，但学的是错的东西</a:t>
            </a:r>
            <a:endParaRPr lang="en-US" sz="1300" dirty="0"/>
          </a:p>
        </p:txBody>
      </p:sp>
      <p:pic>
        <p:nvPicPr>
          <p:cNvPr id="6" name="Image 0" descr="/home/user/2026summer/deliverables/_deck/img/l2_mas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" y="1298448"/>
            <a:ext cx="10058400" cy="321868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4645152"/>
            <a:ext cx="5394960" cy="1389888"/>
          </a:xfrm>
          <a:prstGeom prst="roundRect">
            <a:avLst>
              <a:gd name="adj" fmla="val 4605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4672" y="4773168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561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两边类别对不齐，这是接的时候唯一要动脑子的地方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804672" y="5084064"/>
            <a:ext cx="495604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本项目  background · face · needle · ticks（四类）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PaddleX  background · pointer · scale（三类，没有盘面）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PaddleX 的 background 大部分其实是盘面，分不开，映射成 255 忽略、不进损失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181344" y="4645152"/>
            <a:ext cx="5440680" cy="1389888"/>
          </a:xfrm>
          <a:prstGeom prst="roundRect">
            <a:avLst>
              <a:gd name="adj" fmla="val 4605"/>
            </a:avLst>
          </a:prstGeom>
          <a:solidFill>
            <a:srgbClr val="D7EFE3"/>
          </a:solidFill>
          <a:ln w="9525">
            <a:solidFill>
              <a:srgbClr val="D7EFE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419088" y="4773168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6B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分工因此变得清楚</a:t>
            </a:r>
            <a:endParaRPr lang="en-US" sz="1450" dirty="0"/>
          </a:p>
        </p:txBody>
      </p:sp>
      <p:sp>
        <p:nvSpPr>
          <p:cNvPr id="12" name="Text 9"/>
          <p:cNvSpPr txBox="1"/>
          <p:nvPr/>
        </p:nvSpPr>
        <p:spPr>
          <a:xfrm>
            <a:off x="6419088" y="5084064"/>
            <a:ext cx="497433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C6B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针与刻度的区分  →  从真实数据学（合成数据最教不会的一环）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C6B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盘面与背景的区分  →  从合成数据学（合成标得毫无争议）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验收标准原文：「人眼看 check/ 里的叠加图确认掩膜没错位」——类别映射错一位，后面所有 IoU 都是错的且不报错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93776" cy="49377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894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2918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乙 · L2：几何法 vs 学习法的比选结论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2296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核心图正在重画——现有版本的采样量不足以支撑结论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298448"/>
            <a:ext cx="5394960" cy="1700784"/>
          </a:xfrm>
          <a:prstGeom prst="roundRect">
            <a:avLst>
              <a:gd name="adj" fmla="val 3763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04672" y="1426464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已确定的部分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1755648"/>
            <a:ext cx="49560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级联单次耗时 ≈ 59 ms，占 VERIFY 预算 2 500 ms 的 2.4 %——预算内</a:t>
            </a:r>
            <a:endParaRPr lang="en-US" sz="1100" dirty="0"/>
          </a:p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分割替换的只是「哪些像素是针」，亚度级精度仍由几何解算给出</a:t>
            </a:r>
            <a:endParaRPr lang="en-US" sz="1100" dirty="0"/>
          </a:p>
          <a:p>
            <a:pPr marL="342900" indent="-342900">
              <a:lnSpc>
                <a:spcPts val="15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读数误差两者同量级（0.06–0.19 % FS），均远优于 0.5 % FS 限值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181344" y="1298448"/>
            <a:ext cx="5440680" cy="1700784"/>
          </a:xfrm>
          <a:prstGeom prst="roundRect">
            <a:avLst>
              <a:gd name="adj" fmla="val 3226"/>
            </a:avLst>
          </a:prstGeom>
          <a:solidFill>
            <a:srgbClr val="FDF6E8"/>
          </a:solidFill>
          <a:ln w="22225">
            <a:solidFill>
              <a:srgbClr val="E8940C"/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6455664" y="1536192"/>
            <a:ext cx="365760" cy="365760"/>
          </a:xfrm>
          <a:prstGeom prst="ellipse">
            <a:avLst/>
          </a:prstGeom>
          <a:solidFill>
            <a:srgbClr val="E8940C"/>
          </a:solidFill>
          <a:ln w="12700">
            <a:solidFill>
              <a:srgbClr val="E8940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55664" y="15361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!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949440" y="1517904"/>
            <a:ext cx="4434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5A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核心图重画（明早补）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949440" y="1993392"/>
            <a:ext cx="4343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6E480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采样量 n=24 → 200 以上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6E480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纵轴改画 P90（中位数在这里会掩盖尾部风险）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6949440" y="2542032"/>
            <a:ext cx="434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明天上午替换 reading_error.png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218688"/>
            <a:ext cx="11057839" cy="2834640"/>
          </a:xfrm>
          <a:prstGeom prst="roundRect">
            <a:avLst>
              <a:gd name="adj" fmla="val 2258"/>
            </a:avLst>
          </a:prstGeom>
          <a:solidFill>
            <a:srgbClr val="171C24"/>
          </a:solidFill>
          <a:ln w="9525">
            <a:solidFill>
              <a:srgbClr val="171C2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96112" y="338328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为什么这张图要重画——这是本次自查最有价值的一个发现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96112" y="3822192"/>
            <a:ext cx="4023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3822192"/>
            <a:ext cx="99669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采样噪声大于待比差异　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9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同一个方法、同一档像素密度，只换随机种子重跑 40 次，中位数在 0.053–0.228 % FS 之间跳。这个区间完整吞掉了几何法（0.06–0.14）与 U-Net（0.07–0.19）的全部差异——两者在 n=24 下无法区分。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4553712"/>
            <a:ext cx="4023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371600" y="4553712"/>
            <a:ext cx="99669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中位数是错的统计量　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9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把采样量提到 200 后中位数几乎不动，动的是尾部：P90 随密度单调下降 0.415 → 0.178 % FS。像素密度买到的是「不出大错」，不是「典型误差更小」——改画 P90 反而正好支持我们的立论。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896112" y="5285232"/>
            <a:ext cx="4023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371600" y="5285232"/>
            <a:ext cx="99669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合成表盘对几何法天然有利　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9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成表盘的指针是死黑线画在近白盘面上，几何法「针是最暗贯穿条」的假设按构造成立且处在最大对比度。分割要修的失效在这个测试集上根本没出现——所以结论只能说「在合成表盘上无法区分」，不能外推到真实表计。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结论措辞：「在合成表盘上三者不可区分」，而非「几何法更优」——比选待真实图误差表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93776" cy="49377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894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2918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丙 · L3 未知异常检测：四方案横向比选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2296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非监督——只用「看起来正常」的样本，绕开缺陷数据不可得的约束</a:t>
            </a:r>
            <a:endParaRPr lang="en-US" sz="13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98448"/>
          <a:ext cx="11057839" cy="914400"/>
        </p:xfrm>
        <a:graphic>
          <a:graphicData uri="http://schemas.openxmlformats.org/drawingml/2006/table">
            <a:tbl>
              <a:tblPr/>
              <a:tblGrid>
                <a:gridCol w="2450592"/>
                <a:gridCol w="2011680"/>
                <a:gridCol w="2148840"/>
                <a:gridCol w="1783080"/>
                <a:gridCol w="2660904"/>
              </a:tblGrid>
              <a:tr h="4069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统计法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基线·零权重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EfficientAD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简化蒸馏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PaDiM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对角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PaDiM 全协方差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（采用）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</a:tr>
              <a:tr h="4069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误报率（正常裁片）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1.9 %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0.0 %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3.8 %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3.8 %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3"/>
                    </a:solidFill>
                  </a:tcPr>
                </a:tc>
              </a:tr>
              <a:tr h="4069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漏报率（异常 120 张）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90.8 %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100 %（分数倒挂）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48.3 %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3.3 %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3"/>
                    </a:solidFill>
                  </a:tcPr>
                </a:tc>
              </a:tr>
              <a:tr h="4069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正常均分 / 异常均分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0.03 / 0.36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0.07 / 0.00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0.04 / 0.56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0.06 / 0.95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3"/>
                    </a:solidFill>
                  </a:tcPr>
                </a:tc>
              </a:tr>
              <a:tr h="4069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权重大小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1.6 KB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2.8 MB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3.1 MB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≈ 44 MB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3"/>
                    </a:solidFill>
                  </a:tcPr>
                </a:tc>
              </a:tr>
              <a:tr h="4069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单次打分（CPU）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 ms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未启用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22 ms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 ms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3"/>
                    </a:solidFill>
                  </a:tcPr>
                </a:tc>
              </a:tr>
              <a:tr h="4069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可解释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✅ 说得清哪个通道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❌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❌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❌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FE3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480560"/>
            <a:ext cx="5394960" cy="1481328"/>
          </a:xfrm>
          <a:prstGeom prst="roundRect">
            <a:avLst>
              <a:gd name="adj" fmla="val 4321"/>
            </a:avLst>
          </a:prstGeom>
          <a:solidFill>
            <a:srgbClr val="F2F5F8"/>
          </a:solidFill>
          <a:ln w="9525">
            <a:solidFill>
              <a:srgbClr val="F2F5F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4672" y="4608576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561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评测条件（同一批样本，阈值统一 0.55）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804672" y="4937760"/>
            <a:ext cx="495604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训练集  796 张正常裁片（密度分层 259 + 复核几何/检测框抖动增广 537）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评测集  另种子正常裁片 106 张 + 异常裁片 120 张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      （场景 FOREIGN_OBJECT 60 + 训练与场景都没见过的合成贴片 60）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181344" y="4480560"/>
            <a:ext cx="5440680" cy="1481328"/>
          </a:xfrm>
          <a:prstGeom prst="roundRect">
            <a:avLst>
              <a:gd name="adj" fmla="val 4321"/>
            </a:avLst>
          </a:prstGeom>
          <a:solidFill>
            <a:srgbClr val="D7EFE3"/>
          </a:solidFill>
          <a:ln w="9525">
            <a:solidFill>
              <a:srgbClr val="D7EFE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419088" y="460857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6B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漏报率 90.8 % → 3.3 %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6419088" y="5010912"/>
            <a:ext cx="497433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C6B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代价是权重从 1.6 KB 涨到 44 MB、打分从 6 ms 到 26 ms，且失去可解释性。部署目标是 RK3576 的 NPU，26 ms 在复核态预算内——这个取舍成立。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EfficientAD 简化蒸馏实测分数倒挂（异常反而更低），未采用——原因与数据一并记录在案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93776" cy="49377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894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2918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丙 · L3：分数分布与 ROC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2296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两堆分数分不分得开，一眼就看得出来</a:t>
            </a:r>
            <a:endParaRPr lang="en-US" sz="1300" dirty="0"/>
          </a:p>
        </p:txBody>
      </p:sp>
      <p:pic>
        <p:nvPicPr>
          <p:cNvPr id="6" name="Image 0" descr="/home/user/2026summer/deliverables/_deck/img/l3_score_di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298448"/>
            <a:ext cx="5440680" cy="3493008"/>
          </a:xfrm>
          <a:prstGeom prst="rect">
            <a:avLst/>
          </a:prstGeom>
        </p:spPr>
      </p:pic>
      <p:pic>
        <p:nvPicPr>
          <p:cNvPr id="7" name="Image 1" descr="/home/user/2026summer/deliverables/_deck/img/l3_ro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1344" y="1298448"/>
            <a:ext cx="5440680" cy="349300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66928" y="4901184"/>
            <a:ext cx="54406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四种方法的正常 / 异常分数分布（竖线 = 阈值 0.55）。全协方差 PaDiM 两簇几乎完全分开；对角版在增广后区分度下降；统计法只抬不越线；EfficientAD 倒挂。</a:t>
            </a:r>
            <a:endParaRPr lang="en-US" sz="1050" dirty="0"/>
          </a:p>
        </p:txBody>
      </p:sp>
      <p:sp>
        <p:nvSpPr>
          <p:cNvPr id="9" name="Text 5"/>
          <p:cNvSpPr txBox="1"/>
          <p:nvPr/>
        </p:nvSpPr>
        <p:spPr>
          <a:xfrm>
            <a:off x="6181344" y="4901184"/>
            <a:ext cx="54406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阈值 0 → 1 全程扫描。全协方差 PaDiM 贴左上角，整条曲线站得住——说明它不是靠某一个阈值点凑出来的成绩。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产物：deliverables/丙-异常/（l3_report.json / baseline.json / onnx_smoke.json / rknn_export.md）</a:t>
            </a:r>
            <a:endParaRPr lang="en-US" sz="950" dirty="0"/>
          </a:p>
        </p:txBody>
      </p:sp>
      <p:sp>
        <p:nvSpPr>
          <p:cNvPr id="11" name="Text 7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93776" cy="49377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894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2918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丙 · L3：两个决定结果的实测发现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2296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比数字本身更值钱——它们解释了为什么第一版会失败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298448"/>
            <a:ext cx="11057839" cy="1956816"/>
          </a:xfrm>
          <a:prstGeom prst="roundRect">
            <a:avLst>
              <a:gd name="adj" fmla="val 3271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536192"/>
            <a:ext cx="420624" cy="420624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15361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408176" y="1499616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训练裁片必须模拟运行时的检测框噪声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408176" y="1938528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现象　</a:t>
            </a:r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系统喂给 L3 的是检测框，而检测框是抖的，会把表盘「切边」。实测切边 12 % 的正常表盘，异常分从 0.5 直接跳到 1.0——全部误报。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1408176" y="2322576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处置　</a:t>
            </a:r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增广集加入抖动框后，系统实测的复核 ROI（600 s 跑出来的 6 张）从「全部 1.0 误报」回到正常分 0.00–0.09。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1408176" y="2761488"/>
            <a:ext cx="9784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教训　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离线数据集的分布必须和运行时管道真正喂进来的分布一致，否则离线指标再好，上线就崩。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66928" y="3529584"/>
            <a:ext cx="11057839" cy="1956816"/>
          </a:xfrm>
          <a:prstGeom prst="roundRect">
            <a:avLst>
              <a:gd name="adj" fmla="val 3271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3767328"/>
            <a:ext cx="420624" cy="420624"/>
          </a:xfrm>
          <a:prstGeom prst="ellipse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37673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408176" y="3730752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L3 与 L2 的分工在数据上看得见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408176" y="4169664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现象　</a:t>
            </a:r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开位的开关被 L2 判为 READING_ABNORMAL（状态异常），而 L3 对它的外观给正常分。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408176" y="4553712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处置　</a:t>
            </a:r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外观异常（FOREIGN_OBJECT 异物）才是 L3 该管的——两层各司其职，没有互相顶替。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1408176" y="4992624"/>
            <a:ext cx="9784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教训　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这条印证了「四类模型分开做」的设计：它们回答的不是同一个问题，所以不该用同一个指标去衡量。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两条都写进了交付文档——「为什么第一版失败」比「最终版多好」更能说明我们真的跑通了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93776" cy="49377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894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2918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三条识别路线：阶段性小结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2296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每一条都给出了可测的数，也都写清了还没测的部分</a:t>
            </a:r>
            <a:endParaRPr lang="en-US" sz="13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98448"/>
          <a:ext cx="11057839" cy="914400"/>
        </p:xfrm>
        <a:graphic>
          <a:graphicData uri="http://schemas.openxmlformats.org/drawingml/2006/table">
            <a:tbl>
              <a:tblPr/>
              <a:tblGrid>
                <a:gridCol w="1572768"/>
                <a:gridCol w="566928"/>
                <a:gridCol w="3749040"/>
                <a:gridCol w="3063240"/>
                <a:gridCol w="2103120"/>
              </a:tblGrid>
              <a:tr h="7863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路线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负责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已完成 · 实测数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比选结论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待补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561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L1 目标检测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甲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巡航级 yolo11s：mAP50 0.9949 / mAP50-95 0.7513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公开集训练可用，合成集仅做增广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复核级、耗时、切换对比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561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L2 语义分割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乙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针 IoU 0.251 → 0.384 → 0.778；耗时 59 ms 在预算内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合成表盘上与几何法不可区分，保持几何法为默认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核心图重画、真实图误差表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561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L3 未知异常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丙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漏报 90.8 % → 3.3 %，误报 3.8 %；ROC 贴左上角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PaDiM 全协方差胜出，EfficientAD 倒挂未采用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上板 INT8 掉点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681728"/>
            <a:ext cx="11057839" cy="1371600"/>
          </a:xfrm>
          <a:prstGeom prst="roundRect">
            <a:avLst>
              <a:gd name="adj" fmla="val 4667"/>
            </a:avLst>
          </a:prstGeom>
          <a:solidFill>
            <a:srgbClr val="F2F5F8"/>
          </a:solidFill>
          <a:ln w="9525">
            <a:solidFill>
              <a:srgbClr val="F2F5F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77824" y="482803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三条路线共同印证了一条设计判断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5175504"/>
            <a:ext cx="104241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L1 靠公开数据训纹理多样性、L2 靠真实标注学「针 vs 刻度」、L3 靠合成正常样本绕开缺陷数据不可得——三条路各自需要的数据完全不同。这正是「四类模型分开做」而不是「训一个更大的模型」的实证依据。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三份完整交付见 deliverables/ 下各自目录（一页纸 + 图 + 产物 + 复现命令）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93776" cy="49377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894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2918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安全边界：三层防线，每一条都能当场演示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2296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方案书说安全设计的说服力不在于声明，在于能当场演示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298448"/>
            <a:ext cx="11057839" cy="1280160"/>
          </a:xfrm>
          <a:prstGeom prst="roundRect">
            <a:avLst>
              <a:gd name="adj" fmla="val 5000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298448"/>
            <a:ext cx="82296" cy="128016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59536" y="1408176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第一层 · 指令白名单与参数硬限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59536" y="1737360"/>
            <a:ext cx="50292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五项校验逐条上报 PASS / FAIL / SKIP。参数范围硬编码在代码里，不放配置——配置能被改，边界不能。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071616" y="1426464"/>
            <a:ext cx="5532120" cy="384048"/>
          </a:xfrm>
          <a:prstGeom prst="roundRect">
            <a:avLst>
              <a:gd name="adj" fmla="val 16667"/>
            </a:avLst>
          </a:prstGeom>
          <a:solidFill>
            <a:srgbClr val="171C24"/>
          </a:solidFill>
          <a:ln w="9525">
            <a:solidFill>
              <a:srgbClr val="171C2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199632" y="1426464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94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pytest tests/test_gateway.py -k out_of_range -v</a:t>
            </a:r>
            <a:endParaRPr lang="en-US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6071616" y="1901952"/>
            <a:ext cx="5532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越界指令被拒，并留下逐项校验的审计记录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66928" y="2706624"/>
            <a:ext cx="11057839" cy="1280160"/>
          </a:xfrm>
          <a:prstGeom prst="roundRect">
            <a:avLst>
              <a:gd name="adj" fmla="val 5000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66928" y="2706624"/>
            <a:ext cx="82296" cy="1280160"/>
          </a:xfrm>
          <a:prstGeom prst="rect">
            <a:avLst/>
          </a:prstGeom>
          <a:solidFill>
            <a:srgbClr val="E8940C"/>
          </a:solidFill>
          <a:ln w="12700">
            <a:solidFill>
              <a:srgbClr val="E8940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59536" y="2816352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第二层 · 心跳看门狗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59536" y="3145536"/>
            <a:ext cx="50292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进程崩掉后，网关 1.5 s 内接管，下发 RESUME 让车自己走完路线。这正是四进程拆分的意义。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071616" y="2834640"/>
            <a:ext cx="5532120" cy="384048"/>
          </a:xfrm>
          <a:prstGeom prst="roundRect">
            <a:avLst>
              <a:gd name="adj" fmla="val 16667"/>
            </a:avLst>
          </a:prstGeom>
          <a:solidFill>
            <a:srgbClr val="171C24"/>
          </a:solidFill>
          <a:ln w="9525">
            <a:solidFill>
              <a:srgbClr val="171C2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199632" y="2834640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94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-m patrol.tools.run_all &amp;  然后  pkill -f patrol.mission.node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6071616" y="3310128"/>
            <a:ext cx="5532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杀掉 AI 进程后，车自己走完路线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4114800"/>
            <a:ext cx="11057839" cy="1280160"/>
          </a:xfrm>
          <a:prstGeom prst="roundRect">
            <a:avLst>
              <a:gd name="adj" fmla="val 5000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66928" y="4114800"/>
            <a:ext cx="82296" cy="1280160"/>
          </a:xfrm>
          <a:prstGeom prst="rect">
            <a:avLst/>
          </a:prstGeom>
          <a:solidFill>
            <a:srgbClr val="35617D"/>
          </a:solidFill>
          <a:ln w="12700">
            <a:solidFill>
              <a:srgbClr val="35617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59536" y="4224528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第三层 · 安全事件抢占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59536" y="4553712"/>
            <a:ext cx="50292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任何时刻的安全事件都能打断正在进行的复核，200 ms 内中止并回到安全状态。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071616" y="4242816"/>
            <a:ext cx="5532120" cy="384048"/>
          </a:xfrm>
          <a:prstGeom prst="roundRect">
            <a:avLst>
              <a:gd name="adj" fmla="val 16667"/>
            </a:avLst>
          </a:prstGeom>
          <a:solidFill>
            <a:srgbClr val="171C24"/>
          </a:solidFill>
          <a:ln w="9525">
            <a:solidFill>
              <a:srgbClr val="171C2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199632" y="4242816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94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pytest tests/test_fsm.py -k safety -v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6071616" y="4718304"/>
            <a:ext cx="5532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561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注入安全事件，正在进行的复核 200 ms 内中止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66928" y="5596128"/>
            <a:ext cx="11057839" cy="566928"/>
          </a:xfrm>
          <a:prstGeom prst="roundRect">
            <a:avLst>
              <a:gd name="adj" fmla="val 11290"/>
            </a:avLst>
          </a:prstGeom>
          <a:solidFill>
            <a:srgbClr val="F2F5F8"/>
          </a:solidFill>
          <a:ln w="9525">
            <a:solidFill>
              <a:srgbClr val="F2F5F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77824" y="5596128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所有指向底盘和云台的动作只有 gateway 一个出口——这是安全边界第一层的物理保证，不是约定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网关 697 行：node.py 收发与审计 / checks.py 五项校验 / limits.py 参数硬限 / watchdog.py 看门狗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93776" cy="49377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894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2918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云台控制：变焦增益调度是必需的，不是优化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2296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方案书 §11.1 点名的交付物——阶跃响应曲线（本次实测）</a:t>
            </a:r>
            <a:endParaRPr lang="en-US" sz="1300" dirty="0"/>
          </a:p>
        </p:txBody>
      </p:sp>
      <p:pic>
        <p:nvPicPr>
          <p:cNvPr id="6" name="Image 0" descr="/home/user/2026summer/deliverables/_deck/img/pid_ste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298448"/>
            <a:ext cx="6675120" cy="4078224"/>
          </a:xfrm>
          <a:prstGeom prst="rect">
            <a:avLst/>
          </a:prstGeom>
        </p:spPr>
      </p:pic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43216" y="1298448"/>
          <a:ext cx="4178808" cy="914400"/>
        </p:xfrm>
        <a:graphic>
          <a:graphicData uri="http://schemas.openxmlformats.org/drawingml/2006/table">
            <a:tbl>
              <a:tblPr/>
              <a:tblGrid>
                <a:gridCol w="1572768"/>
                <a:gridCol w="841248"/>
                <a:gridCol w="987552"/>
                <a:gridCol w="7772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工况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超调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调节时间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结论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1× 广角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3.0 %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0.901 s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达标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3× 变焦（有调度）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1.0 %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1.202 s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达标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3× 变焦（关调度）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37.7 %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1.102 s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不可接受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7443216" y="2999232"/>
            <a:ext cx="4178808" cy="1481328"/>
          </a:xfrm>
          <a:prstGeom prst="roundRect">
            <a:avLst>
              <a:gd name="adj" fmla="val 4321"/>
            </a:avLst>
          </a:prstGeom>
          <a:solidFill>
            <a:srgbClr val="F2F5F8"/>
          </a:solidFill>
          <a:ln w="9525">
            <a:solidFill>
              <a:srgbClr val="F2F5F8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7662672" y="312724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561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为什么必须做增益调度</a:t>
            </a:r>
            <a:endParaRPr lang="en-US" sz="1450" dirty="0"/>
          </a:p>
        </p:txBody>
      </p:sp>
      <p:sp>
        <p:nvSpPr>
          <p:cNvPr id="10" name="Text 6"/>
          <p:cNvSpPr txBox="1"/>
          <p:nvPr/>
        </p:nvSpPr>
        <p:spPr>
          <a:xfrm>
            <a:off x="7662672" y="3456432"/>
            <a:ext cx="37490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同样一度的云台转角，在 3× 变焦下画面里移动的像素是 1× 的三倍。不按倍率缩放控制量，等于把增益直接放大三倍——必然过冲。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ω = θ / (W · z) · u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7443216" y="4608576"/>
            <a:ext cx="4178808" cy="1005840"/>
          </a:xfrm>
          <a:prstGeom prst="roundRect">
            <a:avLst>
              <a:gd name="adj" fmla="val 6364"/>
            </a:avLst>
          </a:prstGeom>
          <a:solidFill>
            <a:srgbClr val="FBEAC9"/>
          </a:solidFill>
          <a:ln w="9525">
            <a:solidFill>
              <a:srgbClr val="FBEAC9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662672" y="4718304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5A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超调 1.0 % → 37.7 %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7662672" y="5047488"/>
            <a:ext cx="37673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8A5A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关掉调度后过冲近 40 %，图中绿线一眼可见——这条对比就是「控」这一半的核心证据。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复现：python -m patrol.tools.tune_pid --out out/pid --compare-gain-schedule（本页数据为本次实测，README 旧值已更新）</a:t>
            </a:r>
            <a:endParaRPr lang="en-US" sz="950" dirty="0"/>
          </a:p>
        </p:txBody>
      </p:sp>
      <p:sp>
        <p:nvSpPr>
          <p:cNvPr id="15" name="Text 11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93776" cy="49377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894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2918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端到端：全系统跑一轮真实巡检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2296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四个进程 + 云端台账全链路，300 秒一轮，跑完出小结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298448"/>
            <a:ext cx="2651760" cy="1316736"/>
          </a:xfrm>
          <a:prstGeom prst="roundRect">
            <a:avLst>
              <a:gd name="adj" fmla="val 4861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04672" y="153619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+ 1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2121408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进程全链路打通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401568" y="1298448"/>
            <a:ext cx="2651760" cy="1316736"/>
          </a:xfrm>
          <a:prstGeom prst="roundRect">
            <a:avLst>
              <a:gd name="adj" fmla="val 4861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39312" y="153619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3561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– 6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3639312" y="2121408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每轮产出证据包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236208" y="1298448"/>
            <a:ext cx="2651760" cy="1316736"/>
          </a:xfrm>
          <a:prstGeom prst="roundRect">
            <a:avLst>
              <a:gd name="adj" fmla="val 4861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73952" y="153619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1.9 – 2.3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6473952" y="2121408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复核前后像素密度比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9070848" y="1298448"/>
            <a:ext cx="2651760" cy="1316736"/>
          </a:xfrm>
          <a:prstGeom prst="roundRect">
            <a:avLst>
              <a:gd name="adj" fmla="val 4861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308592" y="153619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+0.44</a:t>
            </a:r>
            <a:endParaRPr lang="en-US" sz="3400" dirty="0"/>
          </a:p>
        </p:txBody>
      </p:sp>
      <p:sp>
        <p:nvSpPr>
          <p:cNvPr id="17" name="Text 15"/>
          <p:cNvSpPr txBox="1"/>
          <p:nvPr/>
        </p:nvSpPr>
        <p:spPr>
          <a:xfrm>
            <a:off x="9308592" y="2121408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真缺陷组 Δconf（目标 &gt; +0.25）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2816352"/>
            <a:ext cx="6675120" cy="2340864"/>
          </a:xfrm>
          <a:prstGeom prst="roundRect">
            <a:avLst>
              <a:gd name="adj" fmla="val 2734"/>
            </a:avLst>
          </a:prstGeom>
          <a:solidFill>
            <a:srgbClr val="171C24"/>
          </a:solidFill>
          <a:ln w="9525">
            <a:solidFill>
              <a:srgbClr val="171C2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41248" y="2962656"/>
            <a:ext cx="6126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一轮巡检小结（实测输出）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841248" y="3310128"/>
            <a:ext cx="6126480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9AA9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证据包 6 个，复核成功率 83.3 %（目标 &gt; 85 %）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9AA9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结论                条数    平均Δconf   平均密度比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9AA9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READING_ABNORMAL       2      0.4441      2.2922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9AA9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READING_OK             4      0.5644      1.5699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9AA9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真缺陷组 Δconf 均值 = 0.4441（目标 &gt; +0.25）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7443216" y="2816352"/>
            <a:ext cx="4178808" cy="2340864"/>
          </a:xfrm>
          <a:prstGeom prst="roundRect">
            <a:avLst>
              <a:gd name="adj" fmla="val 2734"/>
            </a:avLst>
          </a:prstGeom>
          <a:solidFill>
            <a:srgbClr val="FBEAC9"/>
          </a:solidFill>
          <a:ln w="9525">
            <a:solidFill>
              <a:srgbClr val="FBEAC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662672" y="2962656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8A5A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如实报告：成功率未达目标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7662672" y="3310128"/>
            <a:ext cx="376732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8A5A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两轮实测为 83.3 % 与 75.0 %，均低于 85 % 的目标；文档记录的正常波动区间是 50 %–100 %。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8A5A0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主因是偶发的证据包配对失败——before 记录为空导致密度比为 0，该包不计入成功。这是已定位、未修复的缺陷，写进了待办而不是调参数掩盖。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66928" y="5340096"/>
            <a:ext cx="1316736" cy="658368"/>
          </a:xfrm>
          <a:prstGeom prst="roundRect">
            <a:avLst>
              <a:gd name="adj" fmla="val 9722"/>
            </a:avLst>
          </a:prstGeom>
          <a:solidFill>
            <a:srgbClr val="D9E4EC"/>
          </a:solidFill>
          <a:ln w="9525">
            <a:solidFill>
              <a:srgbClr val="D9E4E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21792" y="5340096"/>
            <a:ext cx="12070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感知 30 Hz 巡航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1952244" y="5340096"/>
            <a:ext cx="1316736" cy="658368"/>
          </a:xfrm>
          <a:prstGeom prst="roundRect">
            <a:avLst>
              <a:gd name="adj" fmla="val 9722"/>
            </a:avLst>
          </a:prstGeom>
          <a:solidFill>
            <a:srgbClr val="F2F5F8"/>
          </a:solidFill>
          <a:ln w="9525">
            <a:solidFill>
              <a:srgbClr val="F2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007108" y="5340096"/>
            <a:ext cx="12070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IF-1 可疑事件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3337560" y="5340096"/>
            <a:ext cx="1316736" cy="658368"/>
          </a:xfrm>
          <a:prstGeom prst="roundRect">
            <a:avLst>
              <a:gd name="adj" fmla="val 9722"/>
            </a:avLst>
          </a:prstGeom>
          <a:solidFill>
            <a:srgbClr val="D9E4EC"/>
          </a:solidFill>
          <a:ln w="9525">
            <a:solidFill>
              <a:srgbClr val="D9E4EC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392424" y="5340096"/>
            <a:ext cx="12070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任务状态机决策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722876" y="5340096"/>
            <a:ext cx="1316736" cy="658368"/>
          </a:xfrm>
          <a:prstGeom prst="roundRect">
            <a:avLst>
              <a:gd name="adj" fmla="val 9722"/>
            </a:avLst>
          </a:prstGeom>
          <a:solidFill>
            <a:srgbClr val="F2F5F8"/>
          </a:solidFill>
          <a:ln w="9525">
            <a:solidFill>
              <a:srgbClr val="F2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777740" y="5340096"/>
            <a:ext cx="12070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IF-2 网关校验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108192" y="5340096"/>
            <a:ext cx="1316736" cy="658368"/>
          </a:xfrm>
          <a:prstGeom prst="roundRect">
            <a:avLst>
              <a:gd name="adj" fmla="val 9722"/>
            </a:avLst>
          </a:prstGeom>
          <a:solidFill>
            <a:srgbClr val="D9E4EC"/>
          </a:solidFill>
          <a:ln w="9525">
            <a:solidFill>
              <a:srgbClr val="D9E4EC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163056" y="5340096"/>
            <a:ext cx="12070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执行器动作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7493508" y="5340096"/>
            <a:ext cx="1316736" cy="658368"/>
          </a:xfrm>
          <a:prstGeom prst="roundRect">
            <a:avLst>
              <a:gd name="adj" fmla="val 9722"/>
            </a:avLst>
          </a:prstGeom>
          <a:solidFill>
            <a:srgbClr val="F2F5F8"/>
          </a:solidFill>
          <a:ln w="9525">
            <a:solidFill>
              <a:srgbClr val="F2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548372" y="5340096"/>
            <a:ext cx="12070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四路模型复核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8878824" y="5340096"/>
            <a:ext cx="1316736" cy="658368"/>
          </a:xfrm>
          <a:prstGeom prst="roundRect">
            <a:avLst>
              <a:gd name="adj" fmla="val 9722"/>
            </a:avLst>
          </a:prstGeom>
          <a:solidFill>
            <a:srgbClr val="D9E4EC"/>
          </a:solidFill>
          <a:ln w="9525">
            <a:solidFill>
              <a:srgbClr val="D9E4EC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933688" y="5340096"/>
            <a:ext cx="12070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证据包组装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10264140" y="5340096"/>
            <a:ext cx="1316736" cy="658368"/>
          </a:xfrm>
          <a:prstGeom prst="roundRect">
            <a:avLst>
              <a:gd name="adj" fmla="val 9722"/>
            </a:avLst>
          </a:prstGeom>
          <a:solidFill>
            <a:srgbClr val="F2F5F8"/>
          </a:solidFill>
          <a:ln w="9525">
            <a:solidFill>
              <a:srgbClr val="F2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10319004" y="5340096"/>
            <a:ext cx="12070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云端台账入库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复现：python -m patrol.tools.run_all --seconds 300　然后浏览器开 127.0.0.1:8000 看台账与实时页</a:t>
            </a:r>
            <a:endParaRPr lang="en-US" sz="950" dirty="0"/>
          </a:p>
        </p:txBody>
      </p:sp>
      <p:sp>
        <p:nvSpPr>
          <p:cNvPr id="41" name="Text 39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71C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65836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本阶段最重要的一条方法论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133856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测试集太容易时，</a:t>
            </a:r>
            <a:endParaRPr lang="en-US" sz="32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比选结论是被数据决定的，不是被方法决定的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2926080"/>
            <a:ext cx="3456432" cy="2212848"/>
          </a:xfrm>
          <a:prstGeom prst="roundRect">
            <a:avLst>
              <a:gd name="adj" fmla="val 2893"/>
            </a:avLst>
          </a:prstGeom>
          <a:solidFill>
            <a:srgbClr val="222A35"/>
          </a:solidFill>
          <a:ln w="9525">
            <a:solidFill>
              <a:srgbClr val="3340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4672" y="3090672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L1 检测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04672" y="3438144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mAP50 = 0.9949，epoch 1 就有 0.9759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3950208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9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指标几乎打满，复核级「优于巡航级 5 个点」的验收标准已无余量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270248" y="2926080"/>
            <a:ext cx="3456432" cy="2212848"/>
          </a:xfrm>
          <a:prstGeom prst="roundRect">
            <a:avLst>
              <a:gd name="adj" fmla="val 2893"/>
            </a:avLst>
          </a:prstGeom>
          <a:solidFill>
            <a:srgbClr val="222A35"/>
          </a:solidFill>
          <a:ln w="9525">
            <a:solidFill>
              <a:srgbClr val="33404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07992" y="3090672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L2 分割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507992" y="3438144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n=24 时中位数噪声 0.053–0.228 % FS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507992" y="3950208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9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噪声区间吞掉了几何法与 U-Net 的全部差异，两者无法区分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973568" y="2926080"/>
            <a:ext cx="3456432" cy="2212848"/>
          </a:xfrm>
          <a:prstGeom prst="roundRect">
            <a:avLst>
              <a:gd name="adj" fmla="val 2893"/>
            </a:avLst>
          </a:prstGeom>
          <a:solidFill>
            <a:srgbClr val="222A35"/>
          </a:solidFill>
          <a:ln w="9525">
            <a:solidFill>
              <a:srgbClr val="33404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11312" y="3090672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L3 异常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211312" y="3438144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统计法基线在原样本上误报漏报皆为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8211312" y="3950208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9AA9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换成更难的增广样本后才暴露出 90.8 % 漏报，比选这才有意义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5394960"/>
            <a:ext cx="10515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9AA9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三条路线各自独立撞上同一件事——只有丙主动把样本做难，比选表才真正有信息量。这条经验已经写进三份交付文档，作为下一阶段所有对比实验的前置检查。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9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93776" cy="49377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894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2918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风险与未决事项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2296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如实列出——包含两项已定位但尚未修复的缺陷</a:t>
            </a:r>
            <a:endParaRPr lang="en-US" sz="13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98448"/>
          <a:ext cx="11057839" cy="914400"/>
        </p:xfrm>
        <a:graphic>
          <a:graphicData uri="http://schemas.openxmlformats.org/drawingml/2006/table">
            <a:tbl>
              <a:tblPr/>
              <a:tblGrid>
                <a:gridCol w="2395728"/>
                <a:gridCol w="1005840"/>
                <a:gridCol w="2926080"/>
                <a:gridCol w="4727448"/>
              </a:tblGrid>
              <a:tr h="4983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项目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影响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处置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7D"/>
                    </a:solidFill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重复性 0.321 % FS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超差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限值 0.3 %，压线且逐次浮动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受检测框噪声支配，非算法极限；不调参掩盖，列入待办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证据包配对偶发丢 before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缺陷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该包密度比为 0，复核成功率被拉低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已定位到 uploader 配对逻辑，下一阶段修复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复核成功率 75–83 %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未达标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目标 &gt; 85 %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主因同上；修复配对后重新评估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mAP50 0.9949 偏高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待核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可能存在 train/val 增广副本串台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已实现 --check-leak 排查命令，明日出结果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真实表盘读数误差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894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未测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L2 比选无法外推到真实表计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PaddleX 无读数真值，需另找带真值的数据或人工标注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RKNN 上板实测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阻塞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02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INT8 掉点与实际帧率未知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7A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导出链路已通过 ONNX 冒烟推理，等板子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846320"/>
            <a:ext cx="11057839" cy="1170432"/>
          </a:xfrm>
          <a:prstGeom prst="roundRect">
            <a:avLst>
              <a:gd name="adj" fmla="val 5469"/>
            </a:avLst>
          </a:prstGeom>
          <a:solidFill>
            <a:srgbClr val="F2F5F8"/>
          </a:solidFill>
          <a:ln w="9525">
            <a:solidFill>
              <a:srgbClr val="F2F5F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77824" y="4846320"/>
            <a:ext cx="10424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这一页刻意不做美化。项目从头到尾的原则是「证据不足时说不足，不猜」——重复性超差挂在 README 首页，端到端成功率如实报 75–83 %，EfficientAD 失败照样写进比选表。评审最容易问倒人的不是「你这个指标为什么低」，而是「你这个数是怎么来的」。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六项风险中四项有明确处置路径，两项（真实读数真值、上板）受外部条件约束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93776" cy="49377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894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2918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下一阶段计划与分工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2296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按接口边界切分，四条线可并行推进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298448"/>
            <a:ext cx="5440680" cy="2084832"/>
          </a:xfrm>
          <a:prstGeom prst="roundRect">
            <a:avLst>
              <a:gd name="adj" fmla="val 3070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04672" y="1499616"/>
            <a:ext cx="365760" cy="365760"/>
          </a:xfrm>
          <a:prstGeom prst="ellipse">
            <a:avLst/>
          </a:prstGeom>
          <a:solidFill>
            <a:srgbClr val="35617D"/>
          </a:solidFill>
          <a:ln w="12700">
            <a:solidFill>
              <a:srgbClr val="35617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04672" y="14996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甲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298448" y="148132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甲 · L1 检测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98448" y="1956816"/>
            <a:ext cx="448056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4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跑 --check-leak 排除 train/val 串台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训练复核级 yolo11m 并导出 ONNX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测单帧耗时与漏检率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切 detector: yolo，run_all 三轮对比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81344" y="1298448"/>
            <a:ext cx="5440680" cy="2084832"/>
          </a:xfrm>
          <a:prstGeom prst="roundRect">
            <a:avLst>
              <a:gd name="adj" fmla="val 3070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19088" y="1499616"/>
            <a:ext cx="365760" cy="365760"/>
          </a:xfrm>
          <a:prstGeom prst="ellipse">
            <a:avLst/>
          </a:prstGeom>
          <a:solidFill>
            <a:srgbClr val="35617D"/>
          </a:solidFill>
          <a:ln w="12700">
            <a:solidFill>
              <a:srgbClr val="35617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19088" y="14996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乙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912864" y="148132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乙 · L2 分割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912864" y="1956816"/>
            <a:ext cx="448056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4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核心图重画：n≥200，纵轴改 P90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 split.json 交代训练/验证划分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重跑 make_figures 修正图例配色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寻找带读数真值的真实表盘数据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3547872"/>
            <a:ext cx="5440680" cy="2084832"/>
          </a:xfrm>
          <a:prstGeom prst="roundRect">
            <a:avLst>
              <a:gd name="adj" fmla="val 3070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4672" y="3749040"/>
            <a:ext cx="365760" cy="365760"/>
          </a:xfrm>
          <a:prstGeom prst="ellipse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04672" y="3749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丙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298448" y="3730752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丙 · L3 异常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298448" y="4206240"/>
            <a:ext cx="448056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4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RKNN 导出与上板实测（等板子）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 FP32 / INT8 两组数与掉点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量化校准集从 evidence/ 取本场景图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已完成主体，转入部署验证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181344" y="3547872"/>
            <a:ext cx="5440680" cy="2084832"/>
          </a:xfrm>
          <a:prstGeom prst="roundRect">
            <a:avLst>
              <a:gd name="adj" fmla="val 3070"/>
            </a:avLst>
          </a:prstGeom>
          <a:solidFill>
            <a:srgbClr val="F2F5F8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19088" y="3749040"/>
            <a:ext cx="365760" cy="365760"/>
          </a:xfrm>
          <a:prstGeom prst="ellipse">
            <a:avLst/>
          </a:prstGeom>
          <a:solidFill>
            <a:srgbClr val="E8940C"/>
          </a:solidFill>
          <a:ln w="12700">
            <a:solidFill>
              <a:srgbClr val="E8940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419088" y="3749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912864" y="3730752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0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组长 · 系统与交付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912864" y="4206240"/>
            <a:ext cx="448056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4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修复证据包配对丢 before 的缺陷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重复性超差归因（检测框噪声定量）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故障率 → 复核成功率的可靠性曲线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答辩材料与演示脚本收口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66928" y="6382512"/>
            <a:ext cx="10234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分工按接口边界切，不按文件数切——四个人可以并行改，不会互相踩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11076127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71C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90288" y="1481328"/>
            <a:ext cx="3017520" cy="3017520"/>
          </a:xfrm>
          <a:prstGeom prst="ellipse">
            <a:avLst/>
          </a:prstGeom>
          <a:solidFill>
            <a:srgbClr val="171C24"/>
          </a:solidFill>
          <a:ln w="15875">
            <a:solidFill>
              <a:srgbClr val="2C384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01768" y="1892808"/>
            <a:ext cx="2194560" cy="2194560"/>
          </a:xfrm>
          <a:prstGeom prst="ellipse">
            <a:avLst/>
          </a:prstGeom>
          <a:solidFill>
            <a:srgbClr val="171C24"/>
          </a:solidFill>
          <a:ln w="22225">
            <a:solidFill>
              <a:srgbClr val="E8940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2100000">
            <a:off x="6078474" y="2487168"/>
            <a:ext cx="41148" cy="1005840"/>
          </a:xfrm>
          <a:prstGeom prst="rect">
            <a:avLst/>
          </a:prstGeom>
          <a:solidFill>
            <a:srgbClr val="E8940C"/>
          </a:solidFill>
          <a:ln w="6350">
            <a:solidFill>
              <a:srgbClr val="E8940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61888" y="2871216"/>
            <a:ext cx="274320" cy="274320"/>
          </a:xfrm>
          <a:prstGeom prst="ellipse">
            <a:avLst/>
          </a:prstGeom>
          <a:solidFill>
            <a:srgbClr val="E8940C"/>
          </a:solidFill>
          <a:ln w="12700">
            <a:solidFill>
              <a:srgbClr val="E8940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4846320"/>
            <a:ext cx="121916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敬请指正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0" y="5468112"/>
            <a:ext cx="121916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9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 RK3576 边缘计算的无人车主动式 AI 巡检系统 · 中期答辩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0" y="5870448"/>
            <a:ext cx="121916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894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现场可演示：变焦对比 · 越界指令被拒 · 看门狗接管 · 复核 200 ms 中止 · 端到端一轮巡检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测控系统综合实训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基于 RK3576 边缘计算的无人车主动式 AI 巡检系统 · 中期答辩</dc:title>
  <dc:subject>PptxGenJS Presentation</dc:subject>
  <dc:creator>配电室巡检系统项目组</dc:creator>
  <cp:lastModifiedBy>配电室巡检系统项目组</cp:lastModifiedBy>
  <cp:revision>1</cp:revision>
  <dcterms:created xsi:type="dcterms:W3CDTF">2026-09-02T16:45:48Z</dcterms:created>
  <dcterms:modified xsi:type="dcterms:W3CDTF">2026-09-02T16:45:48Z</dcterms:modified>
</cp:coreProperties>
</file>
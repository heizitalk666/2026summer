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开场一句：本课题按任务书要求，基于现有无人车底盘与 RK3576 边缘主机，开发主动式 AI 巡检系统，实现「发现异常、判断图像质量、主动补拍、形成证据、上报复核」的完整闭环。中期阶段的任务是系统搭建、阶段检查与接口联调，本次汇报围绕这三项展开，重点讲我们采用的方案和每一步的选择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七项相互制约因素是任务书原文，本课题的设计空间就由它们框定。任务书写明「不直接指定具体技术方案，要求学生调研并比选后确定方案」，所以后面每一路都做了比选，其中有几路的结论是不采用。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现状部分。三类方案各有适用场景，本课题不取代它们，补的是采集参数可随目标调整这一项能力。任务书第一页写明「是否有成熟技术方案：否」「是否需要方案比选：是」，这是我们逐路做比选的依据。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左边巡航态 50 像素，指针无法分辨；右边 3 倍变焦后 150 像素，刻度可读。实测框宽与针孔投影公式的计算值相差 0.4 %，说明虚拟场景在光学上自洽，在它上面测出的精度指标有依据。120 px 这个下限由本组按读数精度要求推导，任务书没有规定。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任务书规定的是能力要求，没有给出 0.5 % FS 这类数值，表里的量化指标由本组按工业测量惯例设定。八项中七项达成。重复性 0.309 % FS 超出本组自己设的 0.3 % 限值，43 次独立标定里 29 次不合格，这一项写在表里，不回避。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一句话说清方案：采集参数由判读结果决定，不是事先固定。再讲另外两种为什么不行。方案一被任务书的三项制约同时否掉；方案二的问题是信息在光学环节就丢了，后端补不回来。最后引出方案三带来的三个子问题，第三部分剩下的页面逐个回答。被问到为什么这么做，答案在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从左到右读是一条完整的推理：任务书给了什么约束、我们据此做了什么、为什么这么做、用什么办法证明它成立。时间紧就只讲这一页；要追某一条，按最右列翻到对应页。左边一列是任务书原文列出的相互制约因素，没有改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十状态机对应任务书研究内容第 5 项。三条补充说明各自对应任务书的一项要求：复核预算对应巡检效率与证据完整性的取舍，安全事件抢占对应急停避障优先级高于巡检任务。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这一页是系统的全貌。从左往右是一条链：相机采集，感知跑四路模型并由 L4 仲裁，任务决定停不停车、怎么对准和变焦，网关校验后才真正驱动底盘与云台。绿色那条自右向左的箭头是网关回播的状态，感知靠它判断自己正处于复核态。下面一行是证据链：感知与任务各写一份到同一个证据目录，上传进程读目录组包上云，这条不走总线，因为五份 Schema 已经冻结，不容新增字段。被问到为什么拆四个进程，答案在最下面那段：只有网关持有驱动实例，而且它不加载模型。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系统运转的全过程在这一页。十二步跨四个进程与云端，每步都能指到具体文件。第 4 步和第 6 步下发的正是任务书列出的高层指令：暂停巡检、云台变焦。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没有硬件如何开展工作，答案在这一页。桩会注入真机上实际存在的故障，所以在桩上通过的验收有意义。真值与先验严格分开，精度数据不是拿真值核对真值得出的。左下三项检查每次提交前都跑。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数据从哪来。公开数据集是训练主力，合成数据只补三样结构性的东西。指针 IoU 从 0.251 到 0.384 是实证：同一模型只加真实标注就提高 53 %，说明瓶颈在数据，不在模型容量。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识别层的总纲。被问到为什么不用一个端到端大模型，答案是四个子问题对算力、精度、输出形式的要求互相冲突。仲裁层用规则不用模型，对应任务书把可解释性列为必须考虑的非技术因素。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巡航级已训完，指标偏高。第 1 轮就到 0.9759 这个数不正常，我们自己先提出来：已写好 --check-leak 命令排查训练集与验证集的同源增广副本。复核级 yolo11m、单帧耗时与漏检率这三项本阶段没有做完，第 26 页的进度表里如实标着，被问到就按那一页答，不在这一页展开。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原来的图只有 24 个样本、画的是中位数，差异被采样噪声盖住，得不出结论。现在 n=200、画 P90、加了 bootstrap 置信区间，三条线在门槛以上分得开。有两点要说清：灰底两档系统不读数，那里的差异不参与比选；U-Net 的分割 IoU 是三者最高的 0.778，读数误差却更大，因为几何解算只用指针方向，不用完整轮廓。还要说明一个前提：合成表盘天然满足几何法的假设，这个结论换到真实表盘上可能反过来，所以 U-Net 保留不删。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四个方案在同一批样本、同一阈值下比较，结论明确。EfficientAD 那一列是失败的，数据照原样写进表里。权重大小与打分耗时两行对应成本与实时性，可解释一行对应任务书的伦理要求。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五个环节的比选汇总在一起看。每一行的第四列专门写非技术因素：成本、可靠性、可解释性、安全。比选后不采用同样是结论，被排除的方案连同数据一起保留在表里。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回应任务书的安全要求。三条演示都能当场执行。如果对安全设计有疑问，直接演示第二条：终止 AI 进程后车辆仍按路线走完，这一条最直观。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课题名称是测控系统，控制部分的实测依据集中在这一页。绿色曲线的过冲是关闭增益调度后的响应。右下角的复核成功率三轮跨了 71.4 % 到 100 %，中位刚过目标线，这一条自己先讲：它不是稳定的一个数，而是一个受注入故障率支配的分布。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四条创新点分属四块：第一条是本课题的立论，第二条在控制，第三条在识别，第四条在工程方法。中间一列写明每条对应任务书的哪项要求，右侧给实测支撑。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状态判定用统一标准：能产出可复现的实测数据才记为完成。两项未开始的原因自己先讲，其中 ByteTrack 是任务书点名的算法，目前用的是 IoU 跟踪，不回避。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篇分四类，任务书列出的五类参考资料都覆盖到了。底部那段说明每组文献支撑方案的哪个环节，不是简单罗列。其中 EfficientAD 是复现后未采用的，也写明了。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结束页。如果时间允许，主动提出现场演示，选终止 AI 进程后车辆仍按路线走完那条。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cover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71248" cy="5998464"/>
          </a:xfrm>
          <a:prstGeom prst="rect">
            <a:avLst/>
          </a:prstGeom>
        </p:spPr>
      </p:pic>
      <p:pic>
        <p:nvPicPr>
          <p:cNvPr id="3" name="Image 1" descr="/home/user/2026summer/deliverables/_deck/img/tpl/cover_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76" y="3099816"/>
            <a:ext cx="12326112" cy="3794760"/>
          </a:xfrm>
          <a:prstGeom prst="rect">
            <a:avLst/>
          </a:prstGeom>
        </p:spPr>
      </p:pic>
      <p:pic>
        <p:nvPicPr>
          <p:cNvPr id="4" name="Image 2" descr="/home/user/2026summer/deliverables/_deck/img/tpl/cover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28600"/>
            <a:ext cx="3090672" cy="795528"/>
          </a:xfrm>
          <a:prstGeom prst="rect">
            <a:avLst/>
          </a:prstGeom>
        </p:spPr>
      </p:pic>
      <p:pic>
        <p:nvPicPr>
          <p:cNvPr id="5" name="Image 3" descr="/home/user/2026summer/deliverables/_deck/img/tpl/cover_s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252728"/>
            <a:ext cx="1472184" cy="950976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869680" y="237744"/>
            <a:ext cx="3209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</a:t>
            </a:r>
            <a:endParaRPr lang="en-US" sz="1600" dirty="0"/>
          </a:p>
        </p:txBody>
      </p:sp>
      <p:sp>
        <p:nvSpPr>
          <p:cNvPr id="7" name="Text 1"/>
          <p:cNvSpPr txBox="1"/>
          <p:nvPr/>
        </p:nvSpPr>
        <p:spPr>
          <a:xfrm>
            <a:off x="457200" y="35661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RK3576 边缘计算的无人车主动式 AI 巡检系统设计</a:t>
            </a:r>
            <a:endParaRPr lang="en-US" sz="2900" dirty="0"/>
          </a:p>
        </p:txBody>
      </p:sp>
      <p:sp>
        <p:nvSpPr>
          <p:cNvPr id="8" name="Text 2"/>
          <p:cNvSpPr txBox="1"/>
          <p:nvPr/>
        </p:nvSpPr>
        <p:spPr>
          <a:xfrm>
            <a:off x="2194560" y="4425696"/>
            <a:ext cx="7799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8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测控系统综合实训　·　实训地点 A210　·　指导教师 陈震</a:t>
            </a:r>
            <a:endParaRPr lang="en-US" sz="1450" dirty="0"/>
          </a:p>
        </p:txBody>
      </p:sp>
      <p:sp>
        <p:nvSpPr>
          <p:cNvPr id="9" name="Text 3"/>
          <p:cNvSpPr txBox="1"/>
          <p:nvPr/>
        </p:nvSpPr>
        <p:spPr>
          <a:xfrm>
            <a:off x="5056632" y="5760720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汇报人：吴明哲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　录</a:t>
            </a:r>
            <a:endParaRPr lang="en-US" sz="1700" dirty="0"/>
          </a:p>
        </p:txBody>
      </p:sp>
      <p:pic>
        <p:nvPicPr>
          <p:cNvPr id="6" name="Image 3" descr="/home/user/2026summer/deliverables/_deck/img/tpl/toc_ph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4754880" cy="44805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900" dirty="0"/>
          </a:p>
        </p:txBody>
      </p:sp>
      <p:sp>
        <p:nvSpPr>
          <p:cNvPr id="9" name="Shape 3"/>
          <p:cNvSpPr/>
          <p:nvPr/>
        </p:nvSpPr>
        <p:spPr>
          <a:xfrm>
            <a:off x="6309360" y="1298448"/>
            <a:ext cx="54681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6565392" y="129844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研究背景与需求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6309360" y="2194560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565392" y="219456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关键技术难题与研究目标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309360" y="3090672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65392" y="309067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6309360" y="3986784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65392" y="39867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项目特色与创新思路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6309360" y="4882896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565392" y="488289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研究计划与预期成果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按学院答辩要求分五部分。本次汇报的重点是第三部分：我们采用的技术方案，以及每一步为什么这样选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一.研究背景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课题来源与任务要求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任务书指出：园区、管廊、光伏电站、电力站房等场景下，固定点位视频监控难以覆盖全部设备和动态缺陷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5532120" cy="1481328"/>
          </a:xfrm>
          <a:prstGeom prst="roundRect">
            <a:avLst>
              <a:gd name="adj" fmla="val 3086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21792" y="1444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任务书对预期成果的表述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21792" y="1773936"/>
            <a:ext cx="5074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「一套可运行的主动式 AI 巡检系统，实现『发现异常—判断图像质量—主动补拍—形成证据—上报复核』的完整闭环，首版可先以单路 1080p RGB 相机和有限缺陷类别达成稳定闭环。」</a:t>
            </a:r>
            <a:endParaRPr lang="en-US" sz="1120" dirty="0"/>
          </a:p>
        </p:txBody>
      </p:sp>
      <p:sp>
        <p:nvSpPr>
          <p:cNvPr id="12" name="Shape 7"/>
          <p:cNvSpPr/>
          <p:nvPr/>
        </p:nvSpPr>
        <p:spPr>
          <a:xfrm>
            <a:off x="6144768" y="1316736"/>
            <a:ext cx="5532120" cy="1481328"/>
          </a:xfrm>
          <a:prstGeom prst="roundRect">
            <a:avLst>
              <a:gd name="adj" fmla="val 308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382512" y="1444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任务书列出的八项主要研究内容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382512" y="1773936"/>
            <a:ext cx="5074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目标检测、已知缺陷识别、未知异常检测和图像质量评价；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基于目标跟踪的异常目标持续锁定；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主动复核状态机设计，实现停车、居中、变焦、多角度补拍和恢复巡检路线；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巡检事件证据包、离线缓存、告警分级和远程上传；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云端人工复核、模型版本管理和巡检结果闭环；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系统实时性、识别效果、网络中断降级和运行稳定性测试。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384048" y="294436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任务书列出的七项相互制约的技术因素，本课题必须在方案设计中明确取舍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384048" y="331012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30352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边缘算力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682496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847088" y="34015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模型复杂度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30352" y="3730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巡航期只跑得起小模型</a:t>
            </a:r>
            <a:endParaRPr lang="en-US" sz="1020" dirty="0"/>
          </a:p>
        </p:txBody>
      </p:sp>
      <p:sp>
        <p:nvSpPr>
          <p:cNvPr id="21" name="Shape 16"/>
          <p:cNvSpPr/>
          <p:nvPr/>
        </p:nvSpPr>
        <p:spPr>
          <a:xfrm>
            <a:off x="3236976" y="331012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3832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识别准确率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535424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4700016" y="34015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3383280" y="3730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高精度模型无法 30 Hz 运行</a:t>
            </a:r>
            <a:endParaRPr lang="en-US" sz="1020" dirty="0"/>
          </a:p>
        </p:txBody>
      </p:sp>
      <p:sp>
        <p:nvSpPr>
          <p:cNvPr id="26" name="Shape 21"/>
          <p:cNvSpPr/>
          <p:nvPr/>
        </p:nvSpPr>
        <p:spPr>
          <a:xfrm>
            <a:off x="6089904" y="331012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36208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图像分辨率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7388352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7552944" y="34015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存储与传输带宽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6236208" y="3730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全程高清回传不可行</a:t>
            </a:r>
            <a:endParaRPr lang="en-US" sz="1020" dirty="0"/>
          </a:p>
        </p:txBody>
      </p:sp>
      <p:sp>
        <p:nvSpPr>
          <p:cNvPr id="31" name="Shape 26"/>
          <p:cNvSpPr/>
          <p:nvPr/>
        </p:nvSpPr>
        <p:spPr>
          <a:xfrm>
            <a:off x="8942832" y="331012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089136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主动补拍效果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10241280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10405872" y="34015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车辆安全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9089136" y="3730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停车对准必须受安全约束</a:t>
            </a:r>
            <a:endParaRPr lang="en-US" sz="1020" dirty="0"/>
          </a:p>
        </p:txBody>
      </p:sp>
      <p:sp>
        <p:nvSpPr>
          <p:cNvPr id="36" name="Shape 31"/>
          <p:cNvSpPr/>
          <p:nvPr/>
        </p:nvSpPr>
        <p:spPr>
          <a:xfrm>
            <a:off x="384048" y="449884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30352" y="4590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本地处理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1682496" y="45902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1847088" y="45902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云端分析</a:t>
            </a:r>
            <a:endParaRPr lang="en-US" sz="1150" dirty="0"/>
          </a:p>
        </p:txBody>
      </p:sp>
      <p:sp>
        <p:nvSpPr>
          <p:cNvPr id="40" name="Text 35"/>
          <p:cNvSpPr txBox="1"/>
          <p:nvPr/>
        </p:nvSpPr>
        <p:spPr>
          <a:xfrm>
            <a:off x="530352" y="491947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断网时仍要能工作</a:t>
            </a:r>
            <a:endParaRPr lang="en-US" sz="1020" dirty="0"/>
          </a:p>
        </p:txBody>
      </p:sp>
      <p:sp>
        <p:nvSpPr>
          <p:cNvPr id="41" name="Shape 36"/>
          <p:cNvSpPr/>
          <p:nvPr/>
        </p:nvSpPr>
        <p:spPr>
          <a:xfrm>
            <a:off x="3236976" y="449884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383280" y="4590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续航时间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4535424" y="45902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44" name="Text 39"/>
          <p:cNvSpPr txBox="1"/>
          <p:nvPr/>
        </p:nvSpPr>
        <p:spPr>
          <a:xfrm>
            <a:off x="4700016" y="45902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计算功耗</a:t>
            </a:r>
            <a:endParaRPr lang="en-US" sz="1150" dirty="0"/>
          </a:p>
        </p:txBody>
      </p:sp>
      <p:sp>
        <p:nvSpPr>
          <p:cNvPr id="45" name="Text 40"/>
          <p:cNvSpPr txBox="1"/>
          <p:nvPr/>
        </p:nvSpPr>
        <p:spPr>
          <a:xfrm>
            <a:off x="3383280" y="491947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算力开销直接影响续航</a:t>
            </a:r>
            <a:endParaRPr lang="en-US" sz="1020" dirty="0"/>
          </a:p>
        </p:txBody>
      </p:sp>
      <p:sp>
        <p:nvSpPr>
          <p:cNvPr id="46" name="Shape 41"/>
          <p:cNvSpPr/>
          <p:nvPr/>
        </p:nvSpPr>
        <p:spPr>
          <a:xfrm>
            <a:off x="6089904" y="449884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236208" y="4590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巡检效率</a:t>
            </a:r>
            <a:endParaRPr lang="en-US" sz="1150" dirty="0"/>
          </a:p>
        </p:txBody>
      </p:sp>
      <p:sp>
        <p:nvSpPr>
          <p:cNvPr id="48" name="Text 43"/>
          <p:cNvSpPr txBox="1"/>
          <p:nvPr/>
        </p:nvSpPr>
        <p:spPr>
          <a:xfrm>
            <a:off x="7388352" y="45902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</a:t>
            </a:r>
            <a:endParaRPr lang="en-US" sz="1150" dirty="0"/>
          </a:p>
        </p:txBody>
      </p:sp>
      <p:sp>
        <p:nvSpPr>
          <p:cNvPr id="49" name="Text 44"/>
          <p:cNvSpPr txBox="1"/>
          <p:nvPr/>
        </p:nvSpPr>
        <p:spPr>
          <a:xfrm>
            <a:off x="7552944" y="45902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证据完整性</a:t>
            </a:r>
            <a:endParaRPr lang="en-US" sz="1150" dirty="0"/>
          </a:p>
        </p:txBody>
      </p:sp>
      <p:sp>
        <p:nvSpPr>
          <p:cNvPr id="50" name="Text 45"/>
          <p:cNvSpPr txBox="1"/>
          <p:nvPr/>
        </p:nvSpPr>
        <p:spPr>
          <a:xfrm>
            <a:off x="6236208" y="491947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证据越全，单点耗时越长</a:t>
            </a:r>
            <a:endParaRPr lang="en-US" sz="1020" dirty="0"/>
          </a:p>
        </p:txBody>
      </p:sp>
      <p:sp>
        <p:nvSpPr>
          <p:cNvPr id="51" name="Shape 46"/>
          <p:cNvSpPr/>
          <p:nvPr/>
        </p:nvSpPr>
        <p:spPr>
          <a:xfrm>
            <a:off x="8942832" y="4498848"/>
            <a:ext cx="2706624" cy="1078992"/>
          </a:xfrm>
          <a:prstGeom prst="roundRect">
            <a:avLst>
              <a:gd name="adj" fmla="val 4237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9089136" y="4498848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8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这七项取舍构成本课题的设计空间。</a:t>
            </a:r>
            <a:endParaRPr lang="en-US" sz="108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8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第三部分的总体方案与逐层选型，都是在这七项之间做的取舍。</a:t>
            </a:r>
            <a:endParaRPr lang="en-US" sz="1080" dirty="0"/>
          </a:p>
        </p:txBody>
      </p:sp>
      <p:sp>
        <p:nvSpPr>
          <p:cNvPr id="53" name="Text 48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一.研究背景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国内外现状与本课题定位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配电室与站房巡检已有成熟产品，本课题要补的是它们共同回避的一段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788920"/>
                <a:gridCol w="2514600"/>
                <a:gridCol w="4334256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方案类别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代表做法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已能解决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尚未解决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固定式在线监测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每台设备旁装传感器与摄像头，接入综合监控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连续监测、响应快、无运动部件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改造成本随设备数线性增长；老站点布线困难；视角固定，装错位置就读不到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轨道式巡检机器人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沿预埋导轨往复运行，定点拍摄并回传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路径确定、定位精度高、供电稳定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轨道属土建改造；路径不可变更；仍以录像回传为主，读数依赖后端人工或离线算法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轮式巡检机器人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（本课题）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自主导航至巡检位，云台对准后采集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无需土建改造、路径可重规划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定位与云台误差直接影响成像；算力受限，无法全程按高精度采集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4425696"/>
            <a:ext cx="11423599" cy="969264"/>
          </a:xfrm>
          <a:prstGeom prst="roundRect">
            <a:avLst>
              <a:gd name="adj" fmla="val 4717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58368" y="44988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三类方案的共同缺口：把采集与判读当成两件事</a:t>
            </a:r>
            <a:endParaRPr lang="en-US" sz="1450" dirty="0"/>
          </a:p>
        </p:txBody>
      </p:sp>
      <p:sp>
        <p:nvSpPr>
          <p:cNvPr id="12" name="Text 6"/>
          <p:cNvSpPr txBox="1"/>
          <p:nvPr/>
        </p:nvSpPr>
        <p:spPr>
          <a:xfrm>
            <a:off x="658368" y="480974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按固定参数采集，再把图像交给后端判读。采集时无法判断这一帧是否够用，而判读阶段已经无法补救：表计成像不足时，后端算法读不出所需精度，因为信息在光学环节已经丢失。任务书要求的「判断图像质量、主动补拍」正是针对这一点。</a:t>
            </a:r>
            <a:endParaRPr lang="en-US" sz="1120" dirty="0"/>
          </a:p>
        </p:txBody>
      </p:sp>
      <p:sp>
        <p:nvSpPr>
          <p:cNvPr id="13" name="Shape 7"/>
          <p:cNvSpPr/>
          <p:nvPr/>
        </p:nvSpPr>
        <p:spPr>
          <a:xfrm>
            <a:off x="384048" y="5522976"/>
            <a:ext cx="553212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03504" y="5577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本课题的做法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603504" y="583387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把判读结果反馈回采集环节：检出可疑目标后停车、对准、变焦、重新采集，使采集参数由目标本身决定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144768" y="5522976"/>
            <a:ext cx="553212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364224" y="5577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与既有方案的关系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64224" y="583387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不替代固定式与轨道式，而是补上「采集参数可随目标调整」这一能力，适用于设备分散、不便改造的站房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　录</a:t>
            </a:r>
            <a:endParaRPr lang="en-US" sz="1700" dirty="0"/>
          </a:p>
        </p:txBody>
      </p:sp>
      <p:pic>
        <p:nvPicPr>
          <p:cNvPr id="6" name="Image 3" descr="/home/user/2026summer/deliverables/_deck/img/tpl/toc_ph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4754880" cy="44805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900" dirty="0"/>
          </a:p>
        </p:txBody>
      </p:sp>
      <p:sp>
        <p:nvSpPr>
          <p:cNvPr id="9" name="Shape 3"/>
          <p:cNvSpPr/>
          <p:nvPr/>
        </p:nvSpPr>
        <p:spPr>
          <a:xfrm>
            <a:off x="6309360" y="1298448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6565392" y="129844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研究背景与需求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6309360" y="2194560"/>
            <a:ext cx="54681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565392" y="219456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关键技术难题与研究目标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309360" y="3090672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65392" y="309067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6309360" y="3986784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65392" y="39867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项目特色与创新思路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6309360" y="4882896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565392" y="488289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研究计划与预期成果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本节回答：核心技术难题是什么，研究目标如何量化，本阶段达到了什么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二.关键难题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核心难题：成像像素密度决定读数精度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同一块压力表，巡航时与复核时的成像对比</a:t>
            </a:r>
            <a:endParaRPr lang="en-US" sz="1200" dirty="0"/>
          </a:p>
        </p:txBody>
      </p:sp>
      <p:pic>
        <p:nvPicPr>
          <p:cNvPr id="9" name="Image 3" descr="/home/user/2026summer/deliverables/_deck/img/zoom_comp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16736"/>
            <a:ext cx="11420856" cy="32095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84048" y="46634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50.0 px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384048" y="5175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巡航态 1× 实测框宽</a:t>
            </a:r>
            <a:endParaRPr lang="en-US" sz="1120" dirty="0"/>
          </a:p>
        </p:txBody>
      </p:sp>
      <p:sp>
        <p:nvSpPr>
          <p:cNvPr id="12" name="Text 6"/>
          <p:cNvSpPr txBox="1"/>
          <p:nvPr/>
        </p:nvSpPr>
        <p:spPr>
          <a:xfrm>
            <a:off x="2542032" y="46634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150.0 px</a:t>
            </a:r>
            <a:endParaRPr lang="en-US" sz="2800" dirty="0"/>
          </a:p>
        </p:txBody>
      </p:sp>
      <p:sp>
        <p:nvSpPr>
          <p:cNvPr id="13" name="Text 7"/>
          <p:cNvSpPr txBox="1"/>
          <p:nvPr/>
        </p:nvSpPr>
        <p:spPr>
          <a:xfrm>
            <a:off x="2542032" y="5175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复核态 3× 实测框宽</a:t>
            </a:r>
            <a:endParaRPr lang="en-US" sz="1120" dirty="0"/>
          </a:p>
        </p:txBody>
      </p:sp>
      <p:sp>
        <p:nvSpPr>
          <p:cNvPr id="14" name="Text 8"/>
          <p:cNvSpPr txBox="1"/>
          <p:nvPr/>
        </p:nvSpPr>
        <p:spPr>
          <a:xfrm>
            <a:off x="4700016" y="46634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0.4 %</a:t>
            </a:r>
            <a:endParaRPr lang="en-US" sz="2800" dirty="0"/>
          </a:p>
        </p:txBody>
      </p:sp>
      <p:sp>
        <p:nvSpPr>
          <p:cNvPr id="15" name="Text 9"/>
          <p:cNvSpPr txBox="1"/>
          <p:nvPr/>
        </p:nvSpPr>
        <p:spPr>
          <a:xfrm>
            <a:off x="4700016" y="5175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实测与针孔公式的偏差</a:t>
            </a:r>
            <a:endParaRPr lang="en-US" sz="1120" dirty="0"/>
          </a:p>
        </p:txBody>
      </p:sp>
      <p:sp>
        <p:nvSpPr>
          <p:cNvPr id="16" name="Text 10"/>
          <p:cNvSpPr txBox="1"/>
          <p:nvPr/>
        </p:nvSpPr>
        <p:spPr>
          <a:xfrm>
            <a:off x="6858000" y="46634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px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0" y="5175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本组设定的读数下限</a:t>
            </a:r>
            <a:endParaRPr lang="en-US" sz="1120" dirty="0"/>
          </a:p>
        </p:txBody>
      </p:sp>
      <p:sp>
        <p:nvSpPr>
          <p:cNvPr id="18" name="Shape 12"/>
          <p:cNvSpPr/>
          <p:nvPr/>
        </p:nvSpPr>
        <p:spPr>
          <a:xfrm>
            <a:off x="9089136" y="4608576"/>
            <a:ext cx="2587752" cy="932688"/>
          </a:xfrm>
          <a:prstGeom prst="roundRect">
            <a:avLst>
              <a:gd name="adj" fmla="val 4902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253728" y="4608576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针孔公式算得 49.8 / 149.5 px，</a:t>
            </a:r>
            <a:endParaRPr lang="en-US" sz="102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说明虚拟场景在光学上与公式自洽，</a:t>
            </a:r>
            <a:endParaRPr lang="en-US" sz="102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其上测得的精度指标可作依据。</a:t>
            </a:r>
            <a:endParaRPr lang="en-US" sz="1020" dirty="0"/>
          </a:p>
        </p:txBody>
      </p:sp>
      <p:sp>
        <p:nvSpPr>
          <p:cNvPr id="20" name="Text 14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复现：python -m patrol.tools.viewer --demo-zoom　·　光学公式集中在 patrol/scene/optics.py</a:t>
            </a:r>
            <a:endParaRPr lang="en-US" sz="980" dirty="0"/>
          </a:p>
        </p:txBody>
      </p:sp>
      <p:sp>
        <p:nvSpPr>
          <p:cNvPr id="21" name="Text 15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二.研究目标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研究目标、量化指标与本阶段结果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任务书规定的是能力要求，没有给出数值；下表的量化指标由本组按工业测量惯例设定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246120"/>
                <a:gridCol w="2825496"/>
                <a:gridCol w="1645920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任务书要求的能力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本组设定的量化指标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本阶段实测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主动补拍：发现异常后改变采集参数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复核后成像放大 ≥ 1.5 倍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像素密度比 1.9 至 2.3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目标检测与已知缺陷识别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巡航级 mAP50 ≥ 0.70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0.9949（巡航级）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图像质量评价与读数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基本误差 ≤ 0.5 % FS；线性度 ≤ 0.4 % FS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0.455 %；0.302 %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重复性 ≤ 0.3 % FS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0.309 % FS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云台转向与变焦（高层指令）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超调 ≤ 10 %，调节时间 ≤ 1.5 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3×：1.0 %，1.101 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未知异常检测（不依赖缺陷标注）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训练集外异常可检出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漏报 3.3 %，误报 3.8 %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不得直接控制底层执行机构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三层安全边界可现场验证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三条演示均可当场执行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证据包、离线缓存与远程上传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断网可缓存，恢复后补传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断点续传与指数退避已实现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4901184"/>
            <a:ext cx="5532120" cy="1060704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03504" y="49743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表中的量化指标从何而来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603504" y="524865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基本误差 0.5 % FS 按工业压力表 0.5 级的允许基本误差设定，线性度与重复性是本组在该总限值下分配的分项限值。120 px 下限由精度反推：圆盘直径不足 120 px 时，指针角度的像素量化误差已超过 0.5 % FS。放大倍数不取固定值，按目标当前像素密度实时算出。</a:t>
            </a:r>
            <a:endParaRPr lang="en-US" sz="980" dirty="0"/>
          </a:p>
        </p:txBody>
      </p:sp>
      <p:sp>
        <p:nvSpPr>
          <p:cNvPr id="13" name="Shape 7"/>
          <p:cNvSpPr/>
          <p:nvPr/>
        </p:nvSpPr>
        <p:spPr>
          <a:xfrm>
            <a:off x="6144768" y="4901184"/>
            <a:ext cx="5532120" cy="1060704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364224" y="49743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唯一未达成的一项及其原因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6364224" y="524865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 0.309 % FS 超出本组设定的 0.3 %，43 次独立标定里 29 次不合格，是系统性的。原因是几何解算依赖指针尖端的像素级定位，角度波动与指针指向强相关。原设想用学习分割替换该环节，比选后否掉——U-Net 读数反而不如几何法。留作待办。</a:t>
            </a:r>
            <a:endParaRPr lang="en-US" sz="980" dirty="0"/>
          </a:p>
        </p:txBody>
      </p:sp>
      <p:sp>
        <p:nvSpPr>
          <p:cNvPr id="16" name="Text 10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表中数值为本组按工业测量惯例设定；实测值取自虚拟试验台，桩按真机故障率注入，真值不提供给感知侧</a:t>
            </a:r>
            <a:endParaRPr lang="en-US" sz="980" dirty="0"/>
          </a:p>
        </p:txBody>
      </p:sp>
      <p:sp>
        <p:nvSpPr>
          <p:cNvPr id="17" name="Text 11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　录</a:t>
            </a:r>
            <a:endParaRPr lang="en-US" sz="1700" dirty="0"/>
          </a:p>
        </p:txBody>
      </p:sp>
      <p:pic>
        <p:nvPicPr>
          <p:cNvPr id="6" name="Image 3" descr="/home/user/2026summer/deliverables/_deck/img/tpl/toc_ph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4754880" cy="44805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900" dirty="0"/>
          </a:p>
        </p:txBody>
      </p:sp>
      <p:sp>
        <p:nvSpPr>
          <p:cNvPr id="9" name="Shape 3"/>
          <p:cNvSpPr/>
          <p:nvPr/>
        </p:nvSpPr>
        <p:spPr>
          <a:xfrm>
            <a:off x="6309360" y="1298448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6565392" y="129844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研究背景与需求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6309360" y="2194560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565392" y="219456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关键技术难题与研究目标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309360" y="3090672"/>
            <a:ext cx="54681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65392" y="309067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6309360" y="3986784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65392" y="39867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项目特色与创新思路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6309360" y="4882896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565392" y="488289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研究计划与预期成果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本节的主线：先讲采用的总体方案与否定的两种备选，再逐层讲每个环节选了什么、为什么这样选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三.总体方案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采用的总体方案，以及为什么不是另外两种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任务书第一页写明「是否有成熟技术方案：否」「是否需要方案比选：是」，总体方案本身也经过比选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11423599" cy="969264"/>
          </a:xfrm>
          <a:prstGeom prst="roundRect">
            <a:avLst>
              <a:gd name="adj" fmla="val 4717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0080" y="138988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本课题采用的总体方案：两段式主动复核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700784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车辆以 30 Hz 巡航，只用轻量检测模型做普查；一旦检出可疑目标，向车辆控制层下发「暂停巡检」「移动至观察点」「云台转向 / 变焦」等高层指令，把目标成像放大到可测量的尺度后再判读，得出结论后下发「恢复路线」继续巡检。采集参数由判读结果决定，不是事先固定。</a:t>
            </a:r>
            <a:endParaRPr lang="en-US" sz="1120" dirty="0"/>
          </a:p>
        </p:txBody>
      </p:sp>
      <p:sp>
        <p:nvSpPr>
          <p:cNvPr id="12" name="Shape 7"/>
          <p:cNvSpPr/>
          <p:nvPr/>
        </p:nvSpPr>
        <p:spPr>
          <a:xfrm>
            <a:off x="384048" y="2432304"/>
            <a:ext cx="3703320" cy="2103120"/>
          </a:xfrm>
          <a:prstGeom prst="roundRect">
            <a:avLst>
              <a:gd name="adj" fmla="val 2174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85216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218688" y="250545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218688" y="25054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</a:t>
            </a:r>
            <a:endParaRPr lang="en-US" sz="1020" dirty="0"/>
          </a:p>
        </p:txBody>
      </p:sp>
      <p:sp>
        <p:nvSpPr>
          <p:cNvPr id="16" name="Text 11"/>
          <p:cNvSpPr txBox="1"/>
          <p:nvPr/>
        </p:nvSpPr>
        <p:spPr>
          <a:xfrm>
            <a:off x="585216" y="279806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全程按复核精度采集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" y="3108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　整条路线都用高分辨率、高倍率与复杂模型采集判读，不区分巡航与复核。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85216" y="3602736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否定理由　任务书列出的三项制约同时不满足：边缘算力跑不动 30 Hz 的高精度模型；全程高清回传超出存储与传输带宽；持续满算力直接压缩续航。三项里任何一项都足以否定它。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85216" y="426110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违反「算力↔模型复杂度」「分辨率↔带宽」「续航↔功耗」</a:t>
            </a:r>
            <a:endParaRPr lang="en-US" sz="920" dirty="0"/>
          </a:p>
        </p:txBody>
      </p:sp>
      <p:sp>
        <p:nvSpPr>
          <p:cNvPr id="20" name="Shape 15"/>
          <p:cNvSpPr/>
          <p:nvPr/>
        </p:nvSpPr>
        <p:spPr>
          <a:xfrm>
            <a:off x="4242816" y="2432304"/>
            <a:ext cx="3703320" cy="2103120"/>
          </a:xfrm>
          <a:prstGeom prst="roundRect">
            <a:avLst>
              <a:gd name="adj" fmla="val 2174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443984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077456" y="250545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077456" y="25054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</a:t>
            </a:r>
            <a:endParaRPr lang="en-US" sz="1020" dirty="0"/>
          </a:p>
        </p:txBody>
      </p:sp>
      <p:sp>
        <p:nvSpPr>
          <p:cNvPr id="24" name="Text 19"/>
          <p:cNvSpPr txBox="1"/>
          <p:nvPr/>
        </p:nvSpPr>
        <p:spPr>
          <a:xfrm>
            <a:off x="4443984" y="279806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固定参数采集，判读交后端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443984" y="3108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　按预设位姿与焦距拍摄回传，由云端算法或人工事后判读。这是现有轨道式、固定式产品的普遍做法。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443984" y="3602736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否定理由　采集时无法判断这一帧是否够用，而表计成像不足时信息在光学环节就已经丢失，后端再强的算法也读不回来；且断网即失效。任务书要求「判断图像质量、主动补拍」正是针对这一点。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4443984" y="426110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不满足任务书「判断图像质量—主动补拍」</a:t>
            </a:r>
            <a:endParaRPr lang="en-US" sz="920" dirty="0"/>
          </a:p>
        </p:txBody>
      </p:sp>
      <p:sp>
        <p:nvSpPr>
          <p:cNvPr id="28" name="Shape 23"/>
          <p:cNvSpPr/>
          <p:nvPr/>
        </p:nvSpPr>
        <p:spPr>
          <a:xfrm>
            <a:off x="8101584" y="2432304"/>
            <a:ext cx="3703320" cy="2103120"/>
          </a:xfrm>
          <a:prstGeom prst="roundRect">
            <a:avLst>
              <a:gd name="adj" fmla="val 2174"/>
            </a:avLst>
          </a:prstGeom>
          <a:solidFill>
            <a:srgbClr val="DCEFE4"/>
          </a:solidFill>
          <a:ln w="9525">
            <a:solidFill>
              <a:srgbClr val="DCEFE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302752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方案三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10936224" y="250545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E7A46"/>
          </a:solidFill>
          <a:ln w="6350">
            <a:solidFill>
              <a:srgbClr val="1E7A4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0936224" y="25054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</a:t>
            </a:r>
            <a:endParaRPr lang="en-US" sz="1020" dirty="0"/>
          </a:p>
        </p:txBody>
      </p:sp>
      <p:sp>
        <p:nvSpPr>
          <p:cNvPr id="32" name="Text 27"/>
          <p:cNvSpPr txBox="1"/>
          <p:nvPr/>
        </p:nvSpPr>
        <p:spPr>
          <a:xfrm>
            <a:off x="8302752" y="279806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两段式主动复核（采用）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8302752" y="3108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　巡航期只做检出不做测量，复核期才停车、对准、变焦、重新采集并判读，算力与带宽只花在被判为可疑的航点上。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8302752" y="3602736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采用理由　三项制约同时缓解：30 Hz 只跑轻量模型；高清数据只在复核瞬间产生；放大倍数按目标当前像素密度算出，不足就补拍、够了就走，单点耗时可控，巡检效率与证据完整性的取舍因此变成一个可以事先算出来的量。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8302752" y="426110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与任务书对预期成果的表述逐条对应</a:t>
            </a:r>
            <a:endParaRPr lang="en-US" sz="920" dirty="0"/>
          </a:p>
        </p:txBody>
      </p:sp>
      <p:sp>
        <p:nvSpPr>
          <p:cNvPr id="36" name="Text 31"/>
          <p:cNvSpPr txBox="1"/>
          <p:nvPr/>
        </p:nvSpPr>
        <p:spPr>
          <a:xfrm>
            <a:off x="384048" y="462686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方案三定下来之后，剩下的研究内容是三个子问题，第三部分按这个顺序展开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384048" y="4956048"/>
            <a:ext cx="3703320" cy="1115568"/>
          </a:xfrm>
          <a:prstGeom prst="roundRect">
            <a:avLst>
              <a:gd name="adj" fmla="val 409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84048" y="4956048"/>
            <a:ext cx="64008" cy="1115568"/>
          </a:xfrm>
          <a:prstGeom prst="rect">
            <a:avLst/>
          </a:prstGeom>
          <a:solidFill>
            <a:srgbClr val="1667B0"/>
          </a:solidFill>
          <a:ln w="12700">
            <a:solidFill>
              <a:srgbClr val="1667B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03504" y="50109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什么时候该停车复核</a:t>
            </a:r>
            <a:endParaRPr lang="en-US" sz="1150" dirty="0"/>
          </a:p>
        </p:txBody>
      </p:sp>
      <p:sp>
        <p:nvSpPr>
          <p:cNvPr id="40" name="Text 35"/>
          <p:cNvSpPr txBox="1"/>
          <p:nvPr/>
        </p:nvSpPr>
        <p:spPr>
          <a:xfrm>
            <a:off x="2779776" y="5010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 3.3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03504" y="52669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十状态机 + 复核预算 + 三条抑制规则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603504" y="5522976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停车复核会占用巡检时间，所以要先算出这一趟还能停几次，也要避免在同一处重复停车。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242816" y="4956048"/>
            <a:ext cx="3703320" cy="1115568"/>
          </a:xfrm>
          <a:prstGeom prst="roundRect">
            <a:avLst>
              <a:gd name="adj" fmla="val 409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242816" y="4956048"/>
            <a:ext cx="64008" cy="1115568"/>
          </a:xfrm>
          <a:prstGeom prst="rect">
            <a:avLst/>
          </a:prstGeom>
          <a:solidFill>
            <a:srgbClr val="C0202B"/>
          </a:solidFill>
          <a:ln w="12700">
            <a:solidFill>
              <a:srgbClr val="C0202B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462272" y="50109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停下来怎么把目标放大到位</a:t>
            </a:r>
            <a:endParaRPr lang="en-US" sz="1150" dirty="0"/>
          </a:p>
        </p:txBody>
      </p:sp>
      <p:sp>
        <p:nvSpPr>
          <p:cNvPr id="46" name="Text 41"/>
          <p:cNvSpPr txBox="1"/>
          <p:nvPr/>
        </p:nvSpPr>
        <p:spPr>
          <a:xfrm>
            <a:off x="6638544" y="5010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 3.14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4462272" y="52669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针孔几何前馈 + 变焦增益调度 PID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4462272" y="5522976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变焦后同样的云台转角对应的画面位移会成倍放大，固定增益的回路会过冲，目标对不准就无法放大成像。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8101584" y="4956048"/>
            <a:ext cx="3703320" cy="1115568"/>
          </a:xfrm>
          <a:prstGeom prst="roundRect">
            <a:avLst>
              <a:gd name="adj" fmla="val 409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101584" y="4956048"/>
            <a:ext cx="64008" cy="1115568"/>
          </a:xfrm>
          <a:prstGeom prst="rect">
            <a:avLst/>
          </a:prstGeom>
          <a:solidFill>
            <a:srgbClr val="0B3C6B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321040" y="50109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放大之后凭什么下结论</a:t>
            </a:r>
            <a:endParaRPr lang="en-US" sz="1150" dirty="0"/>
          </a:p>
        </p:txBody>
      </p:sp>
      <p:sp>
        <p:nvSpPr>
          <p:cNvPr id="52" name="Text 47"/>
          <p:cNvSpPr txBox="1"/>
          <p:nvPr/>
        </p:nvSpPr>
        <p:spPr>
          <a:xfrm>
            <a:off x="10497312" y="5010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 3.8、3.12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8321040" y="52669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四类模型分工 + 显式规则仲裁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8321040" y="5522976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四个子问题对算力、精度与输出形式的要求互相冲突，只能分路实现；结论需要逐条追溯，所以仲裁用规则而非模型。</a:t>
            </a:r>
            <a:endParaRPr lang="en-US" sz="950" dirty="0"/>
          </a:p>
        </p:txBody>
      </p:sp>
      <p:sp>
        <p:nvSpPr>
          <p:cNvPr id="55" name="Text 50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三.决策链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决策链：从任务书的一条约束，到一处具体做法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把七项相互制约因素逐条落成做法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每一条都要说得出为什么这么做，也要指得出用什么办法验证它成立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331720"/>
                <a:gridCol w="3429000"/>
                <a:gridCol w="2505456"/>
                <a:gridCol w="914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任务书列出的约束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我们的做法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为什么这么做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怎么验证它成立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见页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边缘算力 ↔ 模型复杂度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识别准确率 ↔ 实时性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巡航与复核分两段，两套模型、两套阈值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高精度模型跑不到 30 Hz；算力只花在被判为可疑的航点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复核前后像素密度比实测 1.9 至 2.3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不得直接控制转向、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电机扭矩与制动力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驱动实例集中在网关一个进程，且不加载模型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放在同一进程里，一次段错误会同时终止感知与控制两侧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终止 AI 进程后车辆仍按原路线走完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巡检效率 ↔ 证据完整性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复核预算 N_max 加三条抑制规则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停车复核占用巡检时间，需要事先算出这一趟能停几次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一轮 300 s 产出 4 至 6 个证据包，路线走完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图像分辨率 ↔ 传输带宽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本地处理 ↔ 云端分析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判读放在边缘，高清数据只在复核瞬间产生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全程高清回传超出带宽；判读靠云端则断网即失效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断网可缓存，恢复后断点续传与指数退避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伦理与社会责任：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误判与可解释性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四路模型的结论交纯规则的 L4 仲裁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每条结论附 reasons 字段可逐级追溯，模型给不出这种依据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六种结论各有测试用例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各模块接口对接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与进度同步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五份 Schema 编码前冻结 + 59 项校验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四人并行开发，联调时字段必须对得上，不能边写边改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validate 59 项全过，11 条反例全部被拦下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5541264"/>
            <a:ext cx="11423599" cy="585216"/>
          </a:xfrm>
          <a:prstGeom prst="roundRect">
            <a:avLst>
              <a:gd name="adj" fmla="val 7813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40080" y="5541264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同一条约束下都有别的解法：算力紧张可以换更小的模型，不分两段；安全边界可以写成开发约定，不做进程隔离；接口可以边写边改，不先冻结。这六行记的是我们放弃这些做法的原因。</a:t>
            </a:r>
            <a:endParaRPr lang="en-US" sz="1080" dirty="0"/>
          </a:p>
        </p:txBody>
      </p:sp>
      <p:sp>
        <p:nvSpPr>
          <p:cNvPr id="12" name="Text 6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三.复核流程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什么时候该停车复核：十状态机、复核预算与三条抑制规则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十状态机 + 复核预算 N_max + 三条抑制规则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停车复核占用巡检时间，要先算出这一趟能停几次，也不能在同一处重复停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84048" y="1316736"/>
            <a:ext cx="1371600" cy="292608"/>
          </a:xfrm>
          <a:prstGeom prst="rect">
            <a:avLst/>
          </a:prstGeom>
          <a:solidFill>
            <a:srgbClr val="1667B0"/>
          </a:solidFill>
          <a:ln w="6350">
            <a:solidFill>
              <a:srgbClr val="1667B0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8404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CRUISE</a:t>
            </a:r>
            <a:endParaRPr lang="en-US" sz="102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Hz 巡航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小模型扫描</a:t>
            </a:r>
            <a:endParaRPr lang="en-US" sz="1020" dirty="0"/>
          </a:p>
        </p:txBody>
      </p:sp>
      <p:sp>
        <p:nvSpPr>
          <p:cNvPr id="13" name="Text 8"/>
          <p:cNvSpPr txBox="1"/>
          <p:nvPr/>
        </p:nvSpPr>
        <p:spPr>
          <a:xfrm>
            <a:off x="173736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82422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824228" y="1316736"/>
            <a:ext cx="1371600" cy="292608"/>
          </a:xfrm>
          <a:prstGeom prst="rect">
            <a:avLst/>
          </a:prstGeom>
          <a:solidFill>
            <a:srgbClr val="1667B0"/>
          </a:solidFill>
          <a:ln w="6350">
            <a:solidFill>
              <a:srgbClr val="1667B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82422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SUSPECT</a:t>
            </a:r>
            <a:endParaRPr lang="en-US" sz="1020" dirty="0"/>
          </a:p>
        </p:txBody>
      </p:sp>
      <p:sp>
        <p:nvSpPr>
          <p:cNvPr id="17" name="Text 12"/>
          <p:cNvSpPr txBox="1"/>
          <p:nvPr/>
        </p:nvSpPr>
        <p:spPr>
          <a:xfrm>
            <a:off x="189738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连续三帧同一目标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才确认，防抖动</a:t>
            </a:r>
            <a:endParaRPr lang="en-US" sz="1020" dirty="0"/>
          </a:p>
        </p:txBody>
      </p:sp>
      <p:sp>
        <p:nvSpPr>
          <p:cNvPr id="18" name="Text 13"/>
          <p:cNvSpPr txBox="1"/>
          <p:nvPr/>
        </p:nvSpPr>
        <p:spPr>
          <a:xfrm>
            <a:off x="317754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326440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64408" y="1316736"/>
            <a:ext cx="1371600" cy="292608"/>
          </a:xfrm>
          <a:prstGeom prst="rect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26440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HALT_REQ</a:t>
            </a:r>
            <a:endParaRPr lang="en-US" sz="1020" dirty="0"/>
          </a:p>
        </p:txBody>
      </p:sp>
      <p:sp>
        <p:nvSpPr>
          <p:cNvPr id="22" name="Text 17"/>
          <p:cNvSpPr txBox="1"/>
          <p:nvPr/>
        </p:nvSpPr>
        <p:spPr>
          <a:xfrm>
            <a:off x="333756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下发「暂停巡检」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网关五项校验</a:t>
            </a:r>
            <a:endParaRPr lang="en-US" sz="1020" dirty="0"/>
          </a:p>
        </p:txBody>
      </p:sp>
      <p:sp>
        <p:nvSpPr>
          <p:cNvPr id="23" name="Text 18"/>
          <p:cNvSpPr txBox="1"/>
          <p:nvPr/>
        </p:nvSpPr>
        <p:spPr>
          <a:xfrm>
            <a:off x="461772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470458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04588" y="1316736"/>
            <a:ext cx="1371600" cy="292608"/>
          </a:xfrm>
          <a:prstGeom prst="rect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0458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</a:t>
            </a:r>
            <a:endParaRPr lang="en-US" sz="1020" dirty="0"/>
          </a:p>
        </p:txBody>
      </p:sp>
      <p:sp>
        <p:nvSpPr>
          <p:cNvPr id="27" name="Text 22"/>
          <p:cNvSpPr txBox="1"/>
          <p:nvPr/>
        </p:nvSpPr>
        <p:spPr>
          <a:xfrm>
            <a:off x="477774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针孔几何前馈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PID 残差闭环</a:t>
            </a:r>
            <a:endParaRPr lang="en-US" sz="1020" dirty="0"/>
          </a:p>
        </p:txBody>
      </p:sp>
      <p:sp>
        <p:nvSpPr>
          <p:cNvPr id="28" name="Text 23"/>
          <p:cNvSpPr txBox="1"/>
          <p:nvPr/>
        </p:nvSpPr>
        <p:spPr>
          <a:xfrm>
            <a:off x="605790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614476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144768" y="1316736"/>
            <a:ext cx="1371600" cy="292608"/>
          </a:xfrm>
          <a:prstGeom prst="rect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4476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ZOOM</a:t>
            </a:r>
            <a:endParaRPr lang="en-US" sz="1020" dirty="0"/>
          </a:p>
        </p:txBody>
      </p:sp>
      <p:sp>
        <p:nvSpPr>
          <p:cNvPr id="32" name="Text 27"/>
          <p:cNvSpPr txBox="1"/>
          <p:nvPr/>
        </p:nvSpPr>
        <p:spPr>
          <a:xfrm>
            <a:off x="621792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按目标像素密度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算倍率并变焦</a:t>
            </a:r>
            <a:endParaRPr lang="en-US" sz="1020" dirty="0"/>
          </a:p>
        </p:txBody>
      </p:sp>
      <p:sp>
        <p:nvSpPr>
          <p:cNvPr id="33" name="Text 28"/>
          <p:cNvSpPr txBox="1"/>
          <p:nvPr/>
        </p:nvSpPr>
        <p:spPr>
          <a:xfrm>
            <a:off x="749808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34" name="Shape 29"/>
          <p:cNvSpPr/>
          <p:nvPr/>
        </p:nvSpPr>
        <p:spPr>
          <a:xfrm>
            <a:off x="758494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584948" y="1316736"/>
            <a:ext cx="1371600" cy="292608"/>
          </a:xfrm>
          <a:prstGeom prst="rect">
            <a:avLst/>
          </a:prstGeom>
          <a:solidFill>
            <a:srgbClr val="1E7A46"/>
          </a:solidFill>
          <a:ln w="6350">
            <a:solidFill>
              <a:srgbClr val="1E7A4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58494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020" dirty="0"/>
          </a:p>
        </p:txBody>
      </p:sp>
      <p:sp>
        <p:nvSpPr>
          <p:cNvPr id="37" name="Text 32"/>
          <p:cNvSpPr txBox="1"/>
          <p:nvPr/>
        </p:nvSpPr>
        <p:spPr>
          <a:xfrm>
            <a:off x="765810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四路模型推理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显式仲裁</a:t>
            </a:r>
            <a:endParaRPr lang="en-US" sz="1020" dirty="0"/>
          </a:p>
        </p:txBody>
      </p:sp>
      <p:sp>
        <p:nvSpPr>
          <p:cNvPr id="38" name="Text 33"/>
          <p:cNvSpPr txBox="1"/>
          <p:nvPr/>
        </p:nvSpPr>
        <p:spPr>
          <a:xfrm>
            <a:off x="893826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39" name="Shape 34"/>
          <p:cNvSpPr/>
          <p:nvPr/>
        </p:nvSpPr>
        <p:spPr>
          <a:xfrm>
            <a:off x="902512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025128" y="1316736"/>
            <a:ext cx="1371600" cy="292608"/>
          </a:xfrm>
          <a:prstGeom prst="rect">
            <a:avLst/>
          </a:prstGeom>
          <a:solidFill>
            <a:srgbClr val="1E7A46"/>
          </a:solidFill>
          <a:ln w="6350">
            <a:solidFill>
              <a:srgbClr val="1E7A4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02512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</a:t>
            </a:r>
            <a:endParaRPr lang="en-US" sz="1020" dirty="0"/>
          </a:p>
        </p:txBody>
      </p:sp>
      <p:sp>
        <p:nvSpPr>
          <p:cNvPr id="42" name="Text 37"/>
          <p:cNvSpPr txBox="1"/>
          <p:nvPr/>
        </p:nvSpPr>
        <p:spPr>
          <a:xfrm>
            <a:off x="909828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证据包组装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before/after 配对</a:t>
            </a:r>
            <a:endParaRPr lang="en-US" sz="1020" dirty="0"/>
          </a:p>
        </p:txBody>
      </p:sp>
      <p:sp>
        <p:nvSpPr>
          <p:cNvPr id="43" name="Text 38"/>
          <p:cNvSpPr txBox="1"/>
          <p:nvPr/>
        </p:nvSpPr>
        <p:spPr>
          <a:xfrm>
            <a:off x="10378440" y="1956816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50" dirty="0"/>
          </a:p>
        </p:txBody>
      </p:sp>
      <p:sp>
        <p:nvSpPr>
          <p:cNvPr id="44" name="Shape 39"/>
          <p:cNvSpPr/>
          <p:nvPr/>
        </p:nvSpPr>
        <p:spPr>
          <a:xfrm>
            <a:off x="10465308" y="1316736"/>
            <a:ext cx="1371600" cy="1773936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0465308" y="1316736"/>
            <a:ext cx="1371600" cy="292608"/>
          </a:xfrm>
          <a:prstGeom prst="rect">
            <a:avLst/>
          </a:prstGeom>
          <a:solidFill>
            <a:srgbClr val="1667B0"/>
          </a:solidFill>
          <a:ln w="6350">
            <a:solidFill>
              <a:srgbClr val="1667B0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0465308" y="1316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RESUME</a:t>
            </a:r>
            <a:endParaRPr lang="en-US" sz="1020" dirty="0"/>
          </a:p>
        </p:txBody>
      </p:sp>
      <p:sp>
        <p:nvSpPr>
          <p:cNvPr id="47" name="Text 42"/>
          <p:cNvSpPr txBox="1"/>
          <p:nvPr/>
        </p:nvSpPr>
        <p:spPr>
          <a:xfrm>
            <a:off x="10538460" y="1682496"/>
            <a:ext cx="1225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下发「恢复路线」</a:t>
            </a:r>
            <a:endParaRPr lang="en-US" sz="102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02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写入抑制表</a:t>
            </a:r>
            <a:endParaRPr lang="en-US" sz="1020" dirty="0"/>
          </a:p>
        </p:txBody>
      </p:sp>
      <p:sp>
        <p:nvSpPr>
          <p:cNvPr id="48" name="Text 43"/>
          <p:cNvSpPr txBox="1"/>
          <p:nvPr/>
        </p:nvSpPr>
        <p:spPr>
          <a:xfrm>
            <a:off x="384048" y="3163824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ABORT 与 ERROR 两个状态，合计十个。每个状态都定义了超时转移，不存在没有出边的状态。</a:t>
            </a:r>
            <a:endParaRPr lang="en-US" sz="1080" dirty="0"/>
          </a:p>
        </p:txBody>
      </p:sp>
      <p:sp>
        <p:nvSpPr>
          <p:cNvPr id="49" name="Shape 44"/>
          <p:cNvSpPr/>
          <p:nvPr/>
        </p:nvSpPr>
        <p:spPr>
          <a:xfrm>
            <a:off x="384048" y="3566160"/>
            <a:ext cx="3685032" cy="2212848"/>
          </a:xfrm>
          <a:prstGeom prst="roundRect">
            <a:avLst>
              <a:gd name="adj" fmla="val 206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84048" y="3566160"/>
            <a:ext cx="64008" cy="2212848"/>
          </a:xfrm>
          <a:prstGeom prst="rect">
            <a:avLst/>
          </a:prstGeom>
          <a:solidFill>
            <a:srgbClr val="0B3C6B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603504" y="36576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复核预算：停得起几次，出发前就算清楚</a:t>
            </a:r>
            <a:endParaRPr lang="en-US" sz="1200" dirty="0"/>
          </a:p>
        </p:txBody>
      </p:sp>
      <p:sp>
        <p:nvSpPr>
          <p:cNvPr id="52" name="Text 47"/>
          <p:cNvSpPr txBox="1"/>
          <p:nvPr/>
        </p:nvSpPr>
        <p:spPr>
          <a:xfrm>
            <a:off x="603504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N_max = ⌊(T_max − L/v) / T_r⌋</a:t>
            </a:r>
            <a:endParaRPr lang="en-US" sz="1080" dirty="0"/>
          </a:p>
        </p:txBody>
      </p:sp>
      <p:sp>
        <p:nvSpPr>
          <p:cNvPr id="53" name="Text 48"/>
          <p:cNvSpPr txBox="1"/>
          <p:nvPr/>
        </p:nvSpPr>
        <p:spPr>
          <a:xfrm>
            <a:off x="603504" y="4462272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任务书把「巡检效率↔证据完整性」列为必须取舍的一项，这条式子把它变成可计算的量：按路线长度、车速与单次复核耗时，算出这一趟能停几次，超出预算的目标顺延到下一轮，不会走到一半才发现超时。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4215384" y="3566160"/>
            <a:ext cx="3685032" cy="2212848"/>
          </a:xfrm>
          <a:prstGeom prst="roundRect">
            <a:avLst>
              <a:gd name="adj" fmla="val 206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215384" y="3566160"/>
            <a:ext cx="64008" cy="2212848"/>
          </a:xfrm>
          <a:prstGeom prst="rect">
            <a:avLst/>
          </a:prstGeom>
          <a:solidFill>
            <a:srgbClr val="1667B0"/>
          </a:solidFill>
          <a:ln w="12700">
            <a:solidFill>
              <a:srgbClr val="1667B0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4434840" y="36576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三条抑制规则：不在同一处反复停车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443484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航点去重 / 定位失效 / 恢复静默</a:t>
            </a:r>
            <a:endParaRPr lang="en-US" sz="1080" dirty="0"/>
          </a:p>
        </p:txBody>
      </p:sp>
      <p:sp>
        <p:nvSpPr>
          <p:cNvPr id="58" name="Text 53"/>
          <p:cNvSpPr txBox="1"/>
          <p:nvPr/>
        </p:nvSpPr>
        <p:spPr>
          <a:xfrm>
            <a:off x="4434840" y="4462272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会被连续多帧检出，不加抑制，车辆会在同一航点反复停车。三条规则各管一种情形：同一航点不重复停；定位丢失后不再触发复核，因为此时停车位置本身已不可信；恢复巡航后设静默期，避免刚起步又被同一目标触发。</a:t>
            </a:r>
            <a:endParaRPr lang="en-US" sz="1000" dirty="0"/>
          </a:p>
        </p:txBody>
      </p:sp>
      <p:sp>
        <p:nvSpPr>
          <p:cNvPr id="59" name="Shape 54"/>
          <p:cNvSpPr/>
          <p:nvPr/>
        </p:nvSpPr>
        <p:spPr>
          <a:xfrm>
            <a:off x="8046720" y="3566160"/>
            <a:ext cx="3685032" cy="2212848"/>
          </a:xfrm>
          <a:prstGeom prst="roundRect">
            <a:avLst>
              <a:gd name="adj" fmla="val 206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046720" y="3566160"/>
            <a:ext cx="64008" cy="2212848"/>
          </a:xfrm>
          <a:prstGeom prst="rect">
            <a:avLst/>
          </a:prstGeom>
          <a:solidFill>
            <a:srgbClr val="C0202B"/>
          </a:solidFill>
          <a:ln w="12700">
            <a:solidFill>
              <a:srgbClr val="C0202B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8266176" y="36576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安全事件抢占：复核过程随时可被打断</a:t>
            </a:r>
            <a:endParaRPr lang="en-US" sz="1200" dirty="0"/>
          </a:p>
        </p:txBody>
      </p:sp>
      <p:sp>
        <p:nvSpPr>
          <p:cNvPr id="62" name="Text 57"/>
          <p:cNvSpPr txBox="1"/>
          <p:nvPr/>
        </p:nvSpPr>
        <p:spPr>
          <a:xfrm>
            <a:off x="8266176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ms 内中止正在进行的复核</a:t>
            </a:r>
            <a:endParaRPr lang="en-US" sz="1080" dirty="0"/>
          </a:p>
        </p:txBody>
      </p:sp>
      <p:sp>
        <p:nvSpPr>
          <p:cNvPr id="63" name="Text 58"/>
          <p:cNvSpPr txBox="1"/>
          <p:nvPr/>
        </p:nvSpPr>
        <p:spPr>
          <a:xfrm>
            <a:off x="8266176" y="4462272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任务书规定急停、避障、限速的优先级高于巡检任务。复核期间车辆停在路线上、云台在转动，这段时间尤其需要能被打断。抢占逻辑写在状态机里，由状态机本身保证，不依赖各模块遵守约定。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实现：mission/fsm.py 十状态　·　suppress.py 三条抑制　·　budget.py 预算与顺延队列</a:t>
            </a:r>
            <a:endParaRPr lang="en-US" sz="980" dirty="0"/>
          </a:p>
        </p:txBody>
      </p:sp>
      <p:sp>
        <p:nvSpPr>
          <p:cNvPr id="65" name="Text 60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三.系统结构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　系统架构：四个进程、四条接口与硬件边界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驱动实例集中在网关一个进程，网关不加载任何模型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放在同一进程里，一次段错误会同时终止感知与控制两侧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682496"/>
            <a:ext cx="1170432" cy="1207008"/>
          </a:xfrm>
          <a:prstGeom prst="roundRect">
            <a:avLst>
              <a:gd name="adj" fmla="val 3906"/>
            </a:avLst>
          </a:prstGeom>
          <a:solidFill>
            <a:srgbClr val="F4F7FA"/>
          </a:solidFill>
          <a:ln w="12700">
            <a:solidFill>
              <a:srgbClr val="5D6E7E"/>
            </a:solidFill>
            <a:prstDash val="dash"/>
          </a:ln>
        </p:spPr>
      </p:sp>
      <p:sp>
        <p:nvSpPr>
          <p:cNvPr id="10" name="Text 5"/>
          <p:cNvSpPr txBox="1"/>
          <p:nvPr/>
        </p:nvSpPr>
        <p:spPr>
          <a:xfrm>
            <a:off x="384048" y="17922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384048" y="2103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1080p RGB</a:t>
            </a:r>
            <a:endParaRPr lang="en-US" sz="92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光学变焦</a:t>
            </a:r>
            <a:endParaRPr lang="en-US" sz="920" dirty="0"/>
          </a:p>
        </p:txBody>
      </p:sp>
      <p:sp>
        <p:nvSpPr>
          <p:cNvPr id="12" name="Shape 7"/>
          <p:cNvSpPr/>
          <p:nvPr/>
        </p:nvSpPr>
        <p:spPr>
          <a:xfrm>
            <a:off x="1938528" y="13716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1667B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938528" y="1371600"/>
            <a:ext cx="2103120" cy="384048"/>
          </a:xfrm>
          <a:prstGeom prst="rect">
            <a:avLst/>
          </a:prstGeom>
          <a:solidFill>
            <a:srgbClr val="1667B0"/>
          </a:solidFill>
          <a:ln w="6350">
            <a:solidFill>
              <a:srgbClr val="1667B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938528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066544" y="1847088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目标检测 30 Hz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分割 + 几何读数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L2′ OCR 铭牌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非监督未知异常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规则仲裁 六种结论</a:t>
            </a:r>
            <a:endParaRPr lang="en-US" sz="980" dirty="0"/>
          </a:p>
        </p:txBody>
      </p:sp>
      <p:sp>
        <p:nvSpPr>
          <p:cNvPr id="16" name="Text 11"/>
          <p:cNvSpPr txBox="1"/>
          <p:nvPr/>
        </p:nvSpPr>
        <p:spPr>
          <a:xfrm>
            <a:off x="2066544" y="27797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绝不碰　驱动实例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047488" y="13716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0B3C6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47488" y="1371600"/>
            <a:ext cx="2103120" cy="384048"/>
          </a:xfrm>
          <a:prstGeom prst="rect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047488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175504" y="1847088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十状态复核状态机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复核预算 N_max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三条抑制规则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针孔前馈 + 增益调度 PID</a:t>
            </a:r>
            <a:endParaRPr lang="en-US" sz="980" dirty="0"/>
          </a:p>
        </p:txBody>
      </p:sp>
      <p:sp>
        <p:nvSpPr>
          <p:cNvPr id="21" name="Text 16"/>
          <p:cNvSpPr txBox="1"/>
          <p:nvPr/>
        </p:nvSpPr>
        <p:spPr>
          <a:xfrm>
            <a:off x="5175504" y="27797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绝不碰　驱动、模型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156448" y="13716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C0202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6448" y="1371600"/>
            <a:ext cx="2103120" cy="384048"/>
          </a:xfrm>
          <a:prstGeom prst="rect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156448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安全网关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284464" y="1847088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指令白名单 五项校验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参数硬限，写死在源码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心跳看门狗 1.5 s 接管</a:t>
            </a:r>
            <a:endParaRPr lang="en-US" sz="9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四个驱动实例（唯一）</a:t>
            </a:r>
            <a:endParaRPr lang="en-US" sz="980" dirty="0"/>
          </a:p>
        </p:txBody>
      </p:sp>
      <p:sp>
        <p:nvSpPr>
          <p:cNvPr id="26" name="Text 21"/>
          <p:cNvSpPr txBox="1"/>
          <p:nvPr/>
        </p:nvSpPr>
        <p:spPr>
          <a:xfrm>
            <a:off x="8284464" y="27797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绝不碰　模型、图像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0625328" y="1682496"/>
            <a:ext cx="1170432" cy="1207008"/>
          </a:xfrm>
          <a:prstGeom prst="roundRect">
            <a:avLst>
              <a:gd name="adj" fmla="val 3906"/>
            </a:avLst>
          </a:prstGeom>
          <a:solidFill>
            <a:srgbClr val="F4F7FA"/>
          </a:solidFill>
          <a:ln w="12700">
            <a:solidFill>
              <a:srgbClr val="5D6E7E"/>
            </a:solidFill>
            <a:prstDash val="dash"/>
          </a:ln>
        </p:spPr>
      </p:sp>
      <p:sp>
        <p:nvSpPr>
          <p:cNvPr id="28" name="Text 23"/>
          <p:cNvSpPr txBox="1"/>
          <p:nvPr/>
        </p:nvSpPr>
        <p:spPr>
          <a:xfrm>
            <a:off x="10625328" y="17922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 · 云台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10625328" y="2103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 / 低速</a:t>
            </a:r>
            <a:endParaRPr lang="en-US" sz="92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移动至观察点</a:t>
            </a:r>
            <a:endParaRPr lang="en-US" sz="92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 / 变焦</a:t>
            </a:r>
            <a:endParaRPr lang="en-US" sz="92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恢复路线</a:t>
            </a:r>
            <a:endParaRPr lang="en-US" sz="920" dirty="0"/>
          </a:p>
        </p:txBody>
      </p:sp>
      <p:sp>
        <p:nvSpPr>
          <p:cNvPr id="30" name="Shape 25"/>
          <p:cNvSpPr/>
          <p:nvPr/>
        </p:nvSpPr>
        <p:spPr>
          <a:xfrm>
            <a:off x="1609344" y="2322576"/>
            <a:ext cx="274320" cy="310896"/>
          </a:xfrm>
          <a:prstGeom prst="rightArrow">
            <a:avLst/>
          </a:prstGeom>
          <a:solidFill>
            <a:srgbClr val="5D6E7E"/>
          </a:solidFill>
          <a:ln w="6350">
            <a:solidFill>
              <a:srgbClr val="5D6E7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314432" y="2322576"/>
            <a:ext cx="274320" cy="310896"/>
          </a:xfrm>
          <a:prstGeom prst="rightArrow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259568" y="26700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串口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4041648" y="177393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IF-1</a:t>
            </a:r>
            <a:endParaRPr lang="en-US" sz="9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检出事件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096512" y="2322576"/>
            <a:ext cx="896112" cy="310896"/>
          </a:xfrm>
          <a:prstGeom prst="rightArrow">
            <a:avLst/>
          </a:prstGeom>
          <a:solidFill>
            <a:srgbClr val="1667B0"/>
          </a:solidFill>
          <a:ln w="6350">
            <a:solidFill>
              <a:srgbClr val="1667B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041648" y="2670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PUB/SUB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Hz + 按需</a:t>
            </a:r>
            <a:endParaRPr lang="en-US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7150608" y="177393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IF-2</a:t>
            </a:r>
            <a:endParaRPr lang="en-US" sz="9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控制指令 / 应答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205472" y="2322576"/>
            <a:ext cx="896112" cy="310896"/>
          </a:xfrm>
          <a:prstGeom prst="rightArrow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150608" y="2670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REQ/REP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 + 5 Hz 心跳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2121408" y="3328416"/>
            <a:ext cx="7955280" cy="292608"/>
          </a:xfrm>
          <a:prstGeom prst="leftArrow">
            <a:avLst/>
          </a:prstGeom>
          <a:solidFill>
            <a:srgbClr val="DCEFE4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2359152" y="332841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IF-3　StatusReport　网关 → 所有进程　20 Hz + 安全事件插播（感知据此判断正处于复核态）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2871216" y="3621024"/>
            <a:ext cx="237744" cy="146304"/>
          </a:xfrm>
          <a:prstGeom prst="downArrow">
            <a:avLst/>
          </a:prstGeom>
          <a:solidFill>
            <a:srgbClr val="D98200"/>
          </a:solidFill>
          <a:ln w="6350">
            <a:solidFill>
              <a:srgbClr val="D9820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980176" y="3621024"/>
            <a:ext cx="237744" cy="146304"/>
          </a:xfrm>
          <a:prstGeom prst="downArrow">
            <a:avLst/>
          </a:prstGeom>
          <a:solidFill>
            <a:srgbClr val="D98200"/>
          </a:solidFill>
          <a:ln w="6350">
            <a:solidFill>
              <a:srgbClr val="D9820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938528" y="3767328"/>
            <a:ext cx="5212080" cy="877824"/>
          </a:xfrm>
          <a:prstGeom prst="roundRect">
            <a:avLst>
              <a:gd name="adj" fmla="val 5208"/>
            </a:avLst>
          </a:prstGeom>
          <a:solidFill>
            <a:srgbClr val="FBEBD2"/>
          </a:solidFill>
          <a:ln w="9525">
            <a:solidFill>
              <a:srgbClr val="FBEBD2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121408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证据目录　&lt;run_id&gt;/&lt;event_id&gt;/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2121408" y="41330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704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第五条接口，但不走总线：before / after 两张图与两份 sidecar 由感知和任务分别写入，上传进程读同一目录组包。</a:t>
            </a:r>
            <a:endParaRPr lang="en-US" sz="920" dirty="0"/>
          </a:p>
        </p:txBody>
      </p:sp>
      <p:sp>
        <p:nvSpPr>
          <p:cNvPr id="46" name="Shape 41"/>
          <p:cNvSpPr/>
          <p:nvPr/>
        </p:nvSpPr>
        <p:spPr>
          <a:xfrm>
            <a:off x="7242048" y="4041648"/>
            <a:ext cx="310896" cy="310896"/>
          </a:xfrm>
          <a:prstGeom prst="rightArrow">
            <a:avLst/>
          </a:prstGeom>
          <a:solidFill>
            <a:srgbClr val="D98200"/>
          </a:solidFill>
          <a:ln w="6350">
            <a:solidFill>
              <a:srgbClr val="D98200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644384" y="3767328"/>
            <a:ext cx="1828800" cy="877824"/>
          </a:xfrm>
          <a:prstGeom prst="roundRect">
            <a:avLst>
              <a:gd name="adj" fmla="val 520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772400" y="3840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uploader　上传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7772400" y="41330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 before/after 组包</a:t>
            </a:r>
            <a:endParaRPr lang="en-US" sz="92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HTTP 或 MQTT 上传</a:t>
            </a:r>
            <a:endParaRPr lang="en-US" sz="920" dirty="0"/>
          </a:p>
        </p:txBody>
      </p:sp>
      <p:sp>
        <p:nvSpPr>
          <p:cNvPr id="50" name="Shape 45"/>
          <p:cNvSpPr/>
          <p:nvPr/>
        </p:nvSpPr>
        <p:spPr>
          <a:xfrm>
            <a:off x="9564624" y="4041648"/>
            <a:ext cx="310896" cy="310896"/>
          </a:xfrm>
          <a:prstGeom prst="rightArrow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9491472" y="38039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IF-4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9966960" y="3767328"/>
            <a:ext cx="1828800" cy="877824"/>
          </a:xfrm>
          <a:prstGeom prst="roundRect">
            <a:avLst>
              <a:gd name="adj" fmla="val 5208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0113264" y="38404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10113264" y="41330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台账入库 · 人工复核裁决</a:t>
            </a:r>
            <a:endParaRPr lang="en-US" sz="92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模型版本管理</a:t>
            </a:r>
            <a:endParaRPr lang="en-US" sz="920" dirty="0"/>
          </a:p>
        </p:txBody>
      </p:sp>
      <p:sp>
        <p:nvSpPr>
          <p:cNvPr id="55" name="Shape 50"/>
          <p:cNvSpPr/>
          <p:nvPr/>
        </p:nvSpPr>
        <p:spPr>
          <a:xfrm>
            <a:off x="384048" y="4882896"/>
            <a:ext cx="11423599" cy="786384"/>
          </a:xfrm>
          <a:prstGeom prst="roundRect">
            <a:avLst>
              <a:gd name="adj" fmla="val 5814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40080" y="4882896"/>
            <a:ext cx="10835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框是硬件，实线框是进程。四个进程只有网关持有驱动实例，其余三个即使写错代码也没有可以调用的驱动；网关又不加载任何模型，所以感知或任务进程崩溃时它还活着，能把车辆按原路线送完。四条接口的报文格式在编码前就冻结成五份 JSON Schema——detection_event、control_command、command_ack、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status_report、evidence_package，字段全部 additionalProperties: false，配 59 项一致性校验。</a:t>
            </a:r>
            <a:endParaRPr lang="en-US" sz="1020" dirty="0"/>
          </a:p>
        </p:txBody>
      </p:sp>
      <p:sp>
        <p:nvSpPr>
          <p:cNvPr id="57" name="Text 52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接口契约冻结于开题评审；改动走 ALLOWED_DRIFT 白名单，修改字段语义需全组重评审</a:t>
            </a:r>
            <a:endParaRPr lang="en-US" sz="980" dirty="0"/>
          </a:p>
        </p:txBody>
      </p:sp>
      <p:sp>
        <p:nvSpPr>
          <p:cNvPr id="58" name="Text 53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三.实施路径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　这套结构怎么跑起来：一次复核的十二步数据流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证据目录作为第五条隐式接口，不新增总线报文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五份 Schema 已冻结不容新增字段，而目录结构本身就是契约的一部分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80160"/>
                <a:gridCol w="6903720"/>
                <a:gridCol w="2852928"/>
              </a:tblGrid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代码位置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perception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Hz 巡航，L1 检出一块表，置信度落在 0.25 至 0.60 的可疑带内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node.py::process_frame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perception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铸 event_id（仅在车辆运动且变焦处于广角端时），发 IF-1，is_suspect=true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node.py，new_uuid()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连续三帧同一 track_id 才确认，再查三条抑制规则与复核预算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fsm.py::_st_cruise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下发「暂停巡检」，网关执行五项校验后底盘停车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fsm.py → gateway/checks.py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针孔几何算 aim_offset 做前馈粗对准，再用 PID 闭合像素残差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fsm.py::_st_aim、servo.py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zoom_for_density 算出使成像达标所需的倍率并下发「云台变焦」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scene/optics.py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perception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IF-3 的状态组合识别出正在复核，运行四路模型并做融合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node.py::verify_due → fusion.py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perception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融合结论与四路各自输出写入 fusion.json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node.py::_dump_fusion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状态机过程与各状态耗时写入 mission_ctx.json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node.py::_dump_ctx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uploader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 before 与 after，合并两个 sidecar，生成 manifest.json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packer.py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uploader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先传元数据再传文件，支持断点续传与指数退避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transport.py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cloud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入库、台账展示、人工复核裁决、模型版本登记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cloud/db.py、server.py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5340096"/>
            <a:ext cx="11423599" cy="786384"/>
          </a:xfrm>
          <a:prstGeom prst="roundRect">
            <a:avLst>
              <a:gd name="adj" fmla="val 5814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40080" y="5340096"/>
            <a:ext cx="10835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8、9 步为什么落文件而不走总线：IF-1 的 Schema 不允许新增字段，OCR 原文与状态机过程放不进去；而证据目录的结构本身就是接口契约的一部分，两个进程读写同一个 &lt;run_id&gt;/&lt;event_id&gt;/ 目录属于契约内用法，不必新开第五条接口。</a:t>
            </a:r>
            <a:endParaRPr lang="en-US" sz="1080" dirty="0"/>
          </a:p>
        </p:txBody>
      </p:sp>
      <p:sp>
        <p:nvSpPr>
          <p:cNvPr id="12" name="Text 6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三.研究方法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　硬件没到怎么验证：虚拟试验台与故障注入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驱动抽象 + 注入真机故障率的桩，而不是空实现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桩若把目标值直接赋给状态量，任何到位判据都会通过，验证就没有意义</a:t>
            </a:r>
            <a:endParaRPr lang="en-US" sz="1200" dirty="0"/>
          </a:p>
        </p:txBody>
      </p:sp>
      <p:pic>
        <p:nvPicPr>
          <p:cNvPr id="9" name="Image 3" descr="/home/user/2026summer/deliverables/_deck/img/thirdperson_comp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16736"/>
            <a:ext cx="6675120" cy="18745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84048" y="3255264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第三人称机位同时画出车身、云台朝向与当前视锥。变焦 1× 到 3× 时视场角由 60.0° 收窄到 21.8°，视锥落在被复核的表盘上。指令下发、云台转动、视场覆盖目标这一串过程因此可以直接观察。</a:t>
            </a:r>
            <a:endParaRPr lang="en-US" sz="1020" dirty="0"/>
          </a:p>
        </p:txBody>
      </p:sp>
      <p:sp>
        <p:nvSpPr>
          <p:cNvPr id="11" name="Shape 5"/>
          <p:cNvSpPr/>
          <p:nvPr/>
        </p:nvSpPr>
        <p:spPr>
          <a:xfrm>
            <a:off x="7260336" y="1316736"/>
            <a:ext cx="444398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46150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桩不是空实现</a:t>
            </a:r>
            <a:endParaRPr lang="en-US" sz="1150" dirty="0"/>
          </a:p>
        </p:txBody>
      </p:sp>
      <p:sp>
        <p:nvSpPr>
          <p:cNvPr id="13" name="Text 7"/>
          <p:cNvSpPr txBox="1"/>
          <p:nvPr/>
        </p:nvSpPr>
        <p:spPr>
          <a:xfrm>
            <a:off x="7461504" y="1645920"/>
            <a:ext cx="4041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注入真机上实际存在的故障：ACK 丢包 2 %、对焦失败 5 %、云台角速度上限、安全事件 0.05 次/分。若驱动只把目标值直接赋给状态量，任何到位判据都会通过，验证便失去意义。</a:t>
            </a:r>
            <a:endParaRPr lang="en-US" sz="980" dirty="0"/>
          </a:p>
        </p:txBody>
      </p:sp>
      <p:sp>
        <p:nvSpPr>
          <p:cNvPr id="14" name="Shape 8"/>
          <p:cNvSpPr/>
          <p:nvPr/>
        </p:nvSpPr>
        <p:spPr>
          <a:xfrm>
            <a:off x="7260336" y="2414016"/>
            <a:ext cx="444398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61504" y="2487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真值与先验严格分开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7461504" y="2743200"/>
            <a:ext cx="4041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世界模型中的 truth 只提供给渲染器与评分逻辑，感知侧读不到。否则精度指标等于用真值核对真值。这条约束是评测结果可信的前提。</a:t>
            </a:r>
            <a:endParaRPr lang="en-US" sz="980" dirty="0"/>
          </a:p>
        </p:txBody>
      </p:sp>
      <p:sp>
        <p:nvSpPr>
          <p:cNvPr id="17" name="Shape 11"/>
          <p:cNvSpPr/>
          <p:nvPr/>
        </p:nvSpPr>
        <p:spPr>
          <a:xfrm>
            <a:off x="7260336" y="3511296"/>
            <a:ext cx="444398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461504" y="3584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串口链路已由假小车验证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7461504" y="3840480"/>
            <a:ext cx="4041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fakecar 以独立进程运行，字节经过内核（POSIX 用 PTY，Windows 用 TCP 环回）。分帧、CRC、超时、重传与丢包注入均按原样发生。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7260336" y="4608576"/>
            <a:ext cx="444398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461504" y="4681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硬件到位只改两处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7461504" y="4937760"/>
            <a:ext cx="4041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configs/system.yaml 的 driver_mode 由 stub 改为 real，configs/real.yaml 填端口与限位。上位机代码不动。</a:t>
            </a:r>
            <a:endParaRPr lang="en-US" sz="980" dirty="0"/>
          </a:p>
        </p:txBody>
      </p:sp>
      <p:sp>
        <p:nvSpPr>
          <p:cNvPr id="23" name="Shape 17"/>
          <p:cNvSpPr/>
          <p:nvPr/>
        </p:nvSpPr>
        <p:spPr>
          <a:xfrm>
            <a:off x="384048" y="3931920"/>
            <a:ext cx="6675120" cy="493776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85216" y="393192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接口一致性校验　59 项</a:t>
            </a:r>
            <a:endParaRPr lang="en-US" sz="1120" dirty="0"/>
          </a:p>
        </p:txBody>
      </p:sp>
      <p:sp>
        <p:nvSpPr>
          <p:cNvPr id="25" name="Text 19"/>
          <p:cNvSpPr txBox="1"/>
          <p:nvPr/>
        </p:nvSpPr>
        <p:spPr>
          <a:xfrm>
            <a:off x="3657600" y="39319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patrol.tools.validate</a:t>
            </a:r>
            <a:endParaRPr lang="en-US" sz="920" dirty="0"/>
          </a:p>
        </p:txBody>
      </p:sp>
      <p:sp>
        <p:nvSpPr>
          <p:cNvPr id="26" name="Shape 20"/>
          <p:cNvSpPr/>
          <p:nvPr/>
        </p:nvSpPr>
        <p:spPr>
          <a:xfrm>
            <a:off x="384048" y="4498848"/>
            <a:ext cx="6675120" cy="493776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85216" y="449884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　536 项，覆盖率 75 %</a:t>
            </a:r>
            <a:endParaRPr lang="en-US" sz="112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44988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-q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384048" y="5065776"/>
            <a:ext cx="6675120" cy="493776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85216" y="50657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端到端实跑　300 s 一轮</a:t>
            </a:r>
            <a:endParaRPr lang="en-US" sz="1120" dirty="0"/>
          </a:p>
        </p:txBody>
      </p:sp>
      <p:sp>
        <p:nvSpPr>
          <p:cNvPr id="31" name="Text 25"/>
          <p:cNvSpPr txBox="1"/>
          <p:nvPr/>
        </p:nvSpPr>
        <p:spPr>
          <a:xfrm>
            <a:off x="3657600" y="506577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6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patrol.tools.run_all --seconds 300</a:t>
            </a:r>
            <a:endParaRPr lang="en-US" sz="920" dirty="0"/>
          </a:p>
        </p:txBody>
      </p:sp>
      <p:sp>
        <p:nvSpPr>
          <p:cNvPr id="32" name="Text 26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三.资料来源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　数据从哪来：公开数据训纹理，合成数据补结构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权重从公开数据集训练，合成数据只做增广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合成图的纹理、光照与背景比不了真实照片；它能补的是密度分层与配对样本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143000"/>
                <a:gridCol w="1188720"/>
                <a:gridCol w="1783080"/>
                <a:gridCol w="5157216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获取与处理方式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Roboflow distribution_room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2 773 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检测框标注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 BY 4.0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检测训练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注册免费账号导出 YOLOv8 格式；prepare_dataset --to-yolo 统一到本项目三类状态量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PaddleX 工业表计读数数据集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分割 374 训练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百度官方公开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分割训练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直链下载无需登录；--from-paddlex 转换，类别映射 pointer→needle、scale→ticks，background 置 255 忽略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合成数据集（自建）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至 800 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增广 / L2 掩膜 / L3 正常集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按针孔投影渲染，RGB 与掩膜共用同一套比例常数，逐像素对齐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系统运行产出的证据包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 4 至 6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正常样本 / 量化校准集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run_all 跑一轮即产出；L3 用 --from-evidence 直接读取，分布最接近运行时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4937760"/>
            <a:ext cx="3703320" cy="118872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384048" y="4937760"/>
            <a:ext cx="64008" cy="1188720"/>
          </a:xfrm>
          <a:prstGeom prst="rect">
            <a:avLst/>
          </a:prstGeom>
          <a:solidFill>
            <a:srgbClr val="0B3C6B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03504" y="501091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公开数据训纹理，合成数据补结构</a:t>
            </a:r>
            <a:endParaRPr lang="en-US" sz="1120" dirty="0"/>
          </a:p>
        </p:txBody>
      </p:sp>
      <p:sp>
        <p:nvSpPr>
          <p:cNvPr id="13" name="Text 7"/>
          <p:cNvSpPr txBox="1"/>
          <p:nvPr/>
        </p:nvSpPr>
        <p:spPr>
          <a:xfrm>
            <a:off x="603504" y="5340096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合成数据在纹理多样性、光照与背景杂物上无法与真实照片相比，因此权重从公开数据集训练。合成数据补的是公开数据在结构上给不了的三样：像素密度分层、同一目标的 before/after 配对、表面文字真值。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242816" y="4937760"/>
            <a:ext cx="3703320" cy="118872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242816" y="4937760"/>
            <a:ext cx="64008" cy="1188720"/>
          </a:xfrm>
          <a:prstGeom prst="rect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462272" y="501091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真实标注用在合成数据最难提供监督的一环</a:t>
            </a:r>
            <a:endParaRPr lang="en-US" sz="1120" dirty="0"/>
          </a:p>
        </p:txBody>
      </p:sp>
      <p:sp>
        <p:nvSpPr>
          <p:cNvPr id="17" name="Text 11"/>
          <p:cNvSpPr txBox="1"/>
          <p:nvPr/>
        </p:nvSpPr>
        <p:spPr>
          <a:xfrm>
            <a:off x="4462272" y="5340096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指针与刻度的区分是合成掩膜最弱的一维。实测仅用合成掩膜训练时指针 IoU 为 0.251，加入 PaddleX 真实标注后升到 0.384，模型与评测口径不变，提高 53 %。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8101584" y="4937760"/>
            <a:ext cx="3703320" cy="118872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01584" y="4937760"/>
            <a:ext cx="64008" cy="1188720"/>
          </a:xfrm>
          <a:prstGeom prst="rect">
            <a:avLst/>
          </a:prstGeom>
          <a:solidFill>
            <a:srgbClr val="C0202B"/>
          </a:solidFill>
          <a:ln w="12700">
            <a:solidFill>
              <a:srgbClr val="C0202B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321040" y="501091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识别对象为何是三类状态量</a:t>
            </a:r>
            <a:endParaRPr lang="en-US" sz="1120" dirty="0"/>
          </a:p>
        </p:txBody>
      </p:sp>
      <p:sp>
        <p:nvSpPr>
          <p:cNvPr id="21" name="Text 15"/>
          <p:cNvSpPr txBox="1"/>
          <p:nvPr/>
        </p:nvSpPr>
        <p:spPr>
          <a:xfrm>
            <a:off x="8321040" y="5340096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室内配电室的外观缺陷（渗漏油、呼吸器变色、积水）几乎没有公开标注数据，而状态量（表计、指示灯、开关位置）有配套数据集。外观缺陷改由 L3 非监督异常承接，它只需要正常样本。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任务书未指定数据集，仅点名可用工具：YOLO 系列、MobileNet、EfficientAD 或 PaDiM、ByteTrack、OpenCV</a:t>
            </a:r>
            <a:endParaRPr lang="en-US" sz="980" dirty="0"/>
          </a:p>
        </p:txBody>
      </p:sp>
      <p:sp>
        <p:nvSpPr>
          <p:cNvPr id="23" name="Text 17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三.识别层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　为什么不用一个大模型：四类模型分工与显式仲裁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四路模型分工，结论交纯规则的 L4 仲裁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四个子问题对算力、精度与输出形式的要求互相冲突；而判定依据必须逐条可追溯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73609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  <a:gridCol w="16916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子问题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要回答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模型类别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为什么不能合并为一个模型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在哪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画面里有哪些设备，框在哪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目标检测 L1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需全图扫描且延迟低，巡航期 30 Hz 只负担得起这一路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多少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指针指向几、液位到哪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语义分割 + 几何解算 L2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需像素级精度，只能在放大后的小 ROI 上运行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写的什么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铭牌量程、单位、位置指示牌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 L2′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输出是字符串而非数值，损失函数与评价指标都不同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没见过的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训练集之外的异常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非监督异常 L3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有监督模型对训练集外类别不输出，属系统性漏检而非误判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信谁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四路证据矛盾时如何取舍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67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显式规则仲裁 L4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结论要能逐条给出判定依据，模型输出的置信度做不到这一点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7955280" y="1316736"/>
            <a:ext cx="3749040" cy="274320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156448" y="1426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仲裁：六种结论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8174736" y="1847088"/>
            <a:ext cx="146304" cy="146304"/>
          </a:xfrm>
          <a:prstGeom prst="ellipse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8412480" y="1755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CONFIRMED_DEFECT</a:t>
            </a:r>
            <a:endParaRPr lang="en-US" sz="1020" dirty="0"/>
          </a:p>
        </p:txBody>
      </p:sp>
      <p:sp>
        <p:nvSpPr>
          <p:cNvPr id="14" name="Text 8"/>
          <p:cNvSpPr txBox="1"/>
          <p:nvPr/>
        </p:nvSpPr>
        <p:spPr>
          <a:xfrm>
            <a:off x="10588752" y="1755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确认缺陷</a:t>
            </a:r>
            <a:endParaRPr lang="en-US" sz="1020" dirty="0"/>
          </a:p>
        </p:txBody>
      </p:sp>
      <p:sp>
        <p:nvSpPr>
          <p:cNvPr id="15" name="Shape 9"/>
          <p:cNvSpPr/>
          <p:nvPr/>
        </p:nvSpPr>
        <p:spPr>
          <a:xfrm>
            <a:off x="8174736" y="2212848"/>
            <a:ext cx="146304" cy="146304"/>
          </a:xfrm>
          <a:prstGeom prst="ellipse">
            <a:avLst/>
          </a:prstGeom>
          <a:solidFill>
            <a:srgbClr val="C0202B"/>
          </a:solidFill>
          <a:ln w="6350">
            <a:solidFill>
              <a:srgbClr val="C0202B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412480" y="21214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READING_ABNORMAL</a:t>
            </a:r>
            <a:endParaRPr lang="en-US" sz="1020" dirty="0"/>
          </a:p>
        </p:txBody>
      </p:sp>
      <p:sp>
        <p:nvSpPr>
          <p:cNvPr id="17" name="Text 11"/>
          <p:cNvSpPr txBox="1"/>
          <p:nvPr/>
        </p:nvSpPr>
        <p:spPr>
          <a:xfrm>
            <a:off x="10588752" y="2121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读数越界</a:t>
            </a:r>
            <a:endParaRPr lang="en-US" sz="1020" dirty="0"/>
          </a:p>
        </p:txBody>
      </p:sp>
      <p:sp>
        <p:nvSpPr>
          <p:cNvPr id="18" name="Shape 12"/>
          <p:cNvSpPr/>
          <p:nvPr/>
        </p:nvSpPr>
        <p:spPr>
          <a:xfrm>
            <a:off x="8174736" y="2578608"/>
            <a:ext cx="146304" cy="146304"/>
          </a:xfrm>
          <a:prstGeom prst="ellipse">
            <a:avLst/>
          </a:prstGeom>
          <a:solidFill>
            <a:srgbClr val="1E7A46"/>
          </a:solidFill>
          <a:ln w="6350">
            <a:solidFill>
              <a:srgbClr val="1E7A4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412480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READING_OK</a:t>
            </a:r>
            <a:endParaRPr lang="en-US" sz="1020" dirty="0"/>
          </a:p>
        </p:txBody>
      </p:sp>
      <p:sp>
        <p:nvSpPr>
          <p:cNvPr id="20" name="Text 14"/>
          <p:cNvSpPr txBox="1"/>
          <p:nvPr/>
        </p:nvSpPr>
        <p:spPr>
          <a:xfrm>
            <a:off x="10588752" y="24871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读数正常</a:t>
            </a:r>
            <a:endParaRPr lang="en-US" sz="1020" dirty="0"/>
          </a:p>
        </p:txBody>
      </p:sp>
      <p:sp>
        <p:nvSpPr>
          <p:cNvPr id="21" name="Shape 15"/>
          <p:cNvSpPr/>
          <p:nvPr/>
        </p:nvSpPr>
        <p:spPr>
          <a:xfrm>
            <a:off x="8174736" y="2944368"/>
            <a:ext cx="146304" cy="146304"/>
          </a:xfrm>
          <a:prstGeom prst="ellipse">
            <a:avLst/>
          </a:prstGeom>
          <a:solidFill>
            <a:srgbClr val="1667B0"/>
          </a:solidFill>
          <a:ln w="6350">
            <a:solidFill>
              <a:srgbClr val="1667B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412480" y="2852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FALSE_ALARM</a:t>
            </a:r>
            <a:endParaRPr lang="en-US" sz="1020" dirty="0"/>
          </a:p>
        </p:txBody>
      </p:sp>
      <p:sp>
        <p:nvSpPr>
          <p:cNvPr id="23" name="Text 17"/>
          <p:cNvSpPr txBox="1"/>
          <p:nvPr/>
        </p:nvSpPr>
        <p:spPr>
          <a:xfrm>
            <a:off x="10588752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误报消解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8174736" y="3310128"/>
            <a:ext cx="146304" cy="146304"/>
          </a:xfrm>
          <a:prstGeom prst="ellipse">
            <a:avLst/>
          </a:prstGeom>
          <a:solidFill>
            <a:srgbClr val="D98200"/>
          </a:solidFill>
          <a:ln w="6350">
            <a:solidFill>
              <a:srgbClr val="D9820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412480" y="32186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UNKNOWN_ANOMALY</a:t>
            </a:r>
            <a:endParaRPr lang="en-US" sz="1020" dirty="0"/>
          </a:p>
        </p:txBody>
      </p:sp>
      <p:sp>
        <p:nvSpPr>
          <p:cNvPr id="26" name="Text 20"/>
          <p:cNvSpPr txBox="1"/>
          <p:nvPr/>
        </p:nvSpPr>
        <p:spPr>
          <a:xfrm>
            <a:off x="10588752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未知异常</a:t>
            </a:r>
            <a:endParaRPr lang="en-US" sz="1020" dirty="0"/>
          </a:p>
        </p:txBody>
      </p:sp>
      <p:sp>
        <p:nvSpPr>
          <p:cNvPr id="27" name="Shape 21"/>
          <p:cNvSpPr/>
          <p:nvPr/>
        </p:nvSpPr>
        <p:spPr>
          <a:xfrm>
            <a:off x="8174736" y="3675888"/>
            <a:ext cx="146304" cy="146304"/>
          </a:xfrm>
          <a:prstGeom prst="ellipse">
            <a:avLst/>
          </a:prstGeom>
          <a:solidFill>
            <a:srgbClr val="5D6E7E"/>
          </a:solidFill>
          <a:ln w="6350">
            <a:solidFill>
              <a:srgbClr val="5D6E7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412480" y="35844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INCONCLUSIVE</a:t>
            </a:r>
            <a:endParaRPr lang="en-US" sz="1020" dirty="0"/>
          </a:p>
        </p:txBody>
      </p:sp>
      <p:sp>
        <p:nvSpPr>
          <p:cNvPr id="29" name="Text 23"/>
          <p:cNvSpPr txBox="1"/>
          <p:nvPr/>
        </p:nvSpPr>
        <p:spPr>
          <a:xfrm>
            <a:off x="10588752" y="3584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证据不足</a:t>
            </a:r>
            <a:endParaRPr lang="en-US" sz="1020" dirty="0"/>
          </a:p>
        </p:txBody>
      </p:sp>
      <p:sp>
        <p:nvSpPr>
          <p:cNvPr id="30" name="Shape 24"/>
          <p:cNvSpPr/>
          <p:nvPr/>
        </p:nvSpPr>
        <p:spPr>
          <a:xfrm>
            <a:off x="384048" y="4626864"/>
            <a:ext cx="11423599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85216" y="46268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一个模型全干的代价</a:t>
            </a:r>
            <a:endParaRPr lang="en-US" sz="1120" dirty="0"/>
          </a:p>
        </p:txBody>
      </p:sp>
      <p:sp>
        <p:nvSpPr>
          <p:cNvPr id="32" name="Text 26"/>
          <p:cNvSpPr txBox="1"/>
          <p:nvPr/>
        </p:nvSpPr>
        <p:spPr>
          <a:xfrm>
            <a:off x="3511296" y="4626864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要保持 30 Hz 就无法做像素级分割；要做像素级分割就无法全图扫描；要识别字符就要换输出头；要识别训练集外异常就不能用有监督损失。四者对算力、精度与输出形式的要求互相冲突。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84048" y="5193792"/>
            <a:ext cx="11423599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85216" y="519379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仲裁层为何用规则而非模型</a:t>
            </a:r>
            <a:endParaRPr lang="en-US" sz="1120" dirty="0"/>
          </a:p>
        </p:txBody>
      </p:sp>
      <p:sp>
        <p:nvSpPr>
          <p:cNvPr id="35" name="Text 29"/>
          <p:cNvSpPr txBox="1"/>
          <p:nvPr/>
        </p:nvSpPr>
        <p:spPr>
          <a:xfrm>
            <a:off x="3511296" y="5193792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任务书把「伦理与社会责任（AI 误判、数据隐私与可解释性）」列为必须考虑的非技术因素。规则仲裁的每条结论附带 reasons 字段，可逐级追溯，模型给不出这种可解释性。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84048" y="5760720"/>
            <a:ext cx="11423599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85216" y="576072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观测条件不足时的处理</a:t>
            </a:r>
            <a:endParaRPr lang="en-US" sz="1120" dirty="0"/>
          </a:p>
        </p:txBody>
      </p:sp>
      <p:sp>
        <p:nvSpPr>
          <p:cNvPr id="38" name="Text 32"/>
          <p:cNvSpPr txBox="1"/>
          <p:nvPr/>
        </p:nvSpPr>
        <p:spPr>
          <a:xfrm>
            <a:off x="3511296" y="5760720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像素密度不达标时输出 INCONCLUSIVE 并交人复核，而不给出一个数值精确但实际不可信的读数。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实现：perception/fusion.py，纯规则，六种结论各有测试用例</a:t>
            </a:r>
            <a:endParaRPr lang="en-US" sz="980" dirty="0"/>
          </a:p>
        </p:txBody>
      </p:sp>
      <p:sp>
        <p:nvSpPr>
          <p:cNvPr id="40" name="Text 34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三.识别层 L1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　L1 目标检测：为什么用公开集训练，为什么分两级阈值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YOLO11 + 公开集权重，巡航级 0.25 与复核级 0.60 两套阈值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巡航期只负担得起一路小模型；误报不在这一层消解，留给放大后的复核级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188366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66928" y="140817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0.9949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56692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mAP50</a:t>
            </a:r>
            <a:endParaRPr lang="en-US" sz="1120" dirty="0"/>
          </a:p>
        </p:txBody>
      </p:sp>
      <p:sp>
        <p:nvSpPr>
          <p:cNvPr id="12" name="Shape 7"/>
          <p:cNvSpPr/>
          <p:nvPr/>
        </p:nvSpPr>
        <p:spPr>
          <a:xfrm>
            <a:off x="2395728" y="1316736"/>
            <a:ext cx="188366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2578608" y="140817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0.7513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257860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mAP50-95</a:t>
            </a:r>
            <a:endParaRPr lang="en-US" sz="1120" dirty="0"/>
          </a:p>
        </p:txBody>
      </p:sp>
      <p:sp>
        <p:nvSpPr>
          <p:cNvPr id="15" name="Shape 10"/>
          <p:cNvSpPr/>
          <p:nvPr/>
        </p:nvSpPr>
        <p:spPr>
          <a:xfrm>
            <a:off x="4407408" y="1316736"/>
            <a:ext cx="188366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90288" y="140817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0.9967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459028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</a:t>
            </a:r>
            <a:endParaRPr lang="en-US" sz="1120" dirty="0"/>
          </a:p>
        </p:txBody>
      </p:sp>
      <p:sp>
        <p:nvSpPr>
          <p:cNvPr id="18" name="Shape 13"/>
          <p:cNvSpPr/>
          <p:nvPr/>
        </p:nvSpPr>
        <p:spPr>
          <a:xfrm>
            <a:off x="6419088" y="1316736"/>
            <a:ext cx="1883664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601968" y="140817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0.9976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660196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</a:t>
            </a:r>
            <a:endParaRPr lang="en-US" sz="1120" dirty="0"/>
          </a:p>
        </p:txBody>
      </p:sp>
      <p:sp>
        <p:nvSpPr>
          <p:cNvPr id="21" name="Shape 16"/>
          <p:cNvSpPr/>
          <p:nvPr/>
        </p:nvSpPr>
        <p:spPr>
          <a:xfrm>
            <a:off x="8485632" y="1316736"/>
            <a:ext cx="3218688" cy="1005840"/>
          </a:xfrm>
          <a:prstGeom prst="roundRect">
            <a:avLst>
              <a:gd name="adj" fmla="val 4545"/>
            </a:avLst>
          </a:prstGeom>
          <a:solidFill>
            <a:srgbClr val="FBEBD2"/>
          </a:solidFill>
          <a:ln w="9525">
            <a:solidFill>
              <a:srgbClr val="FBEBD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668512" y="131673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20" b="1" dirty="0">
                <a:solidFill>
                  <a:srgbClr val="8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轮 mAP50 已达 0.9759，偏高。</a:t>
            </a:r>
            <a:endParaRPr lang="en-US" sz="112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20" b="1" dirty="0">
                <a:solidFill>
                  <a:srgbClr val="8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需先排除训练集与验证集之间的同源增广副本。</a:t>
            </a:r>
            <a:endParaRPr lang="en-US" sz="1120" dirty="0"/>
          </a:p>
        </p:txBody>
      </p:sp>
      <p:pic>
        <p:nvPicPr>
          <p:cNvPr id="23" name="Image 3" descr="/home/user/2026summer/deliverables/_deck/img/l1_p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68880"/>
            <a:ext cx="3291840" cy="2194560"/>
          </a:xfrm>
          <a:prstGeom prst="rect">
            <a:avLst/>
          </a:prstGeom>
        </p:spPr>
      </p:pic>
      <p:pic>
        <p:nvPicPr>
          <p:cNvPr id="24" name="Image 4" descr="/home/user/2026summer/deliverables/_deck/img/l1_c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2468880"/>
            <a:ext cx="2926080" cy="219456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894576" y="2468880"/>
            <a:ext cx="4809744" cy="219456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114032" y="2578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 与 0.60 这两个阈值是怎么定的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7114032" y="2926080"/>
            <a:ext cx="4407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 是巡航级的下限。再低，抑制规则挡不住的误触发会耗尽复核预算。</a:t>
            </a:r>
            <a:endParaRPr lang="en-US" sz="1120" dirty="0"/>
          </a:p>
          <a:p>
            <a:pPr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0.60 是复核级的下限。低于它的目标在放大后仍判不实，与其给一个不可信的结论，不如输出「证据不足」交人复核。</a:t>
            </a:r>
            <a:endParaRPr lang="en-US" sz="1120" dirty="0"/>
          </a:p>
          <a:p>
            <a:pPr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两级之差 Δconf 是复核增益的度量：Δconf 为正，说明放大后的判定比巡航时更有把握。</a:t>
            </a:r>
            <a:endParaRPr lang="en-US" sz="1120" dirty="0"/>
          </a:p>
        </p:txBody>
      </p:sp>
      <p:sp>
        <p:nvSpPr>
          <p:cNvPr id="28" name="Shape 21"/>
          <p:cNvSpPr/>
          <p:nvPr/>
        </p:nvSpPr>
        <p:spPr>
          <a:xfrm>
            <a:off x="384048" y="4809744"/>
            <a:ext cx="11423599" cy="859536"/>
          </a:xfrm>
          <a:prstGeom prst="roundRect">
            <a:avLst>
              <a:gd name="adj" fmla="val 5319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40080" y="4809744"/>
            <a:ext cx="10835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方案比选：合成检测器 vs 公开集训练的 YOLO　|　合成检测器零成本、可离线复现，但纹理单一，上真机必然退化；公开集训练需注册账号并占用 GPU 工时，换来纹理多样性。结论：权重从公开集训练，合成数据仅用于增广，理由是合成数据补的是密度分层而非纹理多样性。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任务书点名可用 YOLO 系列与 MobileNet，本组选 YOLO11</a:t>
            </a:r>
            <a:endParaRPr lang="en-US" sz="980" dirty="0"/>
          </a:p>
        </p:txBody>
      </p:sp>
      <p:sp>
        <p:nvSpPr>
          <p:cNvPr id="31" name="Text 24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三.识别层 L2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3.10　L2 读数：为什么仍以几何解算为默认实现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几何解算（U-Net 保留不删）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门槛以上三档 P90 误差最低且置信区间不重叠；零权重、可追溯</a:t>
            </a:r>
            <a:endParaRPr lang="en-US" sz="1200" dirty="0"/>
          </a:p>
        </p:txBody>
      </p:sp>
      <p:pic>
        <p:nvPicPr>
          <p:cNvPr id="9" name="Image 3" descr="/home/user/2026summer/deliverables/_deck/img/l2_rea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16736"/>
            <a:ext cx="6675120" cy="376732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84048" y="512064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灰底两档为像素密度低于 96 px 的区间。fusion.py 的 DENSITY_FLOOR_FRAC = 0.80 在此拒绝下任何读数类结论，系统不会在这两档读数，所以这里的差异不参与比选。</a:t>
            </a:r>
            <a:endParaRPr lang="en-US" sz="980" dirty="0"/>
          </a:p>
        </p:txBody>
      </p:sp>
      <p:pic>
        <p:nvPicPr>
          <p:cNvPr id="11" name="Image 4" descr="/home/user/2026summer/deliverables/_deck/img/l2_io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1316736"/>
            <a:ext cx="4443984" cy="2542032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260336" y="3968496"/>
            <a:ext cx="4443984" cy="1554480"/>
          </a:xfrm>
          <a:prstGeom prst="roundRect">
            <a:avLst>
              <a:gd name="adj" fmla="val 2941"/>
            </a:avLst>
          </a:prstGeom>
          <a:solidFill>
            <a:srgbClr val="DCEFE4"/>
          </a:solidFill>
          <a:ln w="9525">
            <a:solidFill>
              <a:srgbClr val="DCEFE4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7461504" y="4041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读数环节采用几何解算，理由是这张图</a:t>
            </a:r>
            <a:endParaRPr lang="en-US" sz="1350" dirty="0"/>
          </a:p>
        </p:txBody>
      </p:sp>
      <p:sp>
        <p:nvSpPr>
          <p:cNvPr id="14" name="Text 7"/>
          <p:cNvSpPr txBox="1"/>
          <p:nvPr/>
        </p:nvSpPr>
        <p:spPr>
          <a:xfrm>
            <a:off x="7461504" y="4334256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门槛以上三档，几何法 P90 稳定在 0.18 至 0.19 %FS，U-Net 为 0.36 至 0.40，numpy 逐像素为 0.25 至 0.37，置信区间互不重叠。分割 IoU 与读数精度并不同向：U-Net 的指针 IoU 是 0.778，读数误差反而更大，因为几何解算只需要指针的方向，不需要它的完整轮廓。</a:t>
            </a:r>
            <a:endParaRPr lang="en-US" sz="980" dirty="0"/>
          </a:p>
        </p:txBody>
      </p:sp>
      <p:sp>
        <p:nvSpPr>
          <p:cNvPr id="15" name="Shape 8"/>
          <p:cNvSpPr/>
          <p:nvPr/>
        </p:nvSpPr>
        <p:spPr>
          <a:xfrm>
            <a:off x="384048" y="5614416"/>
            <a:ext cx="11423599" cy="841248"/>
          </a:xfrm>
          <a:prstGeom prst="roundRect">
            <a:avLst>
              <a:gd name="adj" fmla="val 5435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640080" y="5614416"/>
            <a:ext cx="10835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采用几何解算的三条理由　①　门槛以上三档误差最低且置信区间不重叠；②　零权重、单次 2.2 ms，不占 NPU 配额，不与 L1、L3 争算力；③　圆心、半径、指针角度每一步可追溯，符合任务书对可解释性的要求。　保留 U-Net 的理由　它在几何法假设失效的样本上有优势；但合成表盘的圆心、半径与刻度分布严格满足几何法的假设，学习法在这里没有可利用的余量，所以本结论只在合成数据上成立，真实表盘的椭圆畸变与遮挡是否构成失效，要等真实表盘误差表才能定，现在不改默认实现。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复现：bench_models --only reading --n 200　·　评测划分：val 90 个含针 ROI 中 59 个来自真实照片</a:t>
            </a:r>
            <a:endParaRPr lang="en-US" sz="980" dirty="0"/>
          </a:p>
        </p:txBody>
      </p:sp>
      <p:sp>
        <p:nvSpPr>
          <p:cNvPr id="18" name="Text 11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三.识别层 L3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3.11　L3 未知异常：为什么是非监督，为什么是全协方差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PaDiM 全协方差（统计法保留为零权重降级路径）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外观缺陷没有公开标注；异物改变的正是通道间相关性，对角版本看不见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1417320"/>
                <a:gridCol w="96012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统计法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基线·零权重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EfficientAD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简化蒸馏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PaDiM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对角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PaDiM 全协方差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（采用）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误报率（正常裁片 106）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1.9 %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漏报率（异常裁片 120）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90.8 %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100 %（分数倒挂）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48.3 %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3.3 %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正常均分 / 异常均分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 / 0.36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0.07 / 0.00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 / 0.56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 / 0.95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权重大小（成本）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 KB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 MB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 MB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44 MB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单次打分 CPU（实时性）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ms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未启用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ms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 ms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可解释（伦理要求）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可说明哪个通道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</a:tbl>
          </a:graphicData>
        </a:graphic>
      </p:graphicFrame>
      <p:pic>
        <p:nvPicPr>
          <p:cNvPr id="10" name="Image 3" descr="/home/user/2026summer/deliverables/_deck/img/l3_score_d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316736"/>
            <a:ext cx="4187952" cy="2359152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384048" y="4224528"/>
            <a:ext cx="694944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566928" y="4224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统计法漏报高的原因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2816352" y="42245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用马氏距离衡量全局偏离，对局部异常不敏感。异物遮挡只改变局部区域，在全局统计量上体现很弱。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384048" y="4846320"/>
            <a:ext cx="694944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566928" y="4846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EfficientAD 分数倒挂的原因</a:t>
            </a:r>
            <a:endParaRPr lang="en-US" sz="1050" dirty="0"/>
          </a:p>
        </p:txBody>
      </p:sp>
      <p:sp>
        <p:nvSpPr>
          <p:cNvPr id="16" name="Text 9"/>
          <p:cNvSpPr txBox="1"/>
          <p:nvPr/>
        </p:nvSpPr>
        <p:spPr>
          <a:xfrm>
            <a:off x="2816352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简化蒸馏在正常样本上过拟合后，学生网络对异常区域的重建误差反而更小。属方法与数据规模不匹配，非超参数问题。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384048" y="5468112"/>
            <a:ext cx="694944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66928" y="5468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全协方差有效的原因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2816352" y="5468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对角版本假设特征通道互相独立，忽略了通道间相关性；而异物改变的正是通道间的相关结构。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7516368" y="4224528"/>
            <a:ext cx="4187952" cy="1810512"/>
          </a:xfrm>
          <a:prstGeom prst="roundRect">
            <a:avLst>
              <a:gd name="adj" fmla="val 2525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17536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两项决定结果的实测发现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7717536" y="4626864"/>
            <a:ext cx="37856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　训练裁片必须模拟运行时的检测框噪声。实测裁掉 12 % 的正常表盘，异常分由 0.5 升到 1.0，全部误报。增广集加入抖动框后，系统实测的复核 ROI 回到正常分 0.00 至 0.09。</a:t>
            </a: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　L3 与 L2 分工清晰：开位开关被 L2 判为状态异常，L3 对其外观给正常分；外观异常才由 L3 负责。</a:t>
            </a:r>
            <a:endParaRPr lang="en-US" sz="980" dirty="0"/>
          </a:p>
        </p:txBody>
      </p:sp>
      <p:sp>
        <p:nvSpPr>
          <p:cNvPr id="23" name="Text 16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评测条件：训练 796 张正常裁片，评测 106 正常 + 120 异常，四方案阈值统一取 0.55</a:t>
            </a:r>
            <a:endParaRPr lang="en-US" sz="980" dirty="0"/>
          </a:p>
        </p:txBody>
      </p:sp>
      <p:sp>
        <p:nvSpPr>
          <p:cNvPr id="24" name="Text 17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三.方案比选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3.12　方案比选汇总：技术与非技术因素的权衡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非技术因素按任务书列出的四项计：安全、成本、可靠性、伦理与社会责任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103120"/>
                <a:gridCol w="2423160"/>
                <a:gridCol w="3063240"/>
                <a:gridCol w="2779776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候选方案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技术权衡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非技术因素权衡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检测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合成检测器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YOLO11 公开集训练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零成本可离线复现但纹理单一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纹理多样但需 GPU 工时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成本：② 需注册账号与显卡；可靠性：① 上真机必然退化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②，① 保留为无权重时的降级路径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读数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几何解算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numpy 逐像素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U-Net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P90 %FS（门槛以上）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0.18–0.19　② 0.25–0.37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0.36–0.40　耗时 2.2/5/59 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成本：③ 权重与算力开销最大；可解释：① 每一步可追溯，③ 不可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①（n = 200、置信区间不重叠）；③ 保留，待真实表盘误差表再定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异常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统计法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EfficientAD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③④ PaDiM 对角 / 全协方差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漏报 90.8 / 100 / 48.3 / 3.3 %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成本：④ 权重 44 MB 最大；可解释：① 可，其余不可；可靠性：② 分数倒挂不可用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④；① 保留为零权重降级路径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跟踪算法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IoU 跟踪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ByteTrack（任务书点名）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实现简单、零依赖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对遮挡与漏检更鲁棒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成本：② 引入额外依赖与调参工作量；可靠性：① 云台转动时易断链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当前用 ①，② 列入下一阶段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B3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部署形态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云端推理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边缘推理（RK3576）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算力充足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受 NPU 算力限制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可靠性：① 断网即失效；成本：① 持续带宽费用；安全：② 本地闭环响应更快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②，符合任务书边缘计算定位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5650992"/>
            <a:ext cx="11423599" cy="566928"/>
          </a:xfrm>
          <a:prstGeom prst="roundRect">
            <a:avLst>
              <a:gd name="adj" fmla="val 8065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40080" y="5650992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表里有两行的结论是「不采用」：L3 的 EfficientAD 复现后分数倒挂，L2 的 U-Net 读数误差反而更大。这两条连同实测数据一起留在表里，没有删。排除一个方案同样是比选的结果，也解释了最后为什么选另一个。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三.安全边界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3.13　安全边界：三层防线，每一层都能当场演示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参数硬限写进源码、心跳看门狗、安全事件抢占三层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配置文件在现场可以被改动，参数硬限因此写在源码里，由进程结构本身保证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11423599" cy="658368"/>
          </a:xfrm>
          <a:prstGeom prst="roundRect">
            <a:avLst>
              <a:gd name="adj" fmla="val 6944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0080" y="1316736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任务书允许的高层指令：暂停巡检　·　低速前进　·　移动至观察点　·　云台转向 / 变焦　·　恢复路线　　　急停、避障、限速的优先级高于巡检任务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84048" y="2157984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84048" y="2157984"/>
            <a:ext cx="73152" cy="1005840"/>
          </a:xfrm>
          <a:prstGeom prst="rect">
            <a:avLst/>
          </a:prstGeom>
          <a:solidFill>
            <a:srgbClr val="C0202B"/>
          </a:solidFill>
          <a:ln w="12700">
            <a:solidFill>
              <a:srgbClr val="C0202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21792" y="2231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　指令白名单与参数硬限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21792" y="250545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五项校验逐条上报 PASS、FAIL 或 SKIP。参数范围硬编码在源码里，不放进配置文件，因为配置文件在现场可以被改动。白名单只含任务书列出的高层指令。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961888" y="2267712"/>
            <a:ext cx="5742432" cy="347472"/>
          </a:xfrm>
          <a:prstGeom prst="roundRect">
            <a:avLst>
              <a:gd name="adj" fmla="val 13158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089904" y="2267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3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tests/test_gateway.py -k out_of_range -v</a:t>
            </a:r>
            <a:endParaRPr lang="en-US" sz="920" dirty="0"/>
          </a:p>
        </p:txBody>
      </p:sp>
      <p:sp>
        <p:nvSpPr>
          <p:cNvPr id="17" name="Text 12"/>
          <p:cNvSpPr txBox="1"/>
          <p:nvPr/>
        </p:nvSpPr>
        <p:spPr>
          <a:xfrm>
            <a:off x="5961888" y="2670048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现场可见结果：越界指令被拒，并留下逐项校验的审计记录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384048" y="3255264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84048" y="3255264"/>
            <a:ext cx="73152" cy="1005840"/>
          </a:xfrm>
          <a:prstGeom prst="rect">
            <a:avLst/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21792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　心跳看门狗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21792" y="360273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感知与任务进程异常退出后，网关在 1.5 s 内接管并下发「恢复路线」，使车辆按原路线走完。对应任务书「模型异常、算力不足时的安全降级」。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961888" y="3364992"/>
            <a:ext cx="5742432" cy="347472"/>
          </a:xfrm>
          <a:prstGeom prst="roundRect">
            <a:avLst>
              <a:gd name="adj" fmla="val 13158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089904" y="3364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3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run_all 启动后终止 mission 进程</a:t>
            </a:r>
            <a:endParaRPr lang="en-US" sz="920" dirty="0"/>
          </a:p>
        </p:txBody>
      </p:sp>
      <p:sp>
        <p:nvSpPr>
          <p:cNvPr id="24" name="Text 19"/>
          <p:cNvSpPr txBox="1"/>
          <p:nvPr/>
        </p:nvSpPr>
        <p:spPr>
          <a:xfrm>
            <a:off x="5961888" y="3767328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98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现场可见结果：AI 进程终止后，车辆仍按路线走完全程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384048" y="4352544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4048" y="4352544"/>
            <a:ext cx="73152" cy="1005840"/>
          </a:xfrm>
          <a:prstGeom prst="rect">
            <a:avLst/>
          </a:prstGeom>
          <a:solidFill>
            <a:srgbClr val="1667B0"/>
          </a:solidFill>
          <a:ln w="12700">
            <a:solidFill>
              <a:srgbClr val="1667B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1792" y="4425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　安全事件抢占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621792" y="47000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任何时刻的安全事件都能打断正在进行的复核，200 ms 内中止并回到安全状态。对应任务书「急停、避障、限速优先级高于巡检任务」。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961888" y="4462272"/>
            <a:ext cx="5742432" cy="347472"/>
          </a:xfrm>
          <a:prstGeom prst="roundRect">
            <a:avLst>
              <a:gd name="adj" fmla="val 13158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089904" y="44622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3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tests/test_fsm.py -k safety -v</a:t>
            </a:r>
            <a:endParaRPr lang="en-US" sz="920" dirty="0"/>
          </a:p>
        </p:txBody>
      </p:sp>
      <p:sp>
        <p:nvSpPr>
          <p:cNvPr id="31" name="Text 26"/>
          <p:cNvSpPr txBox="1"/>
          <p:nvPr/>
        </p:nvSpPr>
        <p:spPr>
          <a:xfrm>
            <a:off x="5961888" y="4864608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现场可见结果：注入安全事件，正在进行的复核 200 ms 内中止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384048" y="5449824"/>
            <a:ext cx="11423599" cy="475488"/>
          </a:xfrm>
          <a:prstGeom prst="roundRect">
            <a:avLst>
              <a:gd name="adj" fmla="val 9615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40080" y="5449824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所有指向底盘与云台的动作只经过 gateway 一个出口。其余三个进程即使写错代码，也没有可以调用的驱动实例。</a:t>
            </a:r>
            <a:endParaRPr lang="en-US" sz="1120" dirty="0"/>
          </a:p>
        </p:txBody>
      </p:sp>
      <p:sp>
        <p:nvSpPr>
          <p:cNvPr id="34" name="Text 29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三条演示合计不到一分钟，可在答辩现场依次执行</a:t>
            </a:r>
            <a:endParaRPr lang="en-US" sz="980" dirty="0"/>
          </a:p>
        </p:txBody>
      </p:sp>
      <p:sp>
        <p:nvSpPr>
          <p:cNvPr id="35" name="Text 30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三.控制验证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3.14　云台伺服：为什么必须做变焦增益调度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　</a:t>
            </a:r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控制量按变焦倍率缩放，ω = θ /(W · z) · u</a:t>
            </a:r>
            <a:pPr indent="0" marL="0">
              <a:buNone/>
            </a:pPr>
            <a:r>
              <a:rPr lang="en-US" sz="115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理由　</a:t>
            </a:r>
            <a:pPr indent="0" marL="0">
              <a:buNone/>
            </a:pPr>
            <a:r>
              <a:rPr lang="en-US" sz="11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 变焦下同样的转角对应三倍画面位移，固定增益等于把回路增益放大三倍</a:t>
            </a:r>
            <a:endParaRPr lang="en-US" sz="1200" dirty="0"/>
          </a:p>
        </p:txBody>
      </p:sp>
      <p:pic>
        <p:nvPicPr>
          <p:cNvPr id="9" name="Image 3" descr="/home/user/2026summer/deliverables/_deck/img/pid_st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16736"/>
            <a:ext cx="5669280" cy="3465576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1316736"/>
          <a:ext cx="544982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243584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工况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超调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调节时间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 广角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0.801 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3× 变焦（有调度）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1.101 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3× 变焦（关调度）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42.7 %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1.201 s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C0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不可接受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4"/>
          <p:cNvSpPr/>
          <p:nvPr/>
        </p:nvSpPr>
        <p:spPr>
          <a:xfrm>
            <a:off x="6254496" y="2889504"/>
            <a:ext cx="5449824" cy="914400"/>
          </a:xfrm>
          <a:prstGeom prst="roundRect">
            <a:avLst>
              <a:gd name="adj" fmla="val 5000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6455664" y="2889504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为什么必须做增益调度：同样 1° 的云台转角，在 3× 变焦下对应的画面位移是 1× 的三倍。控制量若不按倍率缩放，等效于把回路增益放大三倍，必然过冲。本系统按 ω = θ /(W · z) · u 缩放。</a:t>
            </a:r>
            <a:endParaRPr lang="en-US" sz="1020" dirty="0"/>
          </a:p>
        </p:txBody>
      </p:sp>
      <p:sp>
        <p:nvSpPr>
          <p:cNvPr id="13" name="Shape 6"/>
          <p:cNvSpPr/>
          <p:nvPr/>
        </p:nvSpPr>
        <p:spPr>
          <a:xfrm>
            <a:off x="6254496" y="3931920"/>
            <a:ext cx="2642616" cy="786384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6437376" y="393192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+ 1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6437376" y="444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进程全链路打通</a:t>
            </a:r>
            <a:endParaRPr lang="en-US" sz="1120" dirty="0"/>
          </a:p>
        </p:txBody>
      </p:sp>
      <p:sp>
        <p:nvSpPr>
          <p:cNvPr id="16" name="Shape 9"/>
          <p:cNvSpPr/>
          <p:nvPr/>
        </p:nvSpPr>
        <p:spPr>
          <a:xfrm>
            <a:off x="9043416" y="3931920"/>
            <a:ext cx="2642616" cy="786384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226296" y="393192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– 6</a:t>
            </a:r>
            <a:endParaRPr lang="en-US" sz="2800" dirty="0"/>
          </a:p>
        </p:txBody>
      </p:sp>
      <p:sp>
        <p:nvSpPr>
          <p:cNvPr id="18" name="Text 11"/>
          <p:cNvSpPr txBox="1"/>
          <p:nvPr/>
        </p:nvSpPr>
        <p:spPr>
          <a:xfrm>
            <a:off x="9226296" y="444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每轮产出证据包</a:t>
            </a:r>
            <a:endParaRPr lang="en-US" sz="1120" dirty="0"/>
          </a:p>
        </p:txBody>
      </p:sp>
      <p:sp>
        <p:nvSpPr>
          <p:cNvPr id="19" name="Shape 12"/>
          <p:cNvSpPr/>
          <p:nvPr/>
        </p:nvSpPr>
        <p:spPr>
          <a:xfrm>
            <a:off x="6254496" y="4791456"/>
            <a:ext cx="2642616" cy="786384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437376" y="479145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 – 2.3</a:t>
            </a:r>
            <a:endParaRPr lang="en-US" sz="2800" dirty="0"/>
          </a:p>
        </p:txBody>
      </p:sp>
      <p:sp>
        <p:nvSpPr>
          <p:cNvPr id="21" name="Text 14"/>
          <p:cNvSpPr txBox="1"/>
          <p:nvPr/>
        </p:nvSpPr>
        <p:spPr>
          <a:xfrm>
            <a:off x="6437376" y="5303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复核前后密度比</a:t>
            </a:r>
            <a:endParaRPr lang="en-US" sz="1120" dirty="0"/>
          </a:p>
        </p:txBody>
      </p:sp>
      <p:sp>
        <p:nvSpPr>
          <p:cNvPr id="22" name="Shape 15"/>
          <p:cNvSpPr/>
          <p:nvPr/>
        </p:nvSpPr>
        <p:spPr>
          <a:xfrm>
            <a:off x="9043416" y="4791456"/>
            <a:ext cx="2642616" cy="786384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226296" y="479145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+0.44</a:t>
            </a:r>
            <a:endParaRPr lang="en-US" sz="2800" dirty="0"/>
          </a:p>
        </p:txBody>
      </p:sp>
      <p:sp>
        <p:nvSpPr>
          <p:cNvPr id="24" name="Text 17"/>
          <p:cNvSpPr txBox="1"/>
          <p:nvPr/>
        </p:nvSpPr>
        <p:spPr>
          <a:xfrm>
            <a:off x="9226296" y="5303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真缺陷组 Δconf</a:t>
            </a:r>
            <a:endParaRPr lang="en-US" sz="1120" dirty="0"/>
          </a:p>
        </p:txBody>
      </p:sp>
      <p:sp>
        <p:nvSpPr>
          <p:cNvPr id="25" name="Shape 18"/>
          <p:cNvSpPr/>
          <p:nvPr/>
        </p:nvSpPr>
        <p:spPr>
          <a:xfrm>
            <a:off x="384048" y="4919472"/>
            <a:ext cx="5669280" cy="658368"/>
          </a:xfrm>
          <a:prstGeom prst="roundRect">
            <a:avLst>
              <a:gd name="adj" fmla="val 6944"/>
            </a:avLst>
          </a:prstGeom>
          <a:solidFill>
            <a:srgbClr val="FBEBD2"/>
          </a:solidFill>
          <a:ln w="9525">
            <a:solidFill>
              <a:srgbClr val="FBEBD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85216" y="491947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复核成功率三轮实测 87.5 %、100 %、71.4 %，中位 87.5 %，第三轮低于本组设定的 85 %。跨度来自桩按真机故障率注入的丢包与对焦失败，代码三轮未变——这一项应当按多轮分布判，按单轮判是抽签。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复现：tune_pid --compare-gain-schedule　·　run_all --seconds 300　·　浏览器 127.0.0.1:8000 看台账</a:t>
            </a:r>
            <a:endParaRPr lang="en-US" sz="980" dirty="0"/>
          </a:p>
        </p:txBody>
      </p:sp>
      <p:sp>
        <p:nvSpPr>
          <p:cNvPr id="28" name="Text 21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4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　录</a:t>
            </a:r>
            <a:endParaRPr lang="en-US" sz="1700" dirty="0"/>
          </a:p>
        </p:txBody>
      </p:sp>
      <p:pic>
        <p:nvPicPr>
          <p:cNvPr id="6" name="Image 3" descr="/home/user/2026summer/deliverables/_deck/img/tpl/toc_ph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4754880" cy="44805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900" dirty="0"/>
          </a:p>
        </p:txBody>
      </p:sp>
      <p:sp>
        <p:nvSpPr>
          <p:cNvPr id="9" name="Shape 3"/>
          <p:cNvSpPr/>
          <p:nvPr/>
        </p:nvSpPr>
        <p:spPr>
          <a:xfrm>
            <a:off x="6309360" y="1298448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6565392" y="129844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研究背景与需求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6309360" y="2194560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565392" y="219456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关键技术难题与研究目标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309360" y="3090672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65392" y="309067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6309360" y="3986784"/>
            <a:ext cx="54681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65392" y="39867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项目特色与创新思路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6309360" y="4882896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565392" y="488289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研究计划与预期成果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本节回答：本方案与既有做法的区别在哪，这些区别各自解决了什么问题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四.项目特色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项目特色与主要创新点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四条各自解决一个既有巡检系统没有处理的问题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85216" y="1316736"/>
            <a:ext cx="51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13716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采集参数由判读结果决定的主动复核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170432" y="1682496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既有巡检系统按固定参数采集。本系统把判读结果反馈回采集环节，按目标当前成像算出所需变焦倍率。</a:t>
            </a:r>
            <a:endParaRPr lang="en-US" sz="980" dirty="0"/>
          </a:p>
        </p:txBody>
      </p:sp>
      <p:sp>
        <p:nvSpPr>
          <p:cNvPr id="13" name="Shape 8"/>
          <p:cNvSpPr/>
          <p:nvPr/>
        </p:nvSpPr>
        <p:spPr>
          <a:xfrm>
            <a:off x="5833872" y="1408176"/>
            <a:ext cx="2395728" cy="822960"/>
          </a:xfrm>
          <a:prstGeom prst="roundRect">
            <a:avLst>
              <a:gd name="adj" fmla="val 5556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980176" y="1408176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对应任务书「判断图像质量—主动补拍」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375904" y="1408176"/>
            <a:ext cx="3328416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540496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实测支撑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540496" y="1682496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像素密度由 50.0 px 提高到 150.0 px，与针孔公式计算值相差 0.4 %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84048" y="2414016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85216" y="2414016"/>
            <a:ext cx="51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170432" y="2468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变焦增益调度的云台伺服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70432" y="2779776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画面位移与变焦倍率成正比，固定增益 PID 在变焦后等效增益被放大。本系统按倍率缩放控制量。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5833872" y="2505456"/>
            <a:ext cx="2395728" cy="822960"/>
          </a:xfrm>
          <a:prstGeom prst="roundRect">
            <a:avLst>
              <a:gd name="adj" fmla="val 5556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980176" y="2505456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对应任务书「云台转向 / 变焦」高层指令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375904" y="2505456"/>
            <a:ext cx="3328416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540496" y="2560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实测支撑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540496" y="2779776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 变焦超调 1.0 %、调节时间 1.101 s；关闭调度后超调升至 42.7 %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84048" y="3511296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85216" y="3511296"/>
            <a:ext cx="51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170432" y="35661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四类模型协同并由显式规则仲裁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1170432" y="3877056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四个子问题对算力、精度、输出形式的要求互相冲突。分路实现后由纯规则的 L4 仲裁，结论可逐级追溯。</a:t>
            </a:r>
            <a:endParaRPr lang="en-US" sz="980" dirty="0"/>
          </a:p>
        </p:txBody>
      </p:sp>
      <p:sp>
        <p:nvSpPr>
          <p:cNvPr id="31" name="Shape 26"/>
          <p:cNvSpPr/>
          <p:nvPr/>
        </p:nvSpPr>
        <p:spPr>
          <a:xfrm>
            <a:off x="5833872" y="3602736"/>
            <a:ext cx="2395728" cy="822960"/>
          </a:xfrm>
          <a:prstGeom prst="roundRect">
            <a:avLst>
              <a:gd name="adj" fmla="val 5556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980176" y="3602736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对应任务书「伦理与社会责任：可解释性」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375904" y="3602736"/>
            <a:ext cx="3328416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540496" y="3657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实测支撑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8540496" y="3877056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六种结论各有测试用例；L3 对训练集外异常的漏报由 90.8 % 降至 3.3 %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84048" y="4608576"/>
            <a:ext cx="11423599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85216" y="4608576"/>
            <a:ext cx="51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8" name="Text 33"/>
          <p:cNvSpPr txBox="1"/>
          <p:nvPr/>
        </p:nvSpPr>
        <p:spPr>
          <a:xfrm>
            <a:off x="1170432" y="46634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接口先冻结、驱动先抽象的无硬件开发方法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1170432" y="4974336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五份 Schema 编码前定稿并配 59 项一致性校验；四个抽象基类隔离硬件，桩注入真机上实际存在的故障率。</a:t>
            </a:r>
            <a:endParaRPr lang="en-US" sz="980" dirty="0"/>
          </a:p>
        </p:txBody>
      </p:sp>
      <p:sp>
        <p:nvSpPr>
          <p:cNvPr id="40" name="Shape 35"/>
          <p:cNvSpPr/>
          <p:nvPr/>
        </p:nvSpPr>
        <p:spPr>
          <a:xfrm>
            <a:off x="5833872" y="4700016"/>
            <a:ext cx="2395728" cy="822960"/>
          </a:xfrm>
          <a:prstGeom prst="roundRect">
            <a:avLst>
              <a:gd name="adj" fmla="val 5556"/>
            </a:avLst>
          </a:prstGeom>
          <a:solidFill>
            <a:srgbClr val="E4EEF7"/>
          </a:solidFill>
          <a:ln w="9525">
            <a:solidFill>
              <a:srgbClr val="E4EEF7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5980176" y="4700016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对应任务书「各模块保持接口对接和进度同步」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75904" y="4700016"/>
            <a:ext cx="3328416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540496" y="47548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实测支撑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8540496" y="4974336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300 s 闭环与全部回归测试均在无硬件条件下完成；串口协议栈由假小车逐字节验证</a:t>
            </a:r>
            <a:endParaRPr lang="en-US" sz="950" dirty="0"/>
          </a:p>
        </p:txBody>
      </p:sp>
      <p:sp>
        <p:nvSpPr>
          <p:cNvPr id="45" name="Text 40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4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　录</a:t>
            </a:r>
            <a:endParaRPr lang="en-US" sz="1700" dirty="0"/>
          </a:p>
        </p:txBody>
      </p:sp>
      <p:pic>
        <p:nvPicPr>
          <p:cNvPr id="6" name="Image 3" descr="/home/user/2026summer/deliverables/_deck/img/tpl/toc_ph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4754880" cy="44805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5577840" y="12984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900" dirty="0"/>
          </a:p>
        </p:txBody>
      </p:sp>
      <p:sp>
        <p:nvSpPr>
          <p:cNvPr id="9" name="Shape 3"/>
          <p:cNvSpPr/>
          <p:nvPr/>
        </p:nvSpPr>
        <p:spPr>
          <a:xfrm>
            <a:off x="6309360" y="1298448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6565392" y="129844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研究背景与需求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577840" y="219456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6309360" y="2194560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565392" y="219456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关键技术难题与研究目标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577840" y="30906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309360" y="3090672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65392" y="309067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solidFill>
            <a:srgbClr val="C9D6E2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577840" y="398678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6309360" y="3986784"/>
            <a:ext cx="5468112" cy="676656"/>
          </a:xfrm>
          <a:prstGeom prst="rect">
            <a:avLst/>
          </a:prstGeom>
          <a:solidFill>
            <a:srgbClr val="DCE6E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65392" y="39867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F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项目特色与创新思路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solidFill>
            <a:srgbClr val="0B3C6B"/>
          </a:solidFill>
          <a:ln w="6350">
            <a:solidFill>
              <a:srgbClr val="0B3C6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577840" y="488289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6309360" y="4882896"/>
            <a:ext cx="54681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3C6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565392" y="488289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研究计划与预期成果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本节回答：进度到哪一步、哪些方案尚未验证、方案选择依据的文献是哪些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五.研究计划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研究进度、存在的不足与下一阶段计划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任务书进度安排：开题第 1 周、中期第 2 周（系统搭建、阶段检查、接口联调）、结题第 3 至 4 周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16736"/>
          <a:ext cx="11423599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14400"/>
                <a:gridCol w="3977640"/>
                <a:gridCol w="4197096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尚未完成的部分</a:t>
                      </a:r>
                      <a:endParaRPr lang="en-US" sz="11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6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四进程闭环与云端台账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 300 s 可重复运行，产出 4 至 6 个证据包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接口一致性与自动化测试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validate 59 项全过；536 项测试，覆盖率 75 %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无真权重用例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安全边界三层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三条演示可现场执行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云台 PID 与增益调度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 超调 3.0 %，3× 超调 1.0 %，均达标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故障率与成功率的关系曲线未做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几何读数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基本误差 0.455 %、线性度 0.302 % 达标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重复性 0.309 % 超出 0.3 % 限值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未知异常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PaDiM 全协方差，漏报 3.3 %、误报 3.8 %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RKNN 上板与 INT8 掉点未测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读数方案比选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= 200 的 P90 比选，几何法门槛以上 0.18 至 0.19 %FS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结论只在合成表盘成立，真实表盘误差表未做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目标检测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2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巡航级 mAP50 0.9949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复核级未训；耗时、漏检率、切换对比未做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目标跟踪（ByteTrack）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未开始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当前用 IoU 跟踪，云台转动时易断链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任务书点名的 ByteTrack 尚未接入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五点标定与真机联调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未开始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工具已实现；驱动层已由假小车验证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D6E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缺真实标定数据；硬件未到位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84048" y="4901184"/>
            <a:ext cx="11423599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85216" y="49011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下一阶段（结题第 3 至 4 周）</a:t>
            </a:r>
            <a:endParaRPr lang="en-US" sz="1080" dirty="0"/>
          </a:p>
        </p:txBody>
      </p:sp>
      <p:sp>
        <p:nvSpPr>
          <p:cNvPr id="12" name="Text 6"/>
          <p:cNvSpPr txBox="1"/>
          <p:nvPr/>
        </p:nvSpPr>
        <p:spPr>
          <a:xfrm>
            <a:off x="3602736" y="4901184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 L1 复核级与切换对比；用真实表盘复核 L2 的读数比选结论；接入 ByteTrack；RKNN 上板与 INT8 掉点记录；修复证据包配对缺陷；补故障率与复核成功率的可靠性曲线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84048" y="5504688"/>
            <a:ext cx="11423599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85216" y="55046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受外部条件限制的两项</a:t>
            </a:r>
            <a:endParaRPr lang="en-US" sz="1080" dirty="0"/>
          </a:p>
        </p:txBody>
      </p:sp>
      <p:sp>
        <p:nvSpPr>
          <p:cNvPr id="15" name="Text 9"/>
          <p:cNvSpPr txBox="1"/>
          <p:nvPr/>
        </p:nvSpPr>
        <p:spPr>
          <a:xfrm>
            <a:off x="3602736" y="5504688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五点标定缺真实标定数据；真机联调缺硬件。两项均已在驱动层与工具层预留接口，条件具备后可直接接入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384048" y="6455664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状态判定标准：能产出可复现的实测数据才记为已完成</a:t>
            </a:r>
            <a:endParaRPr lang="en-US" sz="980" dirty="0"/>
          </a:p>
        </p:txBody>
      </p:sp>
      <p:sp>
        <p:nvSpPr>
          <p:cNvPr id="17" name="Text 11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-18288"/>
            <a:ext cx="12207240" cy="813816"/>
          </a:xfrm>
          <a:prstGeom prst="rect">
            <a:avLst/>
          </a:prstGeom>
        </p:spPr>
      </p:pic>
      <p:pic>
        <p:nvPicPr>
          <p:cNvPr id="3" name="Image 1" descr="/home/user/2026summer/deliverables/_deck/img/tpl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18872"/>
            <a:ext cx="2313432" cy="594360"/>
          </a:xfrm>
          <a:prstGeom prst="rect">
            <a:avLst/>
          </a:prstGeom>
        </p:spPr>
      </p:pic>
      <p:pic>
        <p:nvPicPr>
          <p:cNvPr id="4" name="Image 2" descr="/home/user/2026summer/deliverables/_deck/img/tpl/s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3408"/>
            <a:ext cx="12188952" cy="16459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" y="91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五.文献支撑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788920" y="1828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880360" y="182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参考文献与综述对选题、方案的支撑</a:t>
            </a:r>
            <a:endParaRPr lang="en-US" sz="1550" dirty="0"/>
          </a:p>
        </p:txBody>
      </p:sp>
      <p:sp>
        <p:nvSpPr>
          <p:cNvPr id="8" name="Text 3"/>
          <p:cNvSpPr txBox="1"/>
          <p:nvPr/>
        </p:nvSpPr>
        <p:spPr>
          <a:xfrm>
            <a:off x="384048" y="950976"/>
            <a:ext cx="11423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18 篇（部），按目标检测与跟踪、异常检测、分割与几何、部署与控制四类归并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84048" y="1316736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85216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目标检测与多目标跟踪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85216" y="1645920"/>
            <a:ext cx="51389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Redmon J, et al. You Only Look Once: Unified, Real-Time Object Detection. CVPR, 2016.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Ultralytics. YOLO11 官方文档与开源实现. 2024.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Zhang Y, et al. ByteTrack: Multi-Object Tracking by Associating Every Detection Box. ECCV, 2022.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Bewley A, et al. Simple Online and Realtime Tracking. ICIP, 2016.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Howard A G, et al. MobileNets: Efficient CNNs for Mobile Vision Applications. arXiv:1704.04861, 2017.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144768" y="1316736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345936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非监督异常检测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6345936" y="1645920"/>
            <a:ext cx="51389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Defard T, et al. PaDiM: a Patch Distribution Modeling Framework for Anomaly Detection. ICPR, 2021.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Batzner K, et al. EfficientAD: Accurate Visual Anomaly Detection at Millisecond-Level Latencies. WACV, 2024.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Roth K, et al. Towards Total Recall in Industrial Anomaly Detection. CVPR, 2022.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Bergmann P, et al. MVTec AD: A Comprehensive Real-World Dataset for Unsupervised AD. CVPR, 2019.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384048" y="3054096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85216" y="3108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6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分割、几何解算与读数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85216" y="3383280"/>
            <a:ext cx="51389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Ronneberger O, et al. U-Net: Convolutional Networks for Biomedical Image Segmentation. MICCAI, 2015.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Hartley R, Zisserman A. Multiple View Geometry in Computer Vision. 2nd ed. Cambridge Univ. Press, 2004.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Fitzgibbon A, et al. Direct Least Square Fitting of Ellipses. IEEE TPAMI, 1999.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[13] Bradski G. The OpenCV Library. Dr. Dobb's Journal of Software Tools, 2000.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[14] 百度 PaddleX. 工业表计读数产业实践方案与配套数据集. 开源文档.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44768" y="3054096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9525">
            <a:solidFill>
              <a:srgbClr val="D5E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45936" y="3108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边缘部署、机器人与控制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345936" y="3383280"/>
            <a:ext cx="51389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[15] Rockchip. RK3576 Datasheet 与 RKNN-Toolkit2 用户指南. 2024.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[16] Jacob B, et al. Quantization and Training of Neural Networks for Integer-Arithmetic-Only Inference. CVPR, 2018.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[17] Quigley M, et al. ROS: an Open-Source Robot Operating System. ICRA Workshop on Open Source Software, 2009.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[18] Åström K J, Hägglund T. PID Controllers: Theory, Design, and Tuning. 2nd ed. ISA, 1995.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84048" y="4901184"/>
            <a:ext cx="11423599" cy="731520"/>
          </a:xfrm>
          <a:prstGeom prst="roundRect">
            <a:avLst>
              <a:gd name="adj" fmla="val 6250"/>
            </a:avLst>
          </a:prstGeom>
          <a:solidFill>
            <a:srgbClr val="0B3C6B"/>
          </a:solidFill>
          <a:ln w="9525">
            <a:solidFill>
              <a:srgbClr val="0B3C6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0080" y="4901184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综述如何支撑选题与方案：[1][2][5] 支撑巡航期轻量检测的骨干选择；[3][4] 说明云台转动导致跟踪断链的成因，并给出下一阶段接入 ByteTrack 的依据；[6][7][8][9] 构成 L3 四方案比选的方法来源，其中 [7] 经实测未采用；[10][11][12] 分别支撑分割替换、针孔投影与椭圆拟合三个环节；[15][16] 支撑 RKNN 部署与 INT8 量化的掉点评估；[18] 支撑变焦增益调度的整定方法。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240719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0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2026summer/deliverables/_deck/img/tpl/cover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71248" cy="5998464"/>
          </a:xfrm>
          <a:prstGeom prst="rect">
            <a:avLst/>
          </a:prstGeom>
        </p:spPr>
      </p:pic>
      <p:pic>
        <p:nvPicPr>
          <p:cNvPr id="3" name="Image 1" descr="/home/user/2026summer/deliverables/_deck/img/tpl/cover_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76" y="3099816"/>
            <a:ext cx="12326112" cy="3794760"/>
          </a:xfrm>
          <a:prstGeom prst="rect">
            <a:avLst/>
          </a:prstGeom>
        </p:spPr>
      </p:pic>
      <p:pic>
        <p:nvPicPr>
          <p:cNvPr id="4" name="Image 2" descr="/home/user/2026summer/deliverables/_deck/img/tpl/cover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28600"/>
            <a:ext cx="3090672" cy="7955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60120" y="3858768"/>
            <a:ext cx="10268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3000" dirty="0"/>
          </a:p>
        </p:txBody>
      </p:sp>
      <p:sp>
        <p:nvSpPr>
          <p:cNvPr id="6" name="Text 1"/>
          <p:cNvSpPr txBox="1"/>
          <p:nvPr/>
        </p:nvSpPr>
        <p:spPr>
          <a:xfrm>
            <a:off x="4846320" y="570585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RK3576 边缘计算的</a:t>
            </a:r>
            <a:endParaRPr lang="en-US" sz="112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0B3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无人车主动式 AI 巡检系统设计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测控系统综合实训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RK3576 边缘计算的无人车主动式 AI 巡检系统 · 中期答辩</dc:title>
  <dc:subject>PptxGenJS Presentation</dc:subject>
  <dc:creator>配电室巡检系统项目组</dc:creator>
  <cp:lastModifiedBy>配电室巡检系统项目组</cp:lastModifiedBy>
  <cp:revision>1</cp:revision>
  <dcterms:created xsi:type="dcterms:W3CDTF">2026-09-11T08:36:00Z</dcterms:created>
  <dcterms:modified xsi:type="dcterms:W3CDTF">2026-09-11T08:36:00Z</dcterms:modified>
</cp:coreProperties>
</file>
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七项相互制约因素是任务书原文，本课题的设计空间就由它们框定。任务书写明「不直接指定具体技术方案，要求学生调研并比选后确定方案」，所以后面每一路都做了比选，其中有几路的结论是不采用。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现状部分。三类方案各有适用场景，本课题不取代它们，补的是采集参数可随目标调整这一项能力。任务书第一页写明「是否有成熟技术方案：否」「是否需要方案比选：是」，这是我们逐路做比选的依据。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左边巡航态 50 像素，指针无法分辨；右边 3 倍变焦后 150 像素，刻度可读。实测框宽与针孔投影公式的计算值相差 0.4 %，说明虚拟场景在光学上自洽，在它上面测出的精度指标有依据。120 px 这个下限由本组按读数精度要求推导，任务书没有规定。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任务书规定的是能力要求，没有给出 0.5 % FS 这类数值，表里的量化指标由本组按工业测量惯例设定。八项中七项达成。重复性 0.309 % FS 超出本组自己设的 0.3 % 限值，43 次独立标定里 29 次不合格，这一项写在表里，不回避。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方案：采集参数由判读结果决定，不是事先固定。再讲另外两种为什么不行。方案一被任务书的三项制约同时否掉；方案二的问题是信息在光学环节就丢了，后端补不回来。最后引出方案三带来的三个子问题，第三部分剩下的页面逐个回答。被问到为什么这么做，答案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从左到右读是一条完整的推理：任务书给了什么约束、我们据此做了什么、为什么这么做、用什么办法证明它成立。时间紧就只讲这一页；要追某一条，按最右列翻到对应页。左边一列是任务书原文列出的相互制约因素，没有改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这一页是系统的全貌。从左往右是一条链：相机采集，感知跑四路模型并由 L4 仲裁，任务决定停不停车、怎么对准和变焦，网关校验后才真正驱动底盘与云台。绿色那条自右向左的箭头是网关回播的状态，感知靠它判断自己正处于复核态。下面一行是证据链：感知与任务各写一份到同一个证据目录，上传进程读目录组包上云，这条不走总线，因为五份 Schema 已经冻结，不容新增字段。被问到为什么拆四个进程，答案在最下面那段：只有网关持有驱动实例，而且它不加载模型。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系统运转的全过程在这一页。十二步跨四个进程与云端，每步都能指到具体文件。第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没有硬件如何开展工作，答案在这一页。桩会注入真机上实际存在的故障，所以在桩上通过的验收有意义。真值与先验严格分开，精度数据不是拿真值核对真值得出的。左下三项检查每次提交前都跑。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数据从哪来。公开数据集是训练主力，合成数据只补三样结构性的东西。指针 IoU 从 0.251 到 0.384 是实证：同一模型只加真实标注就提高 53 %，说明瓶颈在数据，不在模型容量。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识别层的总纲。被问到为什么不用一个端到端大模型，答案是四个子问题对算力、精度、输出形式的要求互相冲突。仲裁层用规则不用模型，对应任务书把可解释性列为必须考虑的非技术因素。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巡航级已训完，指标偏高。第 1 轮就到 0.9759 这个数不正常，我们自己先提出来：已写好 --check-leak 命令排查训练集与验证集的同源增广副本。复核级 yolo11m、单帧耗时与漏检率这三项本阶段没有做完，第 26 页的进度表里如实标着，被问到就按那一页答，不在这一页展开。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原来的图只有 24 个样本、画的是中位数，差异被采样噪声盖住，得不出结论。现在 n=200、画 P90、加了 bootstrap 置信区间，三条线在门槛以上分得开。有两点要说清：灰底两档系统不读数，那里的差异不参与比选；U-Net 的分割 IoU 是三者最高的 0.778，读数误差却更大，因为几何解算只用指针方向，不用完整轮廓。还要说明一个前提：合成表盘天然满足几何法的假设，这个结论换到真实表盘上可能反过来，所以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四个方案在同一批样本、同一阈值下比较，结论明确。EfficientAD 那一列是失败的，数据照原样写进表里。权重大小与打分耗时两行对应成本与实时性，可解释一行对应任务书的伦理要求。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五个环节的比选汇总在一起看。每一行的第四列专门写非技术因素：成本、可靠性、可解释性、安全。比选后不采用同样是结论，被排除的方案连同数据一起保留在表里。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回应任务书的安全要求。三条演示都能当场执行。如果对安全设计有疑问，直接演示第二条：终止 AI 进程后车辆仍按路线走完，这一条最直观。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课题名称是测控系统，控制部分的实测依据集中在这一页。绿色曲线的过冲是关闭增益调度后的响应。右下角的复核成功率没有达标，原因已定位，这一条自己先讲。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四条创新点分属四块：第一条是本课题的立论，第二条在控制，第三条在识别，第四条在工程方法。中间一列写明每条对应任务书的哪项要求，右侧给实测支撑。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状态判定用统一标准：能产出可复现的实测数据才记为完成。两项未开始的原因自己先讲，其中 ByteTrack 是任务书点名的算法，目前用的是 IoU 跟踪，不回避。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篇分四类，任务书列出的五类参考资料都覆盖到了。底部那段说明每组文献支撑方案的哪个环节，不是简单罗列。其中 EfficientAD 是复现后未采用的，也写明了。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结束页。如果时间允许，主动提出现场演示，选终止 AI 进程后车辆仍按路线走完那条。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5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汇报人：吴明哲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目标检测、已知缺陷识别、未知异常检测和图像质量评价；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基于目标跟踪的异常目标持续锁定；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主动复核状态机设计，实现停车、居中、变焦、多角度补拍和恢复巡检路线；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巡检事件证据包、离线缓存、告警分级和远程上传；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云端人工复核、模型版本管理和巡检结果闭环；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系统实时性、识别效果、网络中断降级和运行稳定性测试。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102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102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102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102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102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5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5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102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5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5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102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8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5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12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同一块压力表，巡航时与复核时的成像对比</a:t>
            </a:r>
            <a:endParaRPr lang="en-US" sz="120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2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2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2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12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9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任务书规定的是能力要求，没有给出数值；下表的量化指标由本组按工业测量惯例设定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0.455 %；0.302 %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0.309 %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3×：1.0 %，1.101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9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0.309 % FS 超出本组设定的 0.3 %，43 次独立标定里 29 次不合格，是系统性的。原因是几何解算依赖指针尖端的像素级定位，角度波动与指针指向强相关。原设想用学习分割替换该环节，比选后否掉——U-Net 读数反而不如几何法。留作待办。</a:t>
            </a:r>
            <a:endParaRPr lang="en-US" sz="9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表中数值为本组按工业测量惯例设定；实测值取自虚拟试验台，桩按真机故障率注入，真值不提供给感知侧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变焦」等高层指令，把目标成像放大到可测量的尺度后再判读，得出结论后下发「恢复路线」继续巡检。采集参数由判读结果决定，不是事先固定。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9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9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95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只跑轻量模型；高清数据只在复核瞬间产生；放大倍数按目标当前像素密度算出，不足就补拍、够了就走，单点耗时可控，巡检效率与证据完整性的取舍因此变成一个可以事先算出来的量。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9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方案三定下来之后，剩下的研究内容是三个子问题，第三部分按这个顺序展开</a:t>
            </a:r>
            <a:endParaRPr lang="en-US" sz="125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2779776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3.3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停车复核会占用巡检时间，所以要先算出这一趟还能停几次，也要避免在同一处重复停车。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50" dirty="0"/>
          </a:p>
        </p:txBody>
      </p:sp>
      <p:sp>
        <p:nvSpPr>
          <p:cNvPr id="46" name="Text 41"/>
          <p:cNvSpPr txBox="1"/>
          <p:nvPr/>
        </p:nvSpPr>
        <p:spPr>
          <a:xfrm>
            <a:off x="6638544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3.14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变焦后同样的云台转角对应的画面位移会成倍放大，固定增益的回路会过冲，目标对不准就无法放大成像。</a:t>
            </a:r>
            <a:endParaRPr lang="en-US" sz="95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10497312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3.8、3.12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四个子问题对算力、精度与输出形式的要求互相冲突，只能分路实现；结论需要逐条追溯，所以仲裁用规则而非模型。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每一条都要说得出为什么这么做，也要指得出用什么办法验证它成立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任务书列出的约束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为什么这么做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怎么验证它成立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边缘算力 ↔ 模型复杂度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识别准确率 ↔ 实时性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巡航与复核分两段，两套模型、两套阈值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高精度模型跑不到 30 Hz；算力只花在被判为可疑的航点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复核前后像素密度比实测 1.9 至 2.3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不得直接控制转向、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电机扭矩与制动力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驱动实例集中在网关一个进程，且不加载模型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放在同一进程里，一次段错误会同时终止感知与控制两侧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终止 AI 进程后车辆仍按原路线走完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巡检效率 ↔ 证据完整性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复核预算 N_max 加三条抑制规则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停车复核占用巡检时间，需要事先算出这一趟能停几次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一轮 300 s 产出 4 至 6 个证据包，路线走完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图像分辨率 ↔ 传输带宽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本地处理 ↔ 云端分析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判读放在边缘，高清数据只在复核瞬间产生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全程高清回传超出带宽；判读靠云端则断网即失效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伦理与社会责任：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误判与可解释性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四路模型的结论交纯规则的 L4 仲裁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每条结论附 reasons 字段可逐级追溯，模型给不出这种依据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六种结论各有测试用例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各模块接口对接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与进度同步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五份 Schema 编码前冻结 + 57 项校验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四人并行开发，联调时字段必须对得上，不能边写边改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57 项全过，11 条反例全部被拦下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同一条约束下都有别的解法：算力紧张可以换更小的模型，不分两段；安全边界可以写成开发约定，不做进程隔离；接口可以边写边改，不先冻结。这六行记的是我们放弃这些做法的原因。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停车复核占用巡检时间，要先算出这一趟能停几次，也不能在同一处重复停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102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2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102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2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102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2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102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2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102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102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2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102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2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102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2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8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任务书把「巡检效率↔证据完整性」列为必须取舍的一项，这条式子把它变成可计算的量：按路线长度、车速与单次复核耗时，算出这一趟能停几次，超出预算的目标顺延到下一轮，不会走到一半才发现超时。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8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，车辆会在同一航点反复停车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8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任务书规定急停、避障、限速的优先级高于巡检任务。复核期间车辆停在路线上、云台在转动，这段时间尤其需要能被打断。抢占逻辑写在状态机里，由状态机本身保证，不依赖各模块遵守约定。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实现：mission/fsm.py 十状态　·　suppress.py 三条抑制　·　budget.py 预算与顺延队列</a:t>
            </a:r>
            <a:endParaRPr lang="en-US" sz="9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系统架构：四个进程、四条接口与硬件边界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放在同一进程里，一次段错误会同时终止感知与控制两侧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682496"/>
            <a:ext cx="1170432" cy="1207008"/>
          </a:xfrm>
          <a:prstGeom prst="roundRect">
            <a:avLst>
              <a:gd name="adj" fmla="val 3906"/>
            </a:avLst>
          </a:prstGeom>
          <a:solidFill>
            <a:srgbClr val="F4F7FA"/>
          </a:solidFill>
          <a:ln w="12700">
            <a:solidFill>
              <a:srgbClr val="5D6E7E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384048" y="17922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相机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384048" y="210312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1080p RGB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光学变焦</a:t>
            </a:r>
            <a:endParaRPr lang="en-US" sz="920" dirty="0"/>
          </a:p>
        </p:txBody>
      </p:sp>
      <p:sp>
        <p:nvSpPr>
          <p:cNvPr id="12" name="Shape 7"/>
          <p:cNvSpPr/>
          <p:nvPr/>
        </p:nvSpPr>
        <p:spPr>
          <a:xfrm>
            <a:off x="193852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1667B0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938528" y="1371600"/>
            <a:ext cx="2103120" cy="38404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93852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06654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目标检测 30 Hz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分割 + 几何读数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L2′ OCR 铭牌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非监督未知异常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规则仲裁 六种结论</a:t>
            </a:r>
            <a:endParaRPr lang="en-US" sz="980" dirty="0"/>
          </a:p>
        </p:txBody>
      </p:sp>
      <p:sp>
        <p:nvSpPr>
          <p:cNvPr id="16" name="Text 11"/>
          <p:cNvSpPr txBox="1"/>
          <p:nvPr/>
        </p:nvSpPr>
        <p:spPr>
          <a:xfrm>
            <a:off x="206654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驱动实例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04748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0B3C6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047488" y="1371600"/>
            <a:ext cx="2103120" cy="384048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04748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17550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十状态复核状态机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 N_max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针孔前馈 + 增益调度 PID</a:t>
            </a:r>
            <a:endParaRPr lang="en-US" sz="980" dirty="0"/>
          </a:p>
        </p:txBody>
      </p:sp>
      <p:sp>
        <p:nvSpPr>
          <p:cNvPr id="21" name="Text 16"/>
          <p:cNvSpPr txBox="1"/>
          <p:nvPr/>
        </p:nvSpPr>
        <p:spPr>
          <a:xfrm>
            <a:off x="517550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驱动、模型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15644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C0202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56448" y="1371600"/>
            <a:ext cx="2103120" cy="38404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15644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8446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指令白名单 五项校验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参数硬限，写死在源码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心跳看门狗 1.5 s 接管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四个驱动实例（唯一）</a:t>
            </a:r>
            <a:endParaRPr lang="en-US" sz="980" dirty="0"/>
          </a:p>
        </p:txBody>
      </p:sp>
      <p:sp>
        <p:nvSpPr>
          <p:cNvPr id="26" name="Text 21"/>
          <p:cNvSpPr txBox="1"/>
          <p:nvPr/>
        </p:nvSpPr>
        <p:spPr>
          <a:xfrm>
            <a:off x="828446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模型、图像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10625328" y="1682496"/>
            <a:ext cx="1170432" cy="1207008"/>
          </a:xfrm>
          <a:prstGeom prst="roundRect">
            <a:avLst>
              <a:gd name="adj" fmla="val 3906"/>
            </a:avLst>
          </a:prstGeom>
          <a:solidFill>
            <a:srgbClr val="F4F7FA"/>
          </a:solidFill>
          <a:ln w="12700">
            <a:solidFill>
              <a:srgbClr val="5D6E7E"/>
            </a:solidFill>
            <a:prstDash val="dash"/>
          </a:ln>
        </p:spPr>
      </p:sp>
      <p:sp>
        <p:nvSpPr>
          <p:cNvPr id="28" name="Text 23"/>
          <p:cNvSpPr txBox="1"/>
          <p:nvPr/>
        </p:nvSpPr>
        <p:spPr>
          <a:xfrm>
            <a:off x="10625328" y="17922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底盘 · 云台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0625328" y="210312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 / 低速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移动至观察点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转向 / 变焦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恢复路线</a:t>
            </a:r>
            <a:endParaRPr lang="en-US" sz="920" dirty="0"/>
          </a:p>
        </p:txBody>
      </p:sp>
      <p:sp>
        <p:nvSpPr>
          <p:cNvPr id="30" name="Shape 25"/>
          <p:cNvSpPr/>
          <p:nvPr/>
        </p:nvSpPr>
        <p:spPr>
          <a:xfrm>
            <a:off x="1609344" y="2322576"/>
            <a:ext cx="274320" cy="310896"/>
          </a:xfrm>
          <a:prstGeom prst="rightArrow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314432" y="2322576"/>
            <a:ext cx="274320" cy="310896"/>
          </a:xfrm>
          <a:prstGeom prst="rightArrow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0259568" y="26700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</a:t>
            </a:r>
            <a:endParaRPr lang="en-US" sz="850" dirty="0"/>
          </a:p>
        </p:txBody>
      </p:sp>
      <p:sp>
        <p:nvSpPr>
          <p:cNvPr id="33" name="Text 28"/>
          <p:cNvSpPr txBox="1"/>
          <p:nvPr/>
        </p:nvSpPr>
        <p:spPr>
          <a:xfrm>
            <a:off x="4041648" y="177393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</a:t>
            </a:r>
            <a:endParaRPr lang="en-US" sz="9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检出事件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4096512" y="2322576"/>
            <a:ext cx="896112" cy="310896"/>
          </a:xfrm>
          <a:prstGeom prst="rightArrow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041648" y="2670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PUB/SUB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Hz + 按需</a:t>
            </a:r>
            <a:endParaRPr lang="en-US" sz="850" dirty="0"/>
          </a:p>
        </p:txBody>
      </p:sp>
      <p:sp>
        <p:nvSpPr>
          <p:cNvPr id="36" name="Text 31"/>
          <p:cNvSpPr txBox="1"/>
          <p:nvPr/>
        </p:nvSpPr>
        <p:spPr>
          <a:xfrm>
            <a:off x="7150608" y="177393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IF-2</a:t>
            </a:r>
            <a:endParaRPr lang="en-US" sz="9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控制指令 / 应答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7205472" y="2322576"/>
            <a:ext cx="896112" cy="310896"/>
          </a:xfrm>
          <a:prstGeom prst="rightArrow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150608" y="2670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REQ/REP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 + 5 Hz 心跳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2121408" y="3328416"/>
            <a:ext cx="7955280" cy="292608"/>
          </a:xfrm>
          <a:prstGeom prst="leftArrow">
            <a:avLst/>
          </a:prstGeom>
          <a:solidFill>
            <a:srgbClr val="DCEFE4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2359152" y="332841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IF-3　StatusReport　网关 → 所有进程　20 Hz + 安全事件插播（感知据此判断正处于复核态）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2871216" y="3621024"/>
            <a:ext cx="237744" cy="146304"/>
          </a:xfrm>
          <a:prstGeom prst="down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0176" y="3621024"/>
            <a:ext cx="237744" cy="146304"/>
          </a:xfrm>
          <a:prstGeom prst="down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938528" y="3767328"/>
            <a:ext cx="5212080" cy="877824"/>
          </a:xfrm>
          <a:prstGeom prst="roundRect">
            <a:avLst>
              <a:gd name="adj" fmla="val 5208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121408" y="3840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　&lt;run_id&gt;/&lt;event_id&gt;/</a:t>
            </a:r>
            <a:endParaRPr lang="en-US" sz="1050" dirty="0"/>
          </a:p>
        </p:txBody>
      </p:sp>
      <p:sp>
        <p:nvSpPr>
          <p:cNvPr id="45" name="Text 40"/>
          <p:cNvSpPr txBox="1"/>
          <p:nvPr/>
        </p:nvSpPr>
        <p:spPr>
          <a:xfrm>
            <a:off x="2121408" y="4133088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第五条接口，但不走总线：before / after 两张图与两份 sidecar 由感知和任务分别写入，上传进程读同一目录组包。</a:t>
            </a:r>
            <a:endParaRPr lang="en-US" sz="920" dirty="0"/>
          </a:p>
        </p:txBody>
      </p:sp>
      <p:sp>
        <p:nvSpPr>
          <p:cNvPr id="46" name="Shape 41"/>
          <p:cNvSpPr/>
          <p:nvPr/>
        </p:nvSpPr>
        <p:spPr>
          <a:xfrm>
            <a:off x="7242048" y="4041648"/>
            <a:ext cx="310896" cy="310896"/>
          </a:xfrm>
          <a:prstGeom prst="right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7644384" y="3767328"/>
            <a:ext cx="1828800" cy="877824"/>
          </a:xfrm>
          <a:prstGeom prst="roundRect">
            <a:avLst>
              <a:gd name="adj" fmla="val 520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772400" y="384048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050" dirty="0"/>
          </a:p>
        </p:txBody>
      </p:sp>
      <p:sp>
        <p:nvSpPr>
          <p:cNvPr id="49" name="Text 44"/>
          <p:cNvSpPr txBox="1"/>
          <p:nvPr/>
        </p:nvSpPr>
        <p:spPr>
          <a:xfrm>
            <a:off x="7772400" y="413308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 before/after 组包</a:t>
            </a:r>
            <a:endParaRPr lang="en-US" sz="92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HTTP 或 MQTT 上传</a:t>
            </a:r>
            <a:endParaRPr lang="en-US" sz="920" dirty="0"/>
          </a:p>
        </p:txBody>
      </p:sp>
      <p:sp>
        <p:nvSpPr>
          <p:cNvPr id="50" name="Shape 45"/>
          <p:cNvSpPr/>
          <p:nvPr/>
        </p:nvSpPr>
        <p:spPr>
          <a:xfrm>
            <a:off x="9564624" y="4041648"/>
            <a:ext cx="310896" cy="310896"/>
          </a:xfrm>
          <a:prstGeom prst="rightArrow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9491472" y="3803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IF-4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9966960" y="3767328"/>
            <a:ext cx="1828800" cy="877824"/>
          </a:xfrm>
          <a:prstGeom prst="roundRect">
            <a:avLst>
              <a:gd name="adj" fmla="val 520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10113264" y="38404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</a:t>
            </a:r>
            <a:endParaRPr lang="en-US" sz="1050" dirty="0"/>
          </a:p>
        </p:txBody>
      </p:sp>
      <p:sp>
        <p:nvSpPr>
          <p:cNvPr id="54" name="Text 49"/>
          <p:cNvSpPr txBox="1"/>
          <p:nvPr/>
        </p:nvSpPr>
        <p:spPr>
          <a:xfrm>
            <a:off x="10113264" y="413308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台账入库 · 人工复核裁决</a:t>
            </a:r>
            <a:endParaRPr lang="en-US" sz="92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模型版本管理</a:t>
            </a:r>
            <a:endParaRPr lang="en-US" sz="920" dirty="0"/>
          </a:p>
        </p:txBody>
      </p:sp>
      <p:sp>
        <p:nvSpPr>
          <p:cNvPr id="55" name="Shape 50"/>
          <p:cNvSpPr/>
          <p:nvPr/>
        </p:nvSpPr>
        <p:spPr>
          <a:xfrm>
            <a:off x="384048" y="48828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40080" y="48828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线框是硬件，实线框是进程。四个进程只有网关持有驱动实例，其余三个即使写错代码也没有可以调用的驱动；网关又不加载任何模型，所以感知或任务进程崩溃时它还活着，能把车辆按原路线送完。四条接口的报文格式在编码前就冻结成五份 JSON Schema——detection_event、control_command、command_ack、</a:t>
            </a:r>
            <a:endParaRPr lang="en-US" sz="102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status_report、evidence_package，字段全部 additionalProperties: false，配 57 项一致性校验。</a:t>
            </a:r>
            <a:endParaRPr lang="en-US" sz="1020" dirty="0"/>
          </a:p>
        </p:txBody>
      </p:sp>
      <p:sp>
        <p:nvSpPr>
          <p:cNvPr id="57" name="Text 52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接口契约冻结于开题评审；改动走 ALLOWED_DRIFT 白名单，修改字段语义需全组重评审</a:t>
            </a:r>
            <a:endParaRPr lang="en-US" sz="980" dirty="0"/>
          </a:p>
        </p:txBody>
      </p:sp>
      <p:sp>
        <p:nvSpPr>
          <p:cNvPr id="58" name="Text 5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这套结构怎么跑起来：一次复核的十二步数据流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证据目录作为第五条隐式接口，不新增总线报文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已冻结不容新增字段，而目录结构本身就是契约的一部分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3400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3400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硬件没到怎么验证：虚拟试验台与故障注入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 + 注入真机故障率的桩，而不是空实现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桩若把目标值直接赋给状态量，任何到位判据都会通过，验证就没有意义</a:t>
            </a:r>
            <a:endParaRPr lang="en-US" sz="120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102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5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9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9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9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9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57 项</a:t>
            </a:r>
            <a:endParaRPr lang="en-US" sz="112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92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505 项，覆盖率 75 %</a:t>
            </a:r>
            <a:endParaRPr lang="en-US" sz="112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92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12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920" dirty="0"/>
          </a:p>
        </p:txBody>
      </p:sp>
      <p:sp>
        <p:nvSpPr>
          <p:cNvPr id="32" name="Text 2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合成图的纹理、光照与背景比不了真实照片；它能补的是密度分层与配对样本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12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12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12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任务书未指定数据集，仅点名可用工具：YOLO 系列、MobileNet、EfficientAD 或 PaDiM、ByteTrack、OpenCV</a:t>
            </a:r>
            <a:endParaRPr lang="en-US" sz="9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四个子问题对算力、精度与输出形式的要求互相冲突；而判定依据必须逐条可追溯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结论要能逐条给出判定依据，模型输出的置信度做不到这一点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5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02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2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02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2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2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02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2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02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2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02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384048" y="4626864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626864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12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626864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384048" y="5193792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5193792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12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5193792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384048" y="57607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7607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12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7607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实现：perception/fusion.py，纯规则，六种结论各有测试用例</a:t>
            </a:r>
            <a:endParaRPr lang="en-US" sz="9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巡航期只负担得起一路小模型；误报不在这一层消解，留给放大后的复核级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2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2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2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1005840"/>
          </a:xfrm>
          <a:prstGeom prst="roundRect">
            <a:avLst>
              <a:gd name="adj" fmla="val 4545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112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112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68880"/>
            <a:ext cx="3291840" cy="2194560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192" y="2468880"/>
            <a:ext cx="2926080" cy="219456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894576" y="2468880"/>
            <a:ext cx="4809744" cy="219456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114032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与 0.60 这两个阈值是怎么定的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7114032" y="2926080"/>
            <a:ext cx="4407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是巡航级的下限。再低，抑制规则挡不住的误触发会耗尽复核预算。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0.60 是复核级的下限。低于它的目标在放大后仍判不实，与其给一个不可信的结论，不如输出「证据不足」交人复核。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两级之差 Δconf 是复核增益的度量：Δconf 为正，说明放大后的判定比巡航时更有把握。</a:t>
            </a:r>
            <a:endParaRPr lang="en-US" sz="1120" dirty="0"/>
          </a:p>
        </p:txBody>
      </p:sp>
      <p:sp>
        <p:nvSpPr>
          <p:cNvPr id="28" name="Shape 21"/>
          <p:cNvSpPr/>
          <p:nvPr/>
        </p:nvSpPr>
        <p:spPr>
          <a:xfrm>
            <a:off x="384048" y="4809744"/>
            <a:ext cx="11423599" cy="859536"/>
          </a:xfrm>
          <a:prstGeom prst="roundRect">
            <a:avLst>
              <a:gd name="adj" fmla="val 5319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40080" y="4809744"/>
            <a:ext cx="10835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MobileNet，本组选 YOLO11</a:t>
            </a:r>
            <a:endParaRPr lang="en-US" sz="980" dirty="0"/>
          </a:p>
        </p:txBody>
      </p:sp>
      <p:sp>
        <p:nvSpPr>
          <p:cNvPr id="31" name="Text 2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 P90 误差最低且置信区间不重叠；零权重、可追溯</a:t>
            </a:r>
            <a:endParaRPr lang="en-US" sz="120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在此拒绝下任何读数类结论，系统不会在这两档读数，所以这里的差异不参与比选。</a:t>
            </a:r>
            <a:endParaRPr lang="en-US" sz="9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5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与读数精度并不同向：U-Net 的指针 IoU 是 0.778，读数误差反而更大，因为几何解算只需要指针的方向，不需要它的完整轮廓。</a:t>
            </a:r>
            <a:endParaRPr lang="en-US" sz="9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　·　评测划分：val 90 个含针 ROI 中 59 个来自真实照片</a:t>
            </a:r>
            <a:endParaRPr lang="en-US" sz="9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外观缺陷没有公开标注；异物改变的正是通道间相关性，对角版本看不见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105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95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105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95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9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异常，四方案阈值统一取 0.55</a:t>
            </a:r>
            <a:endParaRPr lang="en-US" sz="9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非技术因素按任务书列出的四项计：安全、成本、可靠性、伦理与社会责任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表里有两行的结论是「不采用」：L3 的 EfficientAD 复现后分数倒挂，L2 的 U-Net 读数误差反而更大。这两条连同实测数据一起留在表里，没有删。排除一个方案同样是比选的结果，也解释了最后为什么选另一个。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配置文件在现场可以被改动，参数硬限因此写在源码里，由进程结构本身保证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SKIP。参数范围硬编码在源码里，不放进配置文件，因为配置文件在现场可以被改动。白名单只含任务书列出的高层指令。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9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9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8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9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8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一个出口。其余三个进程即使写错代码，也没有可以调用的驱动实例。</a:t>
            </a:r>
            <a:endParaRPr lang="en-US" sz="112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三条演示合计不到一分钟，可在答辩现场依次执行</a:t>
            </a:r>
            <a:endParaRPr lang="en-US" sz="9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3.14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变焦下同样的转角对应三倍画面位移，固定增益等于把回路增益放大三倍</a:t>
            </a:r>
            <a:endParaRPr lang="en-US" sz="120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42.7 %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102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2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2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12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12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复核成功率两轮实测 83.3 % 与 75.0 %，均低于本组设定的 85 % 目标。主因是证据包偶发配对失败导致该包不计入成功，已定位但尚未修复，列入下一阶段。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9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四条各自解决一个既有巡检系统没有处理的问题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1.101 s；关闭调度后超调升至 42.7 %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9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57 项一致性校验；四个抽象基类隔离硬件，桩注入真机上实际存在的故障率。</a:t>
            </a:r>
            <a:endParaRPr lang="en-US" sz="9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950" dirty="0"/>
          </a:p>
        </p:txBody>
      </p:sp>
      <p:sp>
        <p:nvSpPr>
          <p:cNvPr id="45" name="Text 4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57 项全过；505 项测试，覆盖率 75 %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0.455 %、线性度 0.302 % 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0.309 % 超出 0.3 % 限值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8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85876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12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2026-09-04T14:12:55Z</dcterms:created>
  <dcterms:modified xsi:type="dcterms:W3CDTF">2026-09-04T14:12:55Z</dcterms:modified>
</cp:coreProperties>
</file>